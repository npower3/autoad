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36bb494b994f8a" /><Relationship Type="http://schemas.openxmlformats.org/officeDocument/2006/relationships/extended-properties" Target="/docProps/app.xml" Id="R3fd90139728b40a7" /><Relationship Type="http://schemas.openxmlformats.org/officeDocument/2006/relationships/officeDocument" Target="/ppt/presentation.xml" Id="Rc112bbe3f3e94f7f" /></Relationships>
</file>

<file path=ppt/presentation.xml><?xml version="1.0" encoding="utf-8"?>
<p:presentation xmlns:p="http://schemas.openxmlformats.org/presentationml/2006/main">
  <p:sldMasterIdLst>
    <p:sldMasterId xmlns:r="http://schemas.openxmlformats.org/officeDocument/2006/relationships" id="2147483648" r:id="R6275efd75e314dc1"/>
  </p:sldMasterIdLst>
  <p:notesMasterIdLst>
    <p:notesMasterId xmlns:r="http://schemas.openxmlformats.org/officeDocument/2006/relationships" r:id="R26d8360299fe4433"/>
  </p:notesMasterIdLst>
  <p:sldIdLst>
    <p:sldId xmlns:r="http://schemas.openxmlformats.org/officeDocument/2006/relationships" id="256" r:id="R7fc0d6c087ba4c88"/>
    <p:sldId xmlns:r="http://schemas.openxmlformats.org/officeDocument/2006/relationships" id="257" r:id="R6d3050b1748342fe"/>
    <p:sldId xmlns:r="http://schemas.openxmlformats.org/officeDocument/2006/relationships" id="258" r:id="R6407d1881c7f4878"/>
    <p:sldId xmlns:r="http://schemas.openxmlformats.org/officeDocument/2006/relationships" id="259" r:id="R0db6847b3a3b411e"/>
    <p:sldId xmlns:r="http://schemas.openxmlformats.org/officeDocument/2006/relationships" id="260" r:id="Rd977be545dd241a6"/>
    <p:sldId xmlns:r="http://schemas.openxmlformats.org/officeDocument/2006/relationships" id="261" r:id="R69ecc56f133a4a06"/>
    <p:sldId xmlns:r="http://schemas.openxmlformats.org/officeDocument/2006/relationships" id="262" r:id="R7c60bc9d4bd148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5dd07099ad48d2" /><Relationship Type="http://schemas.openxmlformats.org/officeDocument/2006/relationships/slideMaster" Target="/ppt/slideMasters/slideMaster1.xml" Id="R6275efd75e314dc1" /><Relationship Type="http://schemas.openxmlformats.org/officeDocument/2006/relationships/notesMaster" Target="/ppt/notesMasters/notesMaster1.xml" Id="R26d8360299fe4433" /><Relationship Type="http://schemas.openxmlformats.org/officeDocument/2006/relationships/presProps" Target="/ppt/presProps.xml" Id="Rd08c8803c45b4461" /><Relationship Type="http://schemas.openxmlformats.org/officeDocument/2006/relationships/tableStyles" Target="/ppt/tableStyles.xml" Id="Rbea412c0ba874815" /><Relationship Type="http://schemas.openxmlformats.org/officeDocument/2006/relationships/slide" Target="/ppt/slides/slide1.xml" Id="R7fc0d6c087ba4c88" /><Relationship Type="http://schemas.openxmlformats.org/officeDocument/2006/relationships/slide" Target="/ppt/slides/slide2.xml" Id="R6d3050b1748342fe" /><Relationship Type="http://schemas.openxmlformats.org/officeDocument/2006/relationships/slide" Target="/ppt/slides/slide3.xml" Id="R6407d1881c7f4878" /><Relationship Type="http://schemas.openxmlformats.org/officeDocument/2006/relationships/slide" Target="/ppt/slides/slide4.xml" Id="R0db6847b3a3b411e" /><Relationship Type="http://schemas.openxmlformats.org/officeDocument/2006/relationships/slide" Target="/ppt/slides/slide5.xml" Id="Rd977be545dd241a6" /><Relationship Type="http://schemas.openxmlformats.org/officeDocument/2006/relationships/slide" Target="/ppt/slides/slide6.xml" Id="R69ecc56f133a4a06" /><Relationship Type="http://schemas.openxmlformats.org/officeDocument/2006/relationships/slide" Target="/ppt/slides/slide7.xml" Id="R7c60bc9d4bd148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9fe270896b4d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3aef731feb4501" /><Relationship Type="http://schemas.openxmlformats.org/officeDocument/2006/relationships/notesMaster" Target="/ppt/notesMasters/notesMaster1.xml" Id="Rf56db09cfa4042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35b00bacab49c6" /><Relationship Type="http://schemas.openxmlformats.org/officeDocument/2006/relationships/notesMaster" Target="/ppt/notesMasters/notesMaster1.xml" Id="Raa591fbbf79e40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230dec50854a32" /><Relationship Type="http://schemas.openxmlformats.org/officeDocument/2006/relationships/notesMaster" Target="/ppt/notesMasters/notesMaster1.xml" Id="Rca2d66ea005b4a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fa96166c794453" /><Relationship Type="http://schemas.openxmlformats.org/officeDocument/2006/relationships/notesMaster" Target="/ppt/notesMasters/notesMaster1.xml" Id="Rf55448ca0c0045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c2058f04d941c9" /><Relationship Type="http://schemas.openxmlformats.org/officeDocument/2006/relationships/notesMaster" Target="/ppt/notesMasters/notesMaster1.xml" Id="Rb790690269bb44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0eacdff38c4e14" /><Relationship Type="http://schemas.openxmlformats.org/officeDocument/2006/relationships/notesMaster" Target="/ppt/notesMasters/notesMaster1.xml" Id="R4384bffeba124d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cebac44fb44432" /><Relationship Type="http://schemas.openxmlformats.org/officeDocument/2006/relationships/notesMaster" Target="/ppt/notesMasters/notesMaster1.xml" Id="R2a940ecc661b44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graph can support search and recommendations without training a new neural model. Start by resolving a product or search concept to an entity. From Item1, traverse its category Holster and retrieve Item2 as a related candidate. A shared seller is another relationship, but does not by itself establish product similarity. BFS expands nearby entities level by level, useful for bounded neighbourhood retrieval. DFS follows a path before backtracking, useful for constrained path exploration. Neither algorithm is a relevance-ranking model. In production, constrain edge types and hop counts, deduplicate candidates, apply policy and availability filters, and rank the remaining items using search and recommendation signals. Query languages and database optimisers determine physical execution; a multi-hop query need not expose an explicit DFS or BFS API. Validate candidate recall, ranking quality, fan-out and retrieval latency. Source: user-provided screenshots image(3).png and image(4).png, résumé and requested use cases. Diagram recreates the visible named seller–item nodes; an unlabeled node in the screenshot is omitted. Graph paths and designs are illustrative, not production query plans or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extends the shared graph with store nodes and timestamped store–item sales observations. Those nodes and histories are necessary for demand forecasting; the basic seller–item graph alone cannot supply a demand target. Node similarity can compare items by shared category, brand and other attributes, using measures such as neighbour-overlap or feature similarity. The shared Holster category provides one possible signal, but the Outside and Inside attributes may indicate important differences, so these items are illustrative candidates rather than guaranteed substitutes. For a new item, retrieve comparable products with sales history. For an established item entering a new store, use its demand in comparable stores and local analogues. Aggregate analogue signals with similarity weights and pass them to a forecasting model together with price, seasonality, promotions and availability. Correct for exposure and stockouts where possible. Validate using time-based cold-start holdouts and report error and bias separately for new-item and new-to-store cases. Community detection can group products or stores, but a community is not automatically a useful forecasting segment. Source: user-provided screenshots image(3).png and image(4).png, résumé and requested use cases. Diagram recreates the visible named seller–item nodes; an unlabeled node in the screenshot is omitted. Graph paths and designs are illustrative, not production query plans or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existing Seller1, Item1, Item2, Holster, New York and rating graph to explain typed inputs. These relationships have distinct semantics, so keep their feature channels separate. A metapath here is written from the target seller out to its context; features propagate in the reverse direction into the seller. S alone is the zero-hop seller feature channel. S–I collects item features, S–I–C gathers category information, and S–R and S–L collect ratings and location context. Encode rating as a numeric feature, or retain a rating node if the source schema requires it. A shared rating-value node should not create a spurious seller-collusion relation. S–I–S needs other sellers connected to canonical items and is an optional extension, absent from the toy graph. Shared categories, cities and items are common legitimate relationships. Their presence cannot establish fraud. Point-in-time attributes can include seller tenure and pre-existing disputes, item price and content features. These are proposed inputs subject to data availability. Reference: Yang et al., Simple and Efficient Heterogeneous Graph Neural Network, AAAI 2023, https://arxiv.org/abs/2207.02547 and https://github.com/ICT-GIMLab/SeHGNN. Seller graph schema, fraud features, binary head and evaluation workflow are proposed adaptations, not claims about the paper or Walmart production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model uses parameter-free mean aggregation before training, per-metapath MLP projections and transformer-based semantic fusion. Cache graph-derived features for a fixed snapshot and reuse them each epoch. For each seller, project every channel into width d and stack K channels. Query/key interactions operate across the semantic channels. Fuse values with a residual, concatenate the outputs and use a downstream classifier. The seller adaptation uses a sigmoid binary head and post-training calibration. A snapshot refresh requires recomputing affected cached features. Larger path sets increase cache size and fusion cost, so evaluate path usefulness. The single graph-aggregation stage can represent longer paths without stacking trainable neighbour-message layers. Optional label-propagation channels from the paper are omitted here until leakage controls are validated. Reference: Yang et al., Simple and Efficient Heterogeneous Graph Neural Network, AAAI 2023, https://arxiv.org/abs/2207.02547 and https://github.com/ICT-GIMLab/SeHGNN. Seller graph schema, fraud features, binary head and evaluation workflow are proposed adaptations, not claims about the paper or Walmart production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prediction timestamp and fraud outcome window before assembling training examples. Prevent future enforcement, future disputes and post-decision attributes from entering features. Use matured reviewed negatives where feasible and explicitly handle unknown or censored outcomes rather than assuming all unreviewed sellers are legitimate. Class weighting is an adaptation and requires calibration on representative validation data. Tune the path set, maximum path length, hidden dimension, dropout, learning rate and weight decay using temporal validation. Do not invent production hyperparameters or performance numbers. If adding label propagation later, use only labels available at the scoring time, mask validation and test outcomes, and remove self-label paths, including cycles that return the target’s label. Compare a feature-only model and relation ablations to establish the incremental value of the graph. Precision at the available review budget links quality to operational capacity; PR-AUC, recall and cohort calibration provide complementary views. Surface actual evidence paths and data provenance to investigators. Attention values describe model interactions but are not causal explanations. Reference: Yang et al., Simple and Efficient Heterogeneous Graph Neural Network, AAAI 2023, https://arxiv.org/abs/2207.02547 and https://github.com/ICT-GIMLab/SeHGNN. Seller graph schema, fraud features, binary head and evaluation workflow are proposed adaptations, not claims about the paper or Walmart production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distinct use of graph learning: retrieving items rather than classifying sellers. Learn item embeddings from product features and graph structure with an objective appropriate to search, such as a validated contrastive or link-prediction formulation. Items sharing a category may be close, but the training objective should distinguish substitutable items from merely related or complementary ones. Store item embeddings in an approximate-nearest-neighbour index. For similar-item search, use the embedding of a seed item. For natural-language search, a query encoder must be trained or mapped into a compatible space, or graph candidates can be fused with a separate text retrieval system. Do not assume a raw text embedding is directly comparable to an arbitrary graph embedding. Apply availability and policy filters, then rerank using query relevance. Evaluate Recall@K and NDCG with labelled or behavioural relevance, alongside latency and freshness. Fraud-trained seller embeddings are not automatically suitable for item-search retrieval. Source: user-provided screenshots image(3).png and image(4).png, résumé and requested use cases. Diagram recreates the visible named seller–item nodes; an unlabeled node in the screenshot is omitted. Graph paths and designs are illustrative, not production query plans or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GraphRAG adds a language interface to the same graph. For the question “How are Item1 and Item2 related?”, resolve the named items, retrieve their shared Seller1 and Holster paths, and preserve their different attributes, Outside and Inside. A grounded answer can explain those shared relationships without claiming the products are interchangeable or that the seller is fraudulent. Package node and edge identifiers, source provenance and relevant properties into the evidence context. The LLM then generates an explanation constrained to those facts, with citations where available. Measure entity-linking accuracy, evidence retrieval recall, claim support and end-to-end latency. Missing or conflicting graph data should lead to qualified answers rather than fabricated connections. This pattern also transfers to the user’s code, business-rule and TDD graphs, with a different schema and retrieval task. Source: user-provided screenshots image(3).png and image(4).png, résumé and requested use cases. Diagram recreates the visible named seller–item nodes; an unlabeled node in the screenshot is omitted. Graph paths and designs are illustrative, not production query plans or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a932e1b915429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3d0fdfca4ea4b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c92fca18c449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5587e36b4942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30a632ba8f464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f406c7c0804c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DF7162-FFA0-4B61-BDF3-E7F023C6CD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BD6036-BA10-4AE3-98F7-1383F9CF6BF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174034-2115-4019-B58C-EB85B7DF695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577E72-9C18-4B79-B921-6EED44C5D5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EC0DB3-1593-4239-ACA8-F495B1CAC6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81DCC0F-073D-4E77-8182-9D6AA0F184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EC58A7-CDEB-4A83-BE48-47E13CAE90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CCD702-A42C-4AC7-959D-F48D07AB1C8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71C4F0-40DE-4A75-96FB-B6321E10D3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629F13-BD12-4C44-8D1E-C80BD368C6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206ac950ab4828" /><Relationship Type="http://schemas.openxmlformats.org/officeDocument/2006/relationships/slideLayout" Target="/ppt/slideLayouts/slideLayout1.xml" Id="R75beb2934a344dfa" /><Relationship Type="http://schemas.openxmlformats.org/officeDocument/2006/relationships/slideLayout" Target="/ppt/slideLayouts/slideLayout2.xml" Id="R2a6428cf2bf1464b" /><Relationship Type="http://schemas.openxmlformats.org/officeDocument/2006/relationships/slideLayout" Target="/ppt/slideLayouts/slideLayout3.xml" Id="Rf7ddd4c047134f1b" /><Relationship Type="http://schemas.openxmlformats.org/officeDocument/2006/relationships/slideLayout" Target="/ppt/slideLayouts/slideLayout4.xml" Id="Reaaf6171b0074241" /><Relationship Type="http://schemas.openxmlformats.org/officeDocument/2006/relationships/slideLayout" Target="/ppt/slideLayouts/slideLayout5.xml" Id="Re3f5e51ba3fb4e9a" /><Relationship Type="http://schemas.openxmlformats.org/officeDocument/2006/relationships/slideLayout" Target="/ppt/slideLayouts/slideLayout6.xml" Id="R78d9779319f544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beb2934a344dfa"/>
    <p:sldLayoutId xmlns:r="http://schemas.openxmlformats.org/officeDocument/2006/relationships" id="2147483650" r:id="R2a6428cf2bf1464b"/>
    <p:sldLayoutId xmlns:r="http://schemas.openxmlformats.org/officeDocument/2006/relationships" id="2147483651" r:id="Rf7ddd4c047134f1b"/>
    <p:sldLayoutId xmlns:r="http://schemas.openxmlformats.org/officeDocument/2006/relationships" id="2147483652" r:id="Reaaf6171b0074241"/>
    <p:sldLayoutId xmlns:r="http://schemas.openxmlformats.org/officeDocument/2006/relationships" id="2147483653" r:id="Re3f5e51ba3fb4e9a"/>
    <p:sldLayoutId xmlns:r="http://schemas.openxmlformats.org/officeDocument/2006/relationships" id="2147483654" r:id="R78d9779319f544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9ce1dda81b14c26" /><Relationship Type="http://schemas.openxmlformats.org/officeDocument/2006/relationships/notesSlide" Target="/ppt/notesSlides/notesSlide1.xml" Id="Ra295fb7a4be04f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b236e662e64011" /><Relationship Type="http://schemas.openxmlformats.org/officeDocument/2006/relationships/notesSlide" Target="/ppt/notesSlides/notesSlide2.xml" Id="R9fb373a19a1c4e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f15de4ec7664ae5" /><Relationship Type="http://schemas.openxmlformats.org/officeDocument/2006/relationships/notesSlide" Target="/ppt/notesSlides/notesSlide3.xml" Id="Rf03ebffb404448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1a35126e5854715" /><Relationship Type="http://schemas.openxmlformats.org/officeDocument/2006/relationships/notesSlide" Target="/ppt/notesSlides/notesSlide4.xml" Id="R571481fb553343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31cbcf1fde4037" /><Relationship Type="http://schemas.openxmlformats.org/officeDocument/2006/relationships/notesSlide" Target="/ppt/notesSlides/notesSlide5.xml" Id="Rf67f0575f51a46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e81f0947794fb6" /><Relationship Type="http://schemas.openxmlformats.org/officeDocument/2006/relationships/notesSlide" Target="/ppt/notesSlides/notesSlide6.xml" Id="R34cc84ffc13147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c1c83f848604fc2" /><Relationship Type="http://schemas.openxmlformats.org/officeDocument/2006/relationships/notesSlide" Target="/ppt/notesSlides/notesSlide7.xml" Id="Rf1d51eeac4d74c60" /></Relationships>
</file>

<file path=ppt/slides/slide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8377702C-0D0B-46AB-8213-923786381384}"/>
              </a:ext>
            </a:extLst>
          </p:cNvPr>
          <p:cNvCxnSpPr>
            <a:stCxn xmlns:a="http://schemas.openxmlformats.org/drawingml/2006/main" id="11" idx="6"/>
            <a:endCxn xmlns:a="http://schemas.openxmlformats.org/drawingml/2006/main" id="17" idx="2"/>
          </p:cNvCxnSpPr>
          <p:nvPr/>
        </p:nvCxnSpPr>
        <p:spPr>
          <a:xfrm xmlns:a="http://schemas.openxmlformats.org/drawingml/2006/main">
            <a:off x="4105275" y="4362450"/>
            <a:ext cx="933450" cy="447675"/>
          </a:xfrm>
          <a:prstGeom xmlns:a="http://schemas.openxmlformats.org/drawingml/2006/main" prst="straightConnector1">
            <a:avLst/>
          </a:prstGeom>
          <a:ln xmlns:a="http://schemas.openxmlformats.org/drawingml/2006/main" w="15240">
            <a:solidFill>
              <a:srgbClr val="C5CCC7"/>
            </a:solidFill>
            <a:prstDash val="solid"/>
          </a:ln>
        </p:spPr>
      </p:cxnSp>
      <p:cxnSp>
        <p:nvCxnSpPr>
          <p:cNvPr id="25" name="">
            <a:extLst xmlns:a="http://schemas.openxmlformats.org/drawingml/2006/main">
              <a:ext uri="{FF2B5EF4-FFF2-40B4-BE49-F238E27FC236}">
                <a16:creationId xmlns:a16="http://schemas.microsoft.com/office/drawing/2014/main" id="{F1248A12-FAFE-4ACB-83FE-F9D36E759E78}"/>
              </a:ext>
            </a:extLst>
          </p:cNvPr>
          <p:cNvCxnSpPr>
            <a:stCxn xmlns:a="http://schemas.openxmlformats.org/drawingml/2006/main" id="9" idx="6"/>
            <a:endCxn xmlns:a="http://schemas.openxmlformats.org/drawingml/2006/main" id="15" idx="2"/>
          </p:cNvCxnSpPr>
          <p:nvPr/>
        </p:nvCxnSpPr>
        <p:spPr>
          <a:xfrm xmlns:a="http://schemas.openxmlformats.org/drawingml/2006/main" flipV="1">
            <a:off x="4105275" y="2238375"/>
            <a:ext cx="933450" cy="428625"/>
          </a:xfrm>
          <a:prstGeom xmlns:a="http://schemas.openxmlformats.org/drawingml/2006/main" prst="straightConnector1">
            <a:avLst/>
          </a:prstGeom>
          <a:ln xmlns:a="http://schemas.openxmlformats.org/drawingml/2006/main" w="15240">
            <a:solidFill>
              <a:srgbClr val="C5CCC7"/>
            </a:solidFill>
            <a:prstDash val="solid"/>
          </a:ln>
        </p:spPr>
      </p:cxnSp>
      <p:cxnSp>
        <p:nvCxnSpPr>
          <p:cNvPr id="24" name="">
            <a:extLst xmlns:a="http://schemas.openxmlformats.org/drawingml/2006/main">
              <a:ext uri="{FF2B5EF4-FFF2-40B4-BE49-F238E27FC236}">
                <a16:creationId xmlns:a16="http://schemas.microsoft.com/office/drawing/2014/main" id="{0345A782-5DD0-4EB2-82CD-7D6F6916DDAD}"/>
              </a:ext>
            </a:extLst>
          </p:cNvPr>
          <p:cNvCxnSpPr>
            <a:stCxn xmlns:a="http://schemas.openxmlformats.org/drawingml/2006/main" id="11" idx="7"/>
            <a:endCxn xmlns:a="http://schemas.openxmlformats.org/drawingml/2006/main" id="13" idx="3"/>
          </p:cNvCxnSpPr>
          <p:nvPr/>
        </p:nvCxnSpPr>
        <p:spPr>
          <a:xfrm xmlns:a="http://schemas.openxmlformats.org/drawingml/2006/main" flipV="1">
            <a:off x="4046689" y="3627589"/>
            <a:ext cx="1050622" cy="593422"/>
          </a:xfrm>
          <a:prstGeom xmlns:a="http://schemas.openxmlformats.org/drawingml/2006/main" prst="straightConnector1">
            <a:avLst/>
          </a:prstGeom>
          <a:ln xmlns:a="http://schemas.openxmlformats.org/drawingml/2006/main" w="38100">
            <a:solidFill>
              <a:srgbClr val="087E83"/>
            </a:solidFill>
            <a:prstDash val="solid"/>
          </a:ln>
        </p:spPr>
      </p:cxnSp>
      <p:cxnSp>
        <p:nvCxnSpPr>
          <p:cNvPr id="23" name="">
            <a:extLst xmlns:a="http://schemas.openxmlformats.org/drawingml/2006/main">
              <a:ext uri="{FF2B5EF4-FFF2-40B4-BE49-F238E27FC236}">
                <a16:creationId xmlns:a16="http://schemas.microsoft.com/office/drawing/2014/main" id="{417CFC59-C8C2-43E1-8958-0911C069CA97}"/>
              </a:ext>
            </a:extLst>
          </p:cNvPr>
          <p:cNvCxnSpPr>
            <a:stCxn xmlns:a="http://schemas.openxmlformats.org/drawingml/2006/main" id="9" idx="5"/>
            <a:endCxn xmlns:a="http://schemas.openxmlformats.org/drawingml/2006/main" id="13" idx="1"/>
          </p:cNvCxnSpPr>
          <p:nvPr/>
        </p:nvCxnSpPr>
        <p:spPr>
          <a:xfrm xmlns:a="http://schemas.openxmlformats.org/drawingml/2006/main">
            <a:off x="4046689" y="2808439"/>
            <a:ext cx="1050622" cy="536272"/>
          </a:xfrm>
          <a:prstGeom xmlns:a="http://schemas.openxmlformats.org/drawingml/2006/main" prst="straightConnector1">
            <a:avLst/>
          </a:prstGeom>
          <a:ln xmlns:a="http://schemas.openxmlformats.org/drawingml/2006/main" w="38100">
            <a:solidFill>
              <a:srgbClr val="087E83"/>
            </a:solidFill>
            <a:prstDash val="solid"/>
          </a:ln>
        </p:spPr>
      </p:cxnSp>
      <p:cxnSp>
        <p:nvCxnSpPr>
          <p:cNvPr id="22" name="">
            <a:extLst xmlns:a="http://schemas.openxmlformats.org/drawingml/2006/main">
              <a:ext uri="{FF2B5EF4-FFF2-40B4-BE49-F238E27FC236}">
                <a16:creationId xmlns:a16="http://schemas.microsoft.com/office/drawing/2014/main" id="{FBEDF60D-514C-4F00-9B69-58FA900A9222}"/>
              </a:ext>
            </a:extLst>
          </p:cNvPr>
          <p:cNvCxnSpPr>
            <a:stCxn xmlns:a="http://schemas.openxmlformats.org/drawingml/2006/main" id="5" idx="5"/>
            <a:endCxn xmlns:a="http://schemas.openxmlformats.org/drawingml/2006/main" id="11" idx="1"/>
          </p:cNvCxnSpPr>
          <p:nvPr/>
        </p:nvCxnSpPr>
        <p:spPr>
          <a:xfrm xmlns:a="http://schemas.openxmlformats.org/drawingml/2006/main">
            <a:off x="2709343" y="3690418"/>
            <a:ext cx="1054468" cy="530593"/>
          </a:xfrm>
          <a:prstGeom xmlns:a="http://schemas.openxmlformats.org/drawingml/2006/main" prst="straightConnector1">
            <a:avLst/>
          </a:prstGeom>
          <a:ln xmlns:a="http://schemas.openxmlformats.org/drawingml/2006/main" w="15240">
            <a:solidFill>
              <a:srgbClr val="C5CCC7"/>
            </a:solidFill>
            <a:prstDash val="solid"/>
          </a:ln>
        </p:spPr>
      </p:cxnSp>
      <p:cxnSp>
        <p:nvCxnSpPr>
          <p:cNvPr id="21" name="">
            <a:extLst xmlns:a="http://schemas.openxmlformats.org/drawingml/2006/main">
              <a:ext uri="{FF2B5EF4-FFF2-40B4-BE49-F238E27FC236}">
                <a16:creationId xmlns:a16="http://schemas.microsoft.com/office/drawing/2014/main" id="{068FBF99-7D8E-4831-AE1B-4217A45B840F}"/>
              </a:ext>
            </a:extLst>
          </p:cNvPr>
          <p:cNvCxnSpPr>
            <a:stCxn xmlns:a="http://schemas.openxmlformats.org/drawingml/2006/main" id="5" idx="7"/>
            <a:endCxn xmlns:a="http://schemas.openxmlformats.org/drawingml/2006/main" id="9" idx="3"/>
          </p:cNvCxnSpPr>
          <p:nvPr/>
        </p:nvCxnSpPr>
        <p:spPr>
          <a:xfrm xmlns:a="http://schemas.openxmlformats.org/drawingml/2006/main" flipV="1">
            <a:off x="2709343" y="2808439"/>
            <a:ext cx="1054468" cy="511544"/>
          </a:xfrm>
          <a:prstGeom xmlns:a="http://schemas.openxmlformats.org/drawingml/2006/main" prst="straightConnector1">
            <a:avLst/>
          </a:prstGeom>
          <a:ln xmlns:a="http://schemas.openxmlformats.org/drawingml/2006/main" w="15240">
            <a:solidFill>
              <a:srgbClr val="C5CCC7"/>
            </a:solidFill>
            <a:prstDash val="solid"/>
          </a:ln>
        </p:spPr>
      </p:cxnSp>
      <p:cxnSp>
        <p:nvCxnSpPr>
          <p:cNvPr id="20" name="">
            <a:extLst xmlns:a="http://schemas.openxmlformats.org/drawingml/2006/main">
              <a:ext uri="{FF2B5EF4-FFF2-40B4-BE49-F238E27FC236}">
                <a16:creationId xmlns:a16="http://schemas.microsoft.com/office/drawing/2014/main" id="{86568520-6C17-4A49-B8EF-1AC9E44DB897}"/>
              </a:ext>
            </a:extLst>
          </p:cNvPr>
          <p:cNvCxnSpPr>
            <a:stCxn xmlns:a="http://schemas.openxmlformats.org/drawingml/2006/main" id="7" idx="7"/>
            <a:endCxn xmlns:a="http://schemas.openxmlformats.org/drawingml/2006/main" id="5" idx="3"/>
          </p:cNvCxnSpPr>
          <p:nvPr/>
        </p:nvCxnSpPr>
        <p:spPr>
          <a:xfrm xmlns:a="http://schemas.openxmlformats.org/drawingml/2006/main" flipV="1">
            <a:off x="1265389" y="3690418"/>
            <a:ext cx="1073519" cy="663943"/>
          </a:xfrm>
          <a:prstGeom xmlns:a="http://schemas.openxmlformats.org/drawingml/2006/main" prst="straightConnector1">
            <a:avLst/>
          </a:prstGeom>
          <a:ln xmlns:a="http://schemas.openxmlformats.org/drawingml/2006/main" w="15240">
            <a:solidFill>
              <a:srgbClr val="C5CCC7"/>
            </a:solidFill>
            <a:prstDash val="solid"/>
          </a:ln>
        </p:spPr>
      </p:cxnSp>
      <p:cxnSp>
        <p:nvCxnSpPr>
          <p:cNvPr id="19" name="">
            <a:extLst xmlns:a="http://schemas.openxmlformats.org/drawingml/2006/main">
              <a:ext uri="{FF2B5EF4-FFF2-40B4-BE49-F238E27FC236}">
                <a16:creationId xmlns:a16="http://schemas.microsoft.com/office/drawing/2014/main" id="{EEF7A696-FC72-4B6C-BA0A-89835DAA4573}"/>
              </a:ext>
            </a:extLst>
          </p:cNvPr>
          <p:cNvCxnSpPr>
            <a:stCxn xmlns:a="http://schemas.openxmlformats.org/drawingml/2006/main" id="3" idx="5"/>
            <a:endCxn xmlns:a="http://schemas.openxmlformats.org/drawingml/2006/main" id="5" idx="1"/>
          </p:cNvCxnSpPr>
          <p:nvPr/>
        </p:nvCxnSpPr>
        <p:spPr>
          <a:xfrm xmlns:a="http://schemas.openxmlformats.org/drawingml/2006/main">
            <a:off x="1322539" y="2713189"/>
            <a:ext cx="1016369" cy="606794"/>
          </a:xfrm>
          <a:prstGeom xmlns:a="http://schemas.openxmlformats.org/drawingml/2006/main" prst="straightConnector1">
            <a:avLst/>
          </a:prstGeom>
          <a:ln xmlns:a="http://schemas.openxmlformats.org/drawingml/2006/main" w="15240">
            <a:solidFill>
              <a:srgbClr val="C5CCC7"/>
            </a:solidFill>
            <a:prstDash val="solid"/>
          </a:ln>
        </p:spPr>
      </p:cxnSp>
      <p:sp>
        <p:nvSpPr>
          <p:cNvPr id="36" name="">
            <a:extLst xmlns:a="http://schemas.openxmlformats.org/drawingml/2006/main">
              <a:ext uri="{FF2B5EF4-FFF2-40B4-BE49-F238E27FC236}">
                <a16:creationId xmlns:a16="http://schemas.microsoft.com/office/drawing/2014/main" id="{F266ECBC-492D-4B97-81C5-8134932B6A5E}"/>
              </a:ext>
            </a:extLst>
          </p:cNvPr>
          <p:cNvSpPr>
            <a:spLocks xmlns:a="http://schemas.openxmlformats.org/drawingml/2006/main" noGrp="1"/>
          </p:cNvSpPr>
          <p:nvPr/>
        </p:nvSpPr>
        <p:spPr>
          <a:xfrm xmlns:a="http://schemas.openxmlformats.org/drawingml/2006/main">
            <a:off x="533400" y="361950"/>
            <a:ext cx="1114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32A35"/>
                </a:solidFill>
                <a:latin typeface="DejaVu Sans"/>
                <a:ea typeface="DejaVu Sans"/>
                <a:cs typeface="DejaVu Sans"/>
              </a:defRPr>
            </a:defPPr>
            <a:lvl1pPr>
              <a:defRPr sz="3150" b="1">
                <a:solidFill>
                  <a:srgbClr val="132A35"/>
                </a:solidFill>
                <a:latin typeface="DejaVu Sans"/>
                <a:ea typeface="DejaVu Sans"/>
                <a:cs typeface="DejaVu Sans"/>
              </a:defRPr>
            </a:lvl1pPr>
            <a:lvl2pPr>
              <a:defRPr sz="3150" b="1">
                <a:solidFill>
                  <a:srgbClr val="132A35"/>
                </a:solidFill>
                <a:latin typeface="DejaVu Sans"/>
                <a:ea typeface="DejaVu Sans"/>
                <a:cs typeface="DejaVu Sans"/>
              </a:defRPr>
            </a:lvl2pPr>
            <a:lvl3pPr>
              <a:defRPr sz="3150" b="1">
                <a:solidFill>
                  <a:srgbClr val="132A35"/>
                </a:solidFill>
                <a:latin typeface="DejaVu Sans"/>
                <a:ea typeface="DejaVu Sans"/>
                <a:cs typeface="DejaVu Sans"/>
              </a:defRPr>
            </a:lvl3pPr>
            <a:lvl4pPr>
              <a:defRPr sz="3150" b="1">
                <a:solidFill>
                  <a:srgbClr val="132A35"/>
                </a:solidFill>
                <a:latin typeface="DejaVu Sans"/>
                <a:ea typeface="DejaVu Sans"/>
                <a:cs typeface="DejaVu Sans"/>
              </a:defRPr>
            </a:lvl4pPr>
            <a:lvl5pPr>
              <a:defRPr sz="3150" b="1">
                <a:solidFill>
                  <a:srgbClr val="132A35"/>
                </a:solidFill>
                <a:latin typeface="DejaVu Sans"/>
                <a:ea typeface="DejaVu Sans"/>
                <a:cs typeface="DejaVu Sans"/>
              </a:defRPr>
            </a:lvl5pPr>
            <a:lvl6pPr>
              <a:defRPr sz="3150" b="1">
                <a:solidFill>
                  <a:srgbClr val="132A35"/>
                </a:solidFill>
                <a:latin typeface="DejaVu Sans"/>
                <a:ea typeface="DejaVu Sans"/>
                <a:cs typeface="DejaVu Sans"/>
              </a:defRPr>
            </a:lvl6pPr>
            <a:lvl7pPr>
              <a:defRPr sz="3150" b="1">
                <a:solidFill>
                  <a:srgbClr val="132A35"/>
                </a:solidFill>
                <a:latin typeface="DejaVu Sans"/>
                <a:ea typeface="DejaVu Sans"/>
                <a:cs typeface="DejaVu Sans"/>
              </a:defRPr>
            </a:lvl7pPr>
            <a:lvl8pPr>
              <a:defRPr sz="3150" b="1">
                <a:solidFill>
                  <a:srgbClr val="132A35"/>
                </a:solidFill>
                <a:latin typeface="DejaVu Sans"/>
                <a:ea typeface="DejaVu Sans"/>
                <a:cs typeface="DejaVu Sans"/>
              </a:defRPr>
            </a:lvl8pPr>
            <a:lvl9pPr>
              <a:defRPr sz="3150" b="1">
                <a:solidFill>
                  <a:srgbClr val="132A35"/>
                </a:solidFill>
                <a:latin typeface="DejaVu Sans"/>
                <a:ea typeface="DejaVu Sans"/>
                <a:cs typeface="DejaVu Sans"/>
              </a:defRPr>
            </a:lvl9pPr>
          </a:lstStyle>
          <a:p xmlns:a="http://schemas.openxmlformats.org/drawingml/2006/main">
            <a:pPr>
              <a:defRPr sz="3150" b="1">
                <a:solidFill>
                  <a:srgbClr val="132A35"/>
                </a:solidFill>
                <a:latin typeface="DejaVu Sans"/>
                <a:ea typeface="DejaVu Sans"/>
                <a:cs typeface="DejaVu Sans"/>
              </a:defRPr>
            </a:pPr>
            <a:r>
              <a:rPr sz="3150" b="1">
                <a:solidFill>
                  <a:srgbClr val="132A35"/>
                </a:solidFill>
                <a:latin typeface="DejaVu Sans"/>
                <a:ea typeface="DejaVu Sans"/>
                <a:cs typeface="DejaVu Sans"/>
              </a:rPr>
              <a:t>Graph queries for search &amp; recommendations</a:t>
            </a:r>
          </a:p>
        </p:txBody>
      </p:sp>
      <p:sp>
        <p:nvSpPr>
          <p:cNvPr id="2" name="">
            <a:extLst xmlns:a="http://schemas.openxmlformats.org/drawingml/2006/main">
              <a:ext uri="{FF2B5EF4-FFF2-40B4-BE49-F238E27FC236}">
                <a16:creationId xmlns:a16="http://schemas.microsoft.com/office/drawing/2014/main" id="{ACD7BA83-9070-4532-98C8-EC655F4B3C9D}"/>
              </a:ext>
            </a:extLst>
          </p:cNvPr>
          <p:cNvSpPr>
            <a:spLocks xmlns:a="http://schemas.openxmlformats.org/drawingml/2006/main" noGrp="1"/>
          </p:cNvSpPr>
          <p:nvPr/>
        </p:nvSpPr>
        <p:spPr>
          <a:xfrm xmlns:a="http://schemas.openxmlformats.org/drawingml/2006/main">
            <a:off x="552450" y="1057275"/>
            <a:ext cx="1104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Traverse known relationships to retrieve candidate items</a:t>
            </a:r>
          </a:p>
        </p:txBody>
      </p:sp>
      <p:sp>
        <p:nvSpPr>
          <p:cNvPr id="3" name="location">
            <a:extLst xmlns:a="http://schemas.openxmlformats.org/drawingml/2006/main">
              <a:ext uri="{FF2B5EF4-FFF2-40B4-BE49-F238E27FC236}">
                <a16:creationId xmlns:a16="http://schemas.microsoft.com/office/drawing/2014/main" id="{8B52778E-AF3D-45CF-A454-9AAA70D50C62}"/>
              </a:ext>
            </a:extLst>
          </p:cNvPr>
          <p:cNvSpPr>
            <a:spLocks xmlns:a="http://schemas.openxmlformats.org/drawingml/2006/main" noGrp="1"/>
          </p:cNvSpPr>
          <p:nvPr/>
        </p:nvSpPr>
        <p:spPr>
          <a:xfrm xmlns:a="http://schemas.openxmlformats.org/drawingml/2006/main">
            <a:off x="981075" y="2371725"/>
            <a:ext cx="400050" cy="400050"/>
          </a:xfrm>
          <a:prstGeom xmlns:a="http://schemas.openxmlformats.org/drawingml/2006/main" prst="ellipse">
            <a:avLst/>
          </a:prstGeom>
          <a:solidFill xmlns:a="http://schemas.openxmlformats.org/drawingml/2006/main">
            <a:srgbClr val="A8D9EF"/>
          </a:solidFill>
          <a:ln xmlns:a="http://schemas.openxmlformats.org/drawingml/2006/main" w="19050">
            <a:solidFill>
              <a:srgbClr val="FFFFFF"/>
            </a:solidFill>
            <a:prstDash val="solid"/>
          </a:ln>
        </p:spPr>
      </p:sp>
      <p:sp>
        <p:nvSpPr>
          <p:cNvPr id="4" name="">
            <a:extLst xmlns:a="http://schemas.openxmlformats.org/drawingml/2006/main">
              <a:ext uri="{FF2B5EF4-FFF2-40B4-BE49-F238E27FC236}">
                <a16:creationId xmlns:a16="http://schemas.microsoft.com/office/drawing/2014/main" id="{23E8D519-9DEA-4400-BEB7-5A4AACA3AB5F}"/>
              </a:ext>
            </a:extLst>
          </p:cNvPr>
          <p:cNvSpPr>
            <a:spLocks xmlns:a="http://schemas.openxmlformats.org/drawingml/2006/main" noGrp="1"/>
          </p:cNvSpPr>
          <p:nvPr/>
        </p:nvSpPr>
        <p:spPr>
          <a:xfrm xmlns:a="http://schemas.openxmlformats.org/drawingml/2006/main">
            <a:off x="371475" y="20859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New York</a:t>
            </a:r>
          </a:p>
        </p:txBody>
      </p:sp>
      <p:sp>
        <p:nvSpPr>
          <p:cNvPr id="5" name="seller">
            <a:extLst xmlns:a="http://schemas.openxmlformats.org/drawingml/2006/main">
              <a:ext uri="{FF2B5EF4-FFF2-40B4-BE49-F238E27FC236}">
                <a16:creationId xmlns:a16="http://schemas.microsoft.com/office/drawing/2014/main" id="{A590F9B5-FEC7-426D-B3B7-E35BFC532B26}"/>
              </a:ext>
            </a:extLst>
          </p:cNvPr>
          <p:cNvSpPr>
            <a:spLocks xmlns:a="http://schemas.openxmlformats.org/drawingml/2006/main" noGrp="1"/>
          </p:cNvSpPr>
          <p:nvPr/>
        </p:nvSpPr>
        <p:spPr>
          <a:xfrm xmlns:a="http://schemas.openxmlformats.org/drawingml/2006/main">
            <a:off x="2262188" y="3243263"/>
            <a:ext cx="523875" cy="523875"/>
          </a:xfrm>
          <a:prstGeom xmlns:a="http://schemas.openxmlformats.org/drawingml/2006/main" prst="ellipse">
            <a:avLst/>
          </a:prstGeom>
          <a:solidFill xmlns:a="http://schemas.openxmlformats.org/drawingml/2006/main">
            <a:srgbClr val="1474A0"/>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A8A27C1E-ED2C-4700-B603-002CD7595D22}"/>
              </a:ext>
            </a:extLst>
          </p:cNvPr>
          <p:cNvSpPr>
            <a:spLocks xmlns:a="http://schemas.openxmlformats.org/drawingml/2006/main" noGrp="1"/>
          </p:cNvSpPr>
          <p:nvPr/>
        </p:nvSpPr>
        <p:spPr>
          <a:xfrm xmlns:a="http://schemas.openxmlformats.org/drawingml/2006/main">
            <a:off x="1714500" y="295751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Seller1</a:t>
            </a:r>
          </a:p>
        </p:txBody>
      </p:sp>
      <p:sp>
        <p:nvSpPr>
          <p:cNvPr id="7" name="rating">
            <a:extLst xmlns:a="http://schemas.openxmlformats.org/drawingml/2006/main">
              <a:ext uri="{FF2B5EF4-FFF2-40B4-BE49-F238E27FC236}">
                <a16:creationId xmlns:a16="http://schemas.microsoft.com/office/drawing/2014/main" id="{D228C058-02DC-45F5-95DA-3DC622ACE797}"/>
              </a:ext>
            </a:extLst>
          </p:cNvPr>
          <p:cNvSpPr>
            <a:spLocks xmlns:a="http://schemas.openxmlformats.org/drawingml/2006/main" noGrp="1"/>
          </p:cNvSpPr>
          <p:nvPr/>
        </p:nvSpPr>
        <p:spPr>
          <a:xfrm xmlns:a="http://schemas.openxmlformats.org/drawingml/2006/main">
            <a:off x="923925" y="4295775"/>
            <a:ext cx="400050" cy="400050"/>
          </a:xfrm>
          <a:prstGeom xmlns:a="http://schemas.openxmlformats.org/drawingml/2006/main" prst="ellipse">
            <a:avLst/>
          </a:prstGeom>
          <a:solidFill xmlns:a="http://schemas.openxmlformats.org/drawingml/2006/main">
            <a:srgbClr val="4C5666"/>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60671FB0-A135-46FE-99F3-398520C4CD28}"/>
              </a:ext>
            </a:extLst>
          </p:cNvPr>
          <p:cNvSpPr>
            <a:spLocks xmlns:a="http://schemas.openxmlformats.org/drawingml/2006/main" noGrp="1"/>
          </p:cNvSpPr>
          <p:nvPr/>
        </p:nvSpPr>
        <p:spPr>
          <a:xfrm xmlns:a="http://schemas.openxmlformats.org/drawingml/2006/main">
            <a:off x="314325" y="40100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1-star rating</a:t>
            </a:r>
          </a:p>
        </p:txBody>
      </p:sp>
      <p:sp>
        <p:nvSpPr>
          <p:cNvPr id="9" name="item1">
            <a:extLst xmlns:a="http://schemas.openxmlformats.org/drawingml/2006/main">
              <a:ext uri="{FF2B5EF4-FFF2-40B4-BE49-F238E27FC236}">
                <a16:creationId xmlns:a16="http://schemas.microsoft.com/office/drawing/2014/main" id="{955C9DC9-D0D0-4EE4-8E8A-5C6D31E27070}"/>
              </a:ext>
            </a:extLst>
          </p:cNvPr>
          <p:cNvSpPr>
            <a:spLocks xmlns:a="http://schemas.openxmlformats.org/drawingml/2006/main" noGrp="1"/>
          </p:cNvSpPr>
          <p:nvPr/>
        </p:nvSpPr>
        <p:spPr>
          <a:xfrm xmlns:a="http://schemas.openxmlformats.org/drawingml/2006/main">
            <a:off x="3705225" y="246697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0" name="">
            <a:extLst xmlns:a="http://schemas.openxmlformats.org/drawingml/2006/main">
              <a:ext uri="{FF2B5EF4-FFF2-40B4-BE49-F238E27FC236}">
                <a16:creationId xmlns:a16="http://schemas.microsoft.com/office/drawing/2014/main" id="{17244820-F532-4FB8-B72D-CFB002426FFC}"/>
              </a:ext>
            </a:extLst>
          </p:cNvPr>
          <p:cNvSpPr>
            <a:spLocks xmlns:a="http://schemas.openxmlformats.org/drawingml/2006/main" noGrp="1"/>
          </p:cNvSpPr>
          <p:nvPr/>
        </p:nvSpPr>
        <p:spPr>
          <a:xfrm xmlns:a="http://schemas.openxmlformats.org/drawingml/2006/main">
            <a:off x="3095625" y="21812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Item1</a:t>
            </a:r>
          </a:p>
        </p:txBody>
      </p:sp>
      <p:sp>
        <p:nvSpPr>
          <p:cNvPr id="11" name="item2">
            <a:extLst xmlns:a="http://schemas.openxmlformats.org/drawingml/2006/main">
              <a:ext uri="{FF2B5EF4-FFF2-40B4-BE49-F238E27FC236}">
                <a16:creationId xmlns:a16="http://schemas.microsoft.com/office/drawing/2014/main" id="{FF2B3592-86FA-447A-B535-E433341D4210}"/>
              </a:ext>
            </a:extLst>
          </p:cNvPr>
          <p:cNvSpPr>
            <a:spLocks xmlns:a="http://schemas.openxmlformats.org/drawingml/2006/main" noGrp="1"/>
          </p:cNvSpPr>
          <p:nvPr/>
        </p:nvSpPr>
        <p:spPr>
          <a:xfrm xmlns:a="http://schemas.openxmlformats.org/drawingml/2006/main">
            <a:off x="3705225" y="416242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8E0440CB-F828-4854-B34D-0567FE3B000F}"/>
              </a:ext>
            </a:extLst>
          </p:cNvPr>
          <p:cNvSpPr>
            <a:spLocks xmlns:a="http://schemas.openxmlformats.org/drawingml/2006/main" noGrp="1"/>
          </p:cNvSpPr>
          <p:nvPr/>
        </p:nvSpPr>
        <p:spPr>
          <a:xfrm xmlns:a="http://schemas.openxmlformats.org/drawingml/2006/main">
            <a:off x="3095625" y="38766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Item2</a:t>
            </a:r>
          </a:p>
        </p:txBody>
      </p:sp>
      <p:sp>
        <p:nvSpPr>
          <p:cNvPr id="13" name="category">
            <a:extLst xmlns:a="http://schemas.openxmlformats.org/drawingml/2006/main">
              <a:ext uri="{FF2B5EF4-FFF2-40B4-BE49-F238E27FC236}">
                <a16:creationId xmlns:a16="http://schemas.microsoft.com/office/drawing/2014/main" id="{7CF48A39-1C97-4DA9-A50F-AAA8FEE25D14}"/>
              </a:ext>
            </a:extLst>
          </p:cNvPr>
          <p:cNvSpPr>
            <a:spLocks xmlns:a="http://schemas.openxmlformats.org/drawingml/2006/main" noGrp="1"/>
          </p:cNvSpPr>
          <p:nvPr/>
        </p:nvSpPr>
        <p:spPr>
          <a:xfrm xmlns:a="http://schemas.openxmlformats.org/drawingml/2006/main">
            <a:off x="5038725" y="3286125"/>
            <a:ext cx="400050" cy="400050"/>
          </a:xfrm>
          <a:prstGeom xmlns:a="http://schemas.openxmlformats.org/drawingml/2006/main" prst="ellipse">
            <a:avLst/>
          </a:prstGeom>
          <a:solidFill xmlns:a="http://schemas.openxmlformats.org/drawingml/2006/main">
            <a:srgbClr val="966CC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0CF8A00C-F068-4B87-A496-94DE48841570}"/>
              </a:ext>
            </a:extLst>
          </p:cNvPr>
          <p:cNvSpPr>
            <a:spLocks xmlns:a="http://schemas.openxmlformats.org/drawingml/2006/main" noGrp="1"/>
          </p:cNvSpPr>
          <p:nvPr/>
        </p:nvSpPr>
        <p:spPr>
          <a:xfrm xmlns:a="http://schemas.openxmlformats.org/drawingml/2006/main">
            <a:off x="4429125" y="3000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Holster</a:t>
            </a:r>
          </a:p>
        </p:txBody>
      </p:sp>
      <p:sp>
        <p:nvSpPr>
          <p:cNvPr id="15" name="attribute-out">
            <a:extLst xmlns:a="http://schemas.openxmlformats.org/drawingml/2006/main">
              <a:ext uri="{FF2B5EF4-FFF2-40B4-BE49-F238E27FC236}">
                <a16:creationId xmlns:a16="http://schemas.microsoft.com/office/drawing/2014/main" id="{ABC93619-A7C4-40A0-B66C-7E52CFA7ABF6}"/>
              </a:ext>
            </a:extLst>
          </p:cNvPr>
          <p:cNvSpPr>
            <a:spLocks xmlns:a="http://schemas.openxmlformats.org/drawingml/2006/main" noGrp="1"/>
          </p:cNvSpPr>
          <p:nvPr/>
        </p:nvSpPr>
        <p:spPr>
          <a:xfrm xmlns:a="http://schemas.openxmlformats.org/drawingml/2006/main">
            <a:off x="5038725" y="203835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74C3BA08-0790-4EBE-9E52-13A973D8D4AB}"/>
              </a:ext>
            </a:extLst>
          </p:cNvPr>
          <p:cNvSpPr>
            <a:spLocks xmlns:a="http://schemas.openxmlformats.org/drawingml/2006/main" noGrp="1"/>
          </p:cNvSpPr>
          <p:nvPr/>
        </p:nvSpPr>
        <p:spPr>
          <a:xfrm xmlns:a="http://schemas.openxmlformats.org/drawingml/2006/main">
            <a:off x="4429125" y="1752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Outside</a:t>
            </a:r>
          </a:p>
        </p:txBody>
      </p:sp>
      <p:sp>
        <p:nvSpPr>
          <p:cNvPr id="17" name="attribute-in">
            <a:extLst xmlns:a="http://schemas.openxmlformats.org/drawingml/2006/main">
              <a:ext uri="{FF2B5EF4-FFF2-40B4-BE49-F238E27FC236}">
                <a16:creationId xmlns:a16="http://schemas.microsoft.com/office/drawing/2014/main" id="{24F121BB-06A7-48A5-836D-7F8A2B92444B}"/>
              </a:ext>
            </a:extLst>
          </p:cNvPr>
          <p:cNvSpPr>
            <a:spLocks xmlns:a="http://schemas.openxmlformats.org/drawingml/2006/main" noGrp="1"/>
          </p:cNvSpPr>
          <p:nvPr/>
        </p:nvSpPr>
        <p:spPr>
          <a:xfrm xmlns:a="http://schemas.openxmlformats.org/drawingml/2006/main">
            <a:off x="5038725" y="461010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05557740-35D6-4A34-8846-5A899BA2963E}"/>
              </a:ext>
            </a:extLst>
          </p:cNvPr>
          <p:cNvSpPr>
            <a:spLocks xmlns:a="http://schemas.openxmlformats.org/drawingml/2006/main" noGrp="1"/>
          </p:cNvSpPr>
          <p:nvPr/>
        </p:nvSpPr>
        <p:spPr>
          <a:xfrm xmlns:a="http://schemas.openxmlformats.org/drawingml/2006/main">
            <a:off x="4429125" y="43243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Inside</a:t>
            </a:r>
          </a:p>
        </p:txBody>
      </p:sp>
      <p:sp>
        <p:nvSpPr>
          <p:cNvPr id="27" name="">
            <a:extLst xmlns:a="http://schemas.openxmlformats.org/drawingml/2006/main">
              <a:ext uri="{FF2B5EF4-FFF2-40B4-BE49-F238E27FC236}">
                <a16:creationId xmlns:a16="http://schemas.microsoft.com/office/drawing/2014/main" id="{08ABD985-B199-4F99-95F2-62172C92A8E4}"/>
              </a:ext>
            </a:extLst>
          </p:cNvPr>
          <p:cNvSpPr>
            <a:spLocks xmlns:a="http://schemas.openxmlformats.org/drawingml/2006/main" noGrp="1"/>
          </p:cNvSpPr>
          <p:nvPr/>
        </p:nvSpPr>
        <p:spPr>
          <a:xfrm xmlns:a="http://schemas.openxmlformats.org/drawingml/2006/main">
            <a:off x="609600" y="539115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087E83"/>
                </a:solidFill>
                <a:latin typeface="DejaVu Sans"/>
                <a:ea typeface="DejaVu Sans"/>
                <a:cs typeface="DejaVu Sans"/>
              </a:defRPr>
            </a:defPPr>
            <a:lvl1pPr>
              <a:defRPr sz="1425" b="0">
                <a:solidFill>
                  <a:srgbClr val="087E83"/>
                </a:solidFill>
                <a:latin typeface="DejaVu Sans"/>
                <a:ea typeface="DejaVu Sans"/>
                <a:cs typeface="DejaVu Sans"/>
              </a:defRPr>
            </a:lvl1pPr>
            <a:lvl2pPr>
              <a:defRPr sz="1425" b="0">
                <a:solidFill>
                  <a:srgbClr val="087E83"/>
                </a:solidFill>
                <a:latin typeface="DejaVu Sans"/>
                <a:ea typeface="DejaVu Sans"/>
                <a:cs typeface="DejaVu Sans"/>
              </a:defRPr>
            </a:lvl2pPr>
            <a:lvl3pPr>
              <a:defRPr sz="1425" b="0">
                <a:solidFill>
                  <a:srgbClr val="087E83"/>
                </a:solidFill>
                <a:latin typeface="DejaVu Sans"/>
                <a:ea typeface="DejaVu Sans"/>
                <a:cs typeface="DejaVu Sans"/>
              </a:defRPr>
            </a:lvl3pPr>
            <a:lvl4pPr>
              <a:defRPr sz="1425" b="0">
                <a:solidFill>
                  <a:srgbClr val="087E83"/>
                </a:solidFill>
                <a:latin typeface="DejaVu Sans"/>
                <a:ea typeface="DejaVu Sans"/>
                <a:cs typeface="DejaVu Sans"/>
              </a:defRPr>
            </a:lvl4pPr>
            <a:lvl5pPr>
              <a:defRPr sz="1425" b="0">
                <a:solidFill>
                  <a:srgbClr val="087E83"/>
                </a:solidFill>
                <a:latin typeface="DejaVu Sans"/>
                <a:ea typeface="DejaVu Sans"/>
                <a:cs typeface="DejaVu Sans"/>
              </a:defRPr>
            </a:lvl5pPr>
            <a:lvl6pPr>
              <a:defRPr sz="1425" b="0">
                <a:solidFill>
                  <a:srgbClr val="087E83"/>
                </a:solidFill>
                <a:latin typeface="DejaVu Sans"/>
                <a:ea typeface="DejaVu Sans"/>
                <a:cs typeface="DejaVu Sans"/>
              </a:defRPr>
            </a:lvl6pPr>
            <a:lvl7pPr>
              <a:defRPr sz="1425" b="0">
                <a:solidFill>
                  <a:srgbClr val="087E83"/>
                </a:solidFill>
                <a:latin typeface="DejaVu Sans"/>
                <a:ea typeface="DejaVu Sans"/>
                <a:cs typeface="DejaVu Sans"/>
              </a:defRPr>
            </a:lvl7pPr>
            <a:lvl8pPr>
              <a:defRPr sz="1425" b="0">
                <a:solidFill>
                  <a:srgbClr val="087E83"/>
                </a:solidFill>
                <a:latin typeface="DejaVu Sans"/>
                <a:ea typeface="DejaVu Sans"/>
                <a:cs typeface="DejaVu Sans"/>
              </a:defRPr>
            </a:lvl8pPr>
            <a:lvl9pPr>
              <a:defRPr sz="1425" b="0">
                <a:solidFill>
                  <a:srgbClr val="087E83"/>
                </a:solidFill>
                <a:latin typeface="DejaVu Sans"/>
                <a:ea typeface="DejaVu Sans"/>
                <a:cs typeface="DejaVu Sans"/>
              </a:defRPr>
            </a:lvl9pPr>
          </a:lstStyle>
          <a:p xmlns:a="http://schemas.openxmlformats.org/drawingml/2006/main">
            <a:pPr>
              <a:defRPr sz="1425" b="0">
                <a:solidFill>
                  <a:srgbClr val="087E83"/>
                </a:solidFill>
                <a:latin typeface="DejaVu Sans"/>
                <a:ea typeface="DejaVu Sans"/>
                <a:cs typeface="DejaVu Sans"/>
              </a:defRPr>
            </a:pPr>
            <a:r>
              <a:rPr sz="1425" b="0">
                <a:solidFill>
                  <a:srgbClr val="087E83"/>
                </a:solidFill>
                <a:latin typeface="DejaVu Sans"/>
                <a:ea typeface="DejaVu Sans"/>
                <a:cs typeface="DejaVu Sans"/>
              </a:rPr>
              <a:t>Highlighted: shared-category path between Item1 and Item2</a:t>
            </a:r>
          </a:p>
        </p:txBody>
      </p:sp>
      <p:sp>
        <p:nvSpPr>
          <p:cNvPr id="28" name="">
            <a:extLst xmlns:a="http://schemas.openxmlformats.org/drawingml/2006/main">
              <a:ext uri="{FF2B5EF4-FFF2-40B4-BE49-F238E27FC236}">
                <a16:creationId xmlns:a16="http://schemas.microsoft.com/office/drawing/2014/main" id="{4AE70C10-FC69-4356-8C1F-72F5270C3A96}"/>
              </a:ext>
            </a:extLst>
          </p:cNvPr>
          <p:cNvSpPr>
            <a:spLocks xmlns:a="http://schemas.openxmlformats.org/drawingml/2006/main" noGrp="1"/>
          </p:cNvSpPr>
          <p:nvPr/>
        </p:nvSpPr>
        <p:spPr>
          <a:xfrm xmlns:a="http://schemas.openxmlformats.org/drawingml/2006/main">
            <a:off x="609600" y="18097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32A35"/>
                </a:solidFill>
                <a:latin typeface="DejaVu Sans"/>
                <a:ea typeface="DejaVu Sans"/>
                <a:cs typeface="DejaVu Sans"/>
              </a:defRPr>
            </a:defPPr>
            <a:lvl1pPr>
              <a:defRPr sz="1950" b="1">
                <a:solidFill>
                  <a:srgbClr val="132A35"/>
                </a:solidFill>
                <a:latin typeface="DejaVu Sans"/>
                <a:ea typeface="DejaVu Sans"/>
                <a:cs typeface="DejaVu Sans"/>
              </a:defRPr>
            </a:lvl1pPr>
            <a:lvl2pPr>
              <a:defRPr sz="1950" b="1">
                <a:solidFill>
                  <a:srgbClr val="132A35"/>
                </a:solidFill>
                <a:latin typeface="DejaVu Sans"/>
                <a:ea typeface="DejaVu Sans"/>
                <a:cs typeface="DejaVu Sans"/>
              </a:defRPr>
            </a:lvl2pPr>
            <a:lvl3pPr>
              <a:defRPr sz="1950" b="1">
                <a:solidFill>
                  <a:srgbClr val="132A35"/>
                </a:solidFill>
                <a:latin typeface="DejaVu Sans"/>
                <a:ea typeface="DejaVu Sans"/>
                <a:cs typeface="DejaVu Sans"/>
              </a:defRPr>
            </a:lvl3pPr>
            <a:lvl4pPr>
              <a:defRPr sz="1950" b="1">
                <a:solidFill>
                  <a:srgbClr val="132A35"/>
                </a:solidFill>
                <a:latin typeface="DejaVu Sans"/>
                <a:ea typeface="DejaVu Sans"/>
                <a:cs typeface="DejaVu Sans"/>
              </a:defRPr>
            </a:lvl4pPr>
            <a:lvl5pPr>
              <a:defRPr sz="1950" b="1">
                <a:solidFill>
                  <a:srgbClr val="132A35"/>
                </a:solidFill>
                <a:latin typeface="DejaVu Sans"/>
                <a:ea typeface="DejaVu Sans"/>
                <a:cs typeface="DejaVu Sans"/>
              </a:defRPr>
            </a:lvl5pPr>
            <a:lvl6pPr>
              <a:defRPr sz="1950" b="1">
                <a:solidFill>
                  <a:srgbClr val="132A35"/>
                </a:solidFill>
                <a:latin typeface="DejaVu Sans"/>
                <a:ea typeface="DejaVu Sans"/>
                <a:cs typeface="DejaVu Sans"/>
              </a:defRPr>
            </a:lvl6pPr>
            <a:lvl7pPr>
              <a:defRPr sz="1950" b="1">
                <a:solidFill>
                  <a:srgbClr val="132A35"/>
                </a:solidFill>
                <a:latin typeface="DejaVu Sans"/>
                <a:ea typeface="DejaVu Sans"/>
                <a:cs typeface="DejaVu Sans"/>
              </a:defRPr>
            </a:lvl7pPr>
            <a:lvl8pPr>
              <a:defRPr sz="1950" b="1">
                <a:solidFill>
                  <a:srgbClr val="132A35"/>
                </a:solidFill>
                <a:latin typeface="DejaVu Sans"/>
                <a:ea typeface="DejaVu Sans"/>
                <a:cs typeface="DejaVu Sans"/>
              </a:defRPr>
            </a:lvl8pPr>
            <a:lvl9pPr>
              <a:defRPr sz="1950" b="1">
                <a:solidFill>
                  <a:srgbClr val="132A35"/>
                </a:solidFill>
                <a:latin typeface="DejaVu Sans"/>
                <a:ea typeface="DejaVu Sans"/>
                <a:cs typeface="DejaVu Sans"/>
              </a:defRPr>
            </a:lvl9pPr>
          </a:lstStyle>
          <a:p xmlns:a="http://schemas.openxmlformats.org/drawingml/2006/main">
            <a:pPr>
              <a:defRPr sz="1950" b="1">
                <a:solidFill>
                  <a:srgbClr val="132A35"/>
                </a:solidFill>
                <a:latin typeface="DejaVu Sans"/>
                <a:ea typeface="DejaVu Sans"/>
                <a:cs typeface="DejaVu Sans"/>
              </a:defRPr>
            </a:pPr>
            <a:r>
              <a:rPr sz="1950" b="1">
                <a:solidFill>
                  <a:srgbClr val="132A35"/>
                </a:solidFill>
                <a:latin typeface="DejaVu Sans"/>
                <a:ea typeface="DejaVu Sans"/>
                <a:cs typeface="DejaVu Sans"/>
              </a:rPr>
              <a:t>Shared seller–item graph</a:t>
            </a:r>
          </a:p>
        </p:txBody>
      </p:sp>
      <p:sp>
        <p:nvSpPr>
          <p:cNvPr id="29" name="">
            <a:extLst xmlns:a="http://schemas.openxmlformats.org/drawingml/2006/main">
              <a:ext uri="{FF2B5EF4-FFF2-40B4-BE49-F238E27FC236}">
                <a16:creationId xmlns:a16="http://schemas.microsoft.com/office/drawing/2014/main" id="{C914345F-8F14-4CAB-9249-09D2180084A3}"/>
              </a:ext>
            </a:extLst>
          </p:cNvPr>
          <p:cNvSpPr>
            <a:spLocks xmlns:a="http://schemas.openxmlformats.org/drawingml/2006/main" noGrp="1"/>
          </p:cNvSpPr>
          <p:nvPr/>
        </p:nvSpPr>
        <p:spPr>
          <a:xfrm xmlns:a="http://schemas.openxmlformats.org/drawingml/2006/main">
            <a:off x="6276975" y="187642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1. Start with an item or entity</a:t>
            </a:r>
          </a:p>
        </p:txBody>
      </p:sp>
      <p:sp>
        <p:nvSpPr>
          <p:cNvPr id="30" name="">
            <a:extLst xmlns:a="http://schemas.openxmlformats.org/drawingml/2006/main">
              <a:ext uri="{FF2B5EF4-FFF2-40B4-BE49-F238E27FC236}">
                <a16:creationId xmlns:a16="http://schemas.microsoft.com/office/drawing/2014/main" id="{18C75F20-3D6B-4425-A961-C5F5A692AB26}"/>
              </a:ext>
            </a:extLst>
          </p:cNvPr>
          <p:cNvSpPr>
            <a:spLocks xmlns:a="http://schemas.openxmlformats.org/drawingml/2006/main" noGrp="1"/>
          </p:cNvSpPr>
          <p:nvPr/>
        </p:nvSpPr>
        <p:spPr>
          <a:xfrm xmlns:a="http://schemas.openxmlformats.org/drawingml/2006/main">
            <a:off x="6276975" y="228600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Resolve the query to Item1, a seller or a category.</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Filter eligible items before returning candidates.</a:t>
            </a:r>
          </a:p>
        </p:txBody>
      </p:sp>
      <p:sp>
        <p:nvSpPr>
          <p:cNvPr id="31" name="">
            <a:extLst xmlns:a="http://schemas.openxmlformats.org/drawingml/2006/main">
              <a:ext uri="{FF2B5EF4-FFF2-40B4-BE49-F238E27FC236}">
                <a16:creationId xmlns:a16="http://schemas.microsoft.com/office/drawing/2014/main" id="{E2D9E4CE-792B-4269-A19F-C761F7D10FBF}"/>
              </a:ext>
            </a:extLst>
          </p:cNvPr>
          <p:cNvSpPr>
            <a:spLocks xmlns:a="http://schemas.openxmlformats.org/drawingml/2006/main" noGrp="1"/>
          </p:cNvSpPr>
          <p:nvPr/>
        </p:nvSpPr>
        <p:spPr>
          <a:xfrm xmlns:a="http://schemas.openxmlformats.org/drawingml/2006/main">
            <a:off x="6276975" y="3314700"/>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2. Explore a bounded neighbourhood</a:t>
            </a:r>
          </a:p>
        </p:txBody>
      </p:sp>
      <p:sp>
        <p:nvSpPr>
          <p:cNvPr id="32" name="">
            <a:extLst xmlns:a="http://schemas.openxmlformats.org/drawingml/2006/main">
              <a:ext uri="{FF2B5EF4-FFF2-40B4-BE49-F238E27FC236}">
                <a16:creationId xmlns:a16="http://schemas.microsoft.com/office/drawing/2014/main" id="{481A86C3-0AEA-48E4-ADC5-FC3778707855}"/>
              </a:ext>
            </a:extLst>
          </p:cNvPr>
          <p:cNvSpPr>
            <a:spLocks xmlns:a="http://schemas.openxmlformats.org/drawingml/2006/main" noGrp="1"/>
          </p:cNvSpPr>
          <p:nvPr/>
        </p:nvSpPr>
        <p:spPr>
          <a:xfrm xmlns:a="http://schemas.openxmlformats.org/drawingml/2006/main">
            <a:off x="6276975" y="3724275"/>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BFS: nearby entities, one hop at a time.</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DFS: explore paths within depth / type limits.</a:t>
            </a:r>
          </a:p>
        </p:txBody>
      </p:sp>
      <p:sp>
        <p:nvSpPr>
          <p:cNvPr id="33" name="">
            <a:extLst xmlns:a="http://schemas.openxmlformats.org/drawingml/2006/main">
              <a:ext uri="{FF2B5EF4-FFF2-40B4-BE49-F238E27FC236}">
                <a16:creationId xmlns:a16="http://schemas.microsoft.com/office/drawing/2014/main" id="{2AC2C3E8-C873-4961-9A16-BCE1A650592B}"/>
              </a:ext>
            </a:extLst>
          </p:cNvPr>
          <p:cNvSpPr>
            <a:spLocks xmlns:a="http://schemas.openxmlformats.org/drawingml/2006/main" noGrp="1"/>
          </p:cNvSpPr>
          <p:nvPr/>
        </p:nvSpPr>
        <p:spPr>
          <a:xfrm xmlns:a="http://schemas.openxmlformats.org/drawingml/2006/main">
            <a:off x="6276975" y="475297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3. Retrieve, then rank</a:t>
            </a:r>
          </a:p>
        </p:txBody>
      </p:sp>
      <p:sp>
        <p:nvSpPr>
          <p:cNvPr id="34" name="">
            <a:extLst xmlns:a="http://schemas.openxmlformats.org/drawingml/2006/main">
              <a:ext uri="{FF2B5EF4-FFF2-40B4-BE49-F238E27FC236}">
                <a16:creationId xmlns:a16="http://schemas.microsoft.com/office/drawing/2014/main" id="{A803A994-F83B-4F3A-9F1A-9A3F16229BCD}"/>
              </a:ext>
            </a:extLst>
          </p:cNvPr>
          <p:cNvSpPr>
            <a:spLocks xmlns:a="http://schemas.openxmlformats.org/drawingml/2006/main" noGrp="1"/>
          </p:cNvSpPr>
          <p:nvPr/>
        </p:nvSpPr>
        <p:spPr>
          <a:xfrm xmlns:a="http://schemas.openxmlformats.org/drawingml/2006/main">
            <a:off x="6276975" y="516255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Item1 → Holster → Item2 is a two-hop candidate path.</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Rank using relevance, availability and business rules.</a:t>
            </a:r>
          </a:p>
        </p:txBody>
      </p:sp>
      <p:sp>
        <p:nvSpPr>
          <p:cNvPr id="35" name="">
            <a:extLst xmlns:a="http://schemas.openxmlformats.org/drawingml/2006/main">
              <a:ext uri="{FF2B5EF4-FFF2-40B4-BE49-F238E27FC236}">
                <a16:creationId xmlns:a16="http://schemas.microsoft.com/office/drawing/2014/main" id="{76A897D6-9DF6-4708-846C-D56B9CCCD330}"/>
              </a:ext>
            </a:extLst>
          </p:cNvPr>
          <p:cNvSpPr>
            <a:spLocks xmlns:a="http://schemas.openxmlformats.org/drawingml/2006/main" noGrp="1"/>
          </p:cNvSpPr>
          <p:nvPr/>
        </p:nvSpPr>
        <p:spPr>
          <a:xfrm xmlns:a="http://schemas.openxmlformats.org/drawingml/2006/main">
            <a:off x="552450" y="62769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087E83"/>
                </a:solidFill>
                <a:latin typeface="DejaVu Sans"/>
                <a:ea typeface="DejaVu Sans"/>
                <a:cs typeface="DejaVu Sans"/>
              </a:defRPr>
            </a:defPPr>
            <a:lvl1pPr>
              <a:defRPr sz="1650" b="1">
                <a:solidFill>
                  <a:srgbClr val="087E83"/>
                </a:solidFill>
                <a:latin typeface="DejaVu Sans"/>
                <a:ea typeface="DejaVu Sans"/>
                <a:cs typeface="DejaVu Sans"/>
              </a:defRPr>
            </a:lvl1pPr>
            <a:lvl2pPr>
              <a:defRPr sz="1650" b="1">
                <a:solidFill>
                  <a:srgbClr val="087E83"/>
                </a:solidFill>
                <a:latin typeface="DejaVu Sans"/>
                <a:ea typeface="DejaVu Sans"/>
                <a:cs typeface="DejaVu Sans"/>
              </a:defRPr>
            </a:lvl2pPr>
            <a:lvl3pPr>
              <a:defRPr sz="1650" b="1">
                <a:solidFill>
                  <a:srgbClr val="087E83"/>
                </a:solidFill>
                <a:latin typeface="DejaVu Sans"/>
                <a:ea typeface="DejaVu Sans"/>
                <a:cs typeface="DejaVu Sans"/>
              </a:defRPr>
            </a:lvl3pPr>
            <a:lvl4pPr>
              <a:defRPr sz="1650" b="1">
                <a:solidFill>
                  <a:srgbClr val="087E83"/>
                </a:solidFill>
                <a:latin typeface="DejaVu Sans"/>
                <a:ea typeface="DejaVu Sans"/>
                <a:cs typeface="DejaVu Sans"/>
              </a:defRPr>
            </a:lvl4pPr>
            <a:lvl5pPr>
              <a:defRPr sz="1650" b="1">
                <a:solidFill>
                  <a:srgbClr val="087E83"/>
                </a:solidFill>
                <a:latin typeface="DejaVu Sans"/>
                <a:ea typeface="DejaVu Sans"/>
                <a:cs typeface="DejaVu Sans"/>
              </a:defRPr>
            </a:lvl5pPr>
            <a:lvl6pPr>
              <a:defRPr sz="1650" b="1">
                <a:solidFill>
                  <a:srgbClr val="087E83"/>
                </a:solidFill>
                <a:latin typeface="DejaVu Sans"/>
                <a:ea typeface="DejaVu Sans"/>
                <a:cs typeface="DejaVu Sans"/>
              </a:defRPr>
            </a:lvl6pPr>
            <a:lvl7pPr>
              <a:defRPr sz="1650" b="1">
                <a:solidFill>
                  <a:srgbClr val="087E83"/>
                </a:solidFill>
                <a:latin typeface="DejaVu Sans"/>
                <a:ea typeface="DejaVu Sans"/>
                <a:cs typeface="DejaVu Sans"/>
              </a:defRPr>
            </a:lvl7pPr>
            <a:lvl8pPr>
              <a:defRPr sz="1650" b="1">
                <a:solidFill>
                  <a:srgbClr val="087E83"/>
                </a:solidFill>
                <a:latin typeface="DejaVu Sans"/>
                <a:ea typeface="DejaVu Sans"/>
                <a:cs typeface="DejaVu Sans"/>
              </a:defRPr>
            </a:lvl8pPr>
            <a:lvl9pPr>
              <a:defRPr sz="1650" b="1">
                <a:solidFill>
                  <a:srgbClr val="087E83"/>
                </a:solidFill>
                <a:latin typeface="DejaVu Sans"/>
                <a:ea typeface="DejaVu Sans"/>
                <a:cs typeface="DejaVu Sans"/>
              </a:defRPr>
            </a:lvl9pPr>
          </a:lstStyle>
          <a:p xmlns:a="http://schemas.openxmlformats.org/drawingml/2006/main">
            <a:pPr>
              <a:defRPr sz="1650" b="1">
                <a:solidFill>
                  <a:srgbClr val="087E83"/>
                </a:solidFill>
                <a:latin typeface="DejaVu Sans"/>
                <a:ea typeface="DejaVu Sans"/>
                <a:cs typeface="DejaVu Sans"/>
              </a:defRPr>
            </a:pPr>
            <a:r>
              <a:rPr sz="1650" b="1">
                <a:solidFill>
                  <a:srgbClr val="087E83"/>
                </a:solidFill>
                <a:latin typeface="DejaVu Sans"/>
                <a:ea typeface="DejaVu Sans"/>
                <a:cs typeface="DejaVu Sans"/>
              </a:rPr>
              <a:t>Graph traversal generates candidates; ranking decides which results to show.</a:t>
            </a:r>
          </a:p>
        </p:txBody>
      </p:sp>
    </p:spTree>
    <p:extLst>
      <p:ext uri="{BB962C8B-B14F-4D97-AF65-F5344CB8AC3E}">
        <p14:creationId xmlns:p14="http://schemas.microsoft.com/office/powerpoint/2010/main" val="1434951000"/>
      </p:ext>
    </p:extLst>
  </p:cSld>
</p:sld>
</file>

<file path=ppt/slides/slide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32" name="">
            <a:extLst xmlns:a="http://schemas.openxmlformats.org/drawingml/2006/main">
              <a:ext uri="{FF2B5EF4-FFF2-40B4-BE49-F238E27FC236}">
                <a16:creationId xmlns:a16="http://schemas.microsoft.com/office/drawing/2014/main" id="{575FA416-9115-4F73-A616-CC949BF241CC}"/>
              </a:ext>
            </a:extLst>
          </p:cNvPr>
          <p:cNvCxnSpPr>
            <a:stCxn xmlns:a="http://schemas.openxmlformats.org/drawingml/2006/main" id="29" idx="0"/>
            <a:endCxn xmlns:a="http://schemas.openxmlformats.org/drawingml/2006/main" id="11" idx="4"/>
          </p:cNvCxnSpPr>
          <p:nvPr/>
        </p:nvCxnSpPr>
        <p:spPr>
          <a:xfrm xmlns:a="http://schemas.openxmlformats.org/drawingml/2006/main" flipV="1">
            <a:off x="3905250" y="4562475"/>
            <a:ext cx="0" cy="590550"/>
          </a:xfrm>
          <a:prstGeom xmlns:a="http://schemas.openxmlformats.org/drawingml/2006/main" prst="straightConnector1">
            <a:avLst/>
          </a:prstGeom>
          <a:ln xmlns:a="http://schemas.openxmlformats.org/drawingml/2006/main" w="14288">
            <a:solidFill>
              <a:srgbClr val="73B8A0"/>
            </a:solidFill>
            <a:prstDash val="dash"/>
          </a:ln>
        </p:spPr>
      </p:cxnSp>
      <p:cxnSp>
        <p:nvCxnSpPr>
          <p:cNvPr id="31" name="">
            <a:extLst xmlns:a="http://schemas.openxmlformats.org/drawingml/2006/main">
              <a:ext uri="{FF2B5EF4-FFF2-40B4-BE49-F238E27FC236}">
                <a16:creationId xmlns:a16="http://schemas.microsoft.com/office/drawing/2014/main" id="{59041D40-D587-4AD7-8B14-B77E1ED18548}"/>
              </a:ext>
            </a:extLst>
          </p:cNvPr>
          <p:cNvCxnSpPr>
            <a:stCxn xmlns:a="http://schemas.openxmlformats.org/drawingml/2006/main" id="27" idx="7"/>
            <a:endCxn xmlns:a="http://schemas.openxmlformats.org/drawingml/2006/main" id="9" idx="3"/>
          </p:cNvCxnSpPr>
          <p:nvPr/>
        </p:nvCxnSpPr>
        <p:spPr>
          <a:xfrm xmlns:a="http://schemas.openxmlformats.org/drawingml/2006/main" flipV="1">
            <a:off x="2346138" y="2808439"/>
            <a:ext cx="1417673" cy="2389223"/>
          </a:xfrm>
          <a:prstGeom xmlns:a="http://schemas.openxmlformats.org/drawingml/2006/main" prst="straightConnector1">
            <a:avLst/>
          </a:prstGeom>
          <a:ln xmlns:a="http://schemas.openxmlformats.org/drawingml/2006/main" w="14288">
            <a:solidFill>
              <a:srgbClr val="73B8A0"/>
            </a:solidFill>
            <a:prstDash val="dash"/>
          </a:ln>
        </p:spPr>
      </p:cxnSp>
      <p:cxnSp>
        <p:nvCxnSpPr>
          <p:cNvPr id="26" name="">
            <a:extLst xmlns:a="http://schemas.openxmlformats.org/drawingml/2006/main">
              <a:ext uri="{FF2B5EF4-FFF2-40B4-BE49-F238E27FC236}">
                <a16:creationId xmlns:a16="http://schemas.microsoft.com/office/drawing/2014/main" id="{9A6F4A60-5684-4A97-A961-F64B8D4BBB6C}"/>
              </a:ext>
            </a:extLst>
          </p:cNvPr>
          <p:cNvCxnSpPr>
            <a:stCxn xmlns:a="http://schemas.openxmlformats.org/drawingml/2006/main" id="11" idx="6"/>
            <a:endCxn xmlns:a="http://schemas.openxmlformats.org/drawingml/2006/main" id="17" idx="2"/>
          </p:cNvCxnSpPr>
          <p:nvPr/>
        </p:nvCxnSpPr>
        <p:spPr>
          <a:xfrm xmlns:a="http://schemas.openxmlformats.org/drawingml/2006/main">
            <a:off x="4105275" y="4362450"/>
            <a:ext cx="933450" cy="447675"/>
          </a:xfrm>
          <a:prstGeom xmlns:a="http://schemas.openxmlformats.org/drawingml/2006/main" prst="straightConnector1">
            <a:avLst/>
          </a:prstGeom>
          <a:ln xmlns:a="http://schemas.openxmlformats.org/drawingml/2006/main" w="15240">
            <a:solidFill>
              <a:srgbClr val="C5CCC7"/>
            </a:solidFill>
            <a:prstDash val="solid"/>
          </a:ln>
        </p:spPr>
      </p:cxnSp>
      <p:cxnSp>
        <p:nvCxnSpPr>
          <p:cNvPr id="25" name="">
            <a:extLst xmlns:a="http://schemas.openxmlformats.org/drawingml/2006/main">
              <a:ext uri="{FF2B5EF4-FFF2-40B4-BE49-F238E27FC236}">
                <a16:creationId xmlns:a16="http://schemas.microsoft.com/office/drawing/2014/main" id="{0A992E71-FD2A-48F6-BD54-58B0D940CB3C}"/>
              </a:ext>
            </a:extLst>
          </p:cNvPr>
          <p:cNvCxnSpPr>
            <a:stCxn xmlns:a="http://schemas.openxmlformats.org/drawingml/2006/main" id="9" idx="6"/>
            <a:endCxn xmlns:a="http://schemas.openxmlformats.org/drawingml/2006/main" id="15" idx="2"/>
          </p:cNvCxnSpPr>
          <p:nvPr/>
        </p:nvCxnSpPr>
        <p:spPr>
          <a:xfrm xmlns:a="http://schemas.openxmlformats.org/drawingml/2006/main" flipV="1">
            <a:off x="4105275" y="2238375"/>
            <a:ext cx="933450" cy="428625"/>
          </a:xfrm>
          <a:prstGeom xmlns:a="http://schemas.openxmlformats.org/drawingml/2006/main" prst="straightConnector1">
            <a:avLst/>
          </a:prstGeom>
          <a:ln xmlns:a="http://schemas.openxmlformats.org/drawingml/2006/main" w="15240">
            <a:solidFill>
              <a:srgbClr val="C5CCC7"/>
            </a:solidFill>
            <a:prstDash val="solid"/>
          </a:ln>
        </p:spPr>
      </p:cxnSp>
      <p:cxnSp>
        <p:nvCxnSpPr>
          <p:cNvPr id="24" name="">
            <a:extLst xmlns:a="http://schemas.openxmlformats.org/drawingml/2006/main">
              <a:ext uri="{FF2B5EF4-FFF2-40B4-BE49-F238E27FC236}">
                <a16:creationId xmlns:a16="http://schemas.microsoft.com/office/drawing/2014/main" id="{D0FFBB35-EB89-45F2-A0B4-5CF5810926BA}"/>
              </a:ext>
            </a:extLst>
          </p:cNvPr>
          <p:cNvCxnSpPr>
            <a:stCxn xmlns:a="http://schemas.openxmlformats.org/drawingml/2006/main" id="11" idx="7"/>
            <a:endCxn xmlns:a="http://schemas.openxmlformats.org/drawingml/2006/main" id="13" idx="3"/>
          </p:cNvCxnSpPr>
          <p:nvPr/>
        </p:nvCxnSpPr>
        <p:spPr>
          <a:xfrm xmlns:a="http://schemas.openxmlformats.org/drawingml/2006/main" flipV="1">
            <a:off x="4046689" y="3627589"/>
            <a:ext cx="1050622" cy="593422"/>
          </a:xfrm>
          <a:prstGeom xmlns:a="http://schemas.openxmlformats.org/drawingml/2006/main" prst="straightConnector1">
            <a:avLst/>
          </a:prstGeom>
          <a:ln xmlns:a="http://schemas.openxmlformats.org/drawingml/2006/main" w="38100">
            <a:solidFill>
              <a:srgbClr val="087E83"/>
            </a:solidFill>
            <a:prstDash val="solid"/>
          </a:ln>
        </p:spPr>
      </p:cxnSp>
      <p:cxnSp>
        <p:nvCxnSpPr>
          <p:cNvPr id="23" name="">
            <a:extLst xmlns:a="http://schemas.openxmlformats.org/drawingml/2006/main">
              <a:ext uri="{FF2B5EF4-FFF2-40B4-BE49-F238E27FC236}">
                <a16:creationId xmlns:a16="http://schemas.microsoft.com/office/drawing/2014/main" id="{F993FEEF-4D43-484B-BE6A-F4DFBCCC86E2}"/>
              </a:ext>
            </a:extLst>
          </p:cNvPr>
          <p:cNvCxnSpPr>
            <a:stCxn xmlns:a="http://schemas.openxmlformats.org/drawingml/2006/main" id="9" idx="5"/>
            <a:endCxn xmlns:a="http://schemas.openxmlformats.org/drawingml/2006/main" id="13" idx="1"/>
          </p:cNvCxnSpPr>
          <p:nvPr/>
        </p:nvCxnSpPr>
        <p:spPr>
          <a:xfrm xmlns:a="http://schemas.openxmlformats.org/drawingml/2006/main">
            <a:off x="4046689" y="2808439"/>
            <a:ext cx="1050622" cy="536272"/>
          </a:xfrm>
          <a:prstGeom xmlns:a="http://schemas.openxmlformats.org/drawingml/2006/main" prst="straightConnector1">
            <a:avLst/>
          </a:prstGeom>
          <a:ln xmlns:a="http://schemas.openxmlformats.org/drawingml/2006/main" w="38100">
            <a:solidFill>
              <a:srgbClr val="087E83"/>
            </a:solidFill>
            <a:prstDash val="solid"/>
          </a:ln>
        </p:spPr>
      </p:cxnSp>
      <p:cxnSp>
        <p:nvCxnSpPr>
          <p:cNvPr id="22" name="">
            <a:extLst xmlns:a="http://schemas.openxmlformats.org/drawingml/2006/main">
              <a:ext uri="{FF2B5EF4-FFF2-40B4-BE49-F238E27FC236}">
                <a16:creationId xmlns:a16="http://schemas.microsoft.com/office/drawing/2014/main" id="{8FDD70A5-C78C-4CFB-A256-A60EDCF260F6}"/>
              </a:ext>
            </a:extLst>
          </p:cNvPr>
          <p:cNvCxnSpPr>
            <a:stCxn xmlns:a="http://schemas.openxmlformats.org/drawingml/2006/main" id="5" idx="5"/>
            <a:endCxn xmlns:a="http://schemas.openxmlformats.org/drawingml/2006/main" id="11" idx="1"/>
          </p:cNvCxnSpPr>
          <p:nvPr/>
        </p:nvCxnSpPr>
        <p:spPr>
          <a:xfrm xmlns:a="http://schemas.openxmlformats.org/drawingml/2006/main">
            <a:off x="2709343" y="3690418"/>
            <a:ext cx="1054468" cy="530593"/>
          </a:xfrm>
          <a:prstGeom xmlns:a="http://schemas.openxmlformats.org/drawingml/2006/main" prst="straightConnector1">
            <a:avLst/>
          </a:prstGeom>
          <a:ln xmlns:a="http://schemas.openxmlformats.org/drawingml/2006/main" w="15240">
            <a:solidFill>
              <a:srgbClr val="C5CCC7"/>
            </a:solidFill>
            <a:prstDash val="solid"/>
          </a:ln>
        </p:spPr>
      </p:cxnSp>
      <p:cxnSp>
        <p:nvCxnSpPr>
          <p:cNvPr id="21" name="">
            <a:extLst xmlns:a="http://schemas.openxmlformats.org/drawingml/2006/main">
              <a:ext uri="{FF2B5EF4-FFF2-40B4-BE49-F238E27FC236}">
                <a16:creationId xmlns:a16="http://schemas.microsoft.com/office/drawing/2014/main" id="{3124201E-1C42-475C-B93A-4C60960B55EA}"/>
              </a:ext>
            </a:extLst>
          </p:cNvPr>
          <p:cNvCxnSpPr>
            <a:stCxn xmlns:a="http://schemas.openxmlformats.org/drawingml/2006/main" id="5" idx="7"/>
            <a:endCxn xmlns:a="http://schemas.openxmlformats.org/drawingml/2006/main" id="9" idx="3"/>
          </p:cNvCxnSpPr>
          <p:nvPr/>
        </p:nvCxnSpPr>
        <p:spPr>
          <a:xfrm xmlns:a="http://schemas.openxmlformats.org/drawingml/2006/main" flipV="1">
            <a:off x="2709343" y="2808439"/>
            <a:ext cx="1054468" cy="511544"/>
          </a:xfrm>
          <a:prstGeom xmlns:a="http://schemas.openxmlformats.org/drawingml/2006/main" prst="straightConnector1">
            <a:avLst/>
          </a:prstGeom>
          <a:ln xmlns:a="http://schemas.openxmlformats.org/drawingml/2006/main" w="15240">
            <a:solidFill>
              <a:srgbClr val="C5CCC7"/>
            </a:solidFill>
            <a:prstDash val="solid"/>
          </a:ln>
        </p:spPr>
      </p:cxnSp>
      <p:cxnSp>
        <p:nvCxnSpPr>
          <p:cNvPr id="20" name="">
            <a:extLst xmlns:a="http://schemas.openxmlformats.org/drawingml/2006/main">
              <a:ext uri="{FF2B5EF4-FFF2-40B4-BE49-F238E27FC236}">
                <a16:creationId xmlns:a16="http://schemas.microsoft.com/office/drawing/2014/main" id="{B9F9A3E6-72E3-49EB-B1A2-2B58ECC7D5EC}"/>
              </a:ext>
            </a:extLst>
          </p:cNvPr>
          <p:cNvCxnSpPr>
            <a:stCxn xmlns:a="http://schemas.openxmlformats.org/drawingml/2006/main" id="7" idx="7"/>
            <a:endCxn xmlns:a="http://schemas.openxmlformats.org/drawingml/2006/main" id="5" idx="3"/>
          </p:cNvCxnSpPr>
          <p:nvPr/>
        </p:nvCxnSpPr>
        <p:spPr>
          <a:xfrm xmlns:a="http://schemas.openxmlformats.org/drawingml/2006/main" flipV="1">
            <a:off x="1265389" y="3690418"/>
            <a:ext cx="1073519" cy="663943"/>
          </a:xfrm>
          <a:prstGeom xmlns:a="http://schemas.openxmlformats.org/drawingml/2006/main" prst="straightConnector1">
            <a:avLst/>
          </a:prstGeom>
          <a:ln xmlns:a="http://schemas.openxmlformats.org/drawingml/2006/main" w="15240">
            <a:solidFill>
              <a:srgbClr val="C5CCC7"/>
            </a:solidFill>
            <a:prstDash val="solid"/>
          </a:ln>
        </p:spPr>
      </p:cxnSp>
      <p:cxnSp>
        <p:nvCxnSpPr>
          <p:cNvPr id="19" name="">
            <a:extLst xmlns:a="http://schemas.openxmlformats.org/drawingml/2006/main">
              <a:ext uri="{FF2B5EF4-FFF2-40B4-BE49-F238E27FC236}">
                <a16:creationId xmlns:a16="http://schemas.microsoft.com/office/drawing/2014/main" id="{D62E368C-2580-422D-9687-8A3E41E3955A}"/>
              </a:ext>
            </a:extLst>
          </p:cNvPr>
          <p:cNvCxnSpPr>
            <a:stCxn xmlns:a="http://schemas.openxmlformats.org/drawingml/2006/main" id="3" idx="5"/>
            <a:endCxn xmlns:a="http://schemas.openxmlformats.org/drawingml/2006/main" id="5" idx="1"/>
          </p:cNvCxnSpPr>
          <p:nvPr/>
        </p:nvCxnSpPr>
        <p:spPr>
          <a:xfrm xmlns:a="http://schemas.openxmlformats.org/drawingml/2006/main">
            <a:off x="1322539" y="2713189"/>
            <a:ext cx="1016369" cy="606794"/>
          </a:xfrm>
          <a:prstGeom xmlns:a="http://schemas.openxmlformats.org/drawingml/2006/main" prst="straightConnector1">
            <a:avLst/>
          </a:prstGeom>
          <a:ln xmlns:a="http://schemas.openxmlformats.org/drawingml/2006/main" w="15240">
            <a:solidFill>
              <a:srgbClr val="C5CCC7"/>
            </a:solidFill>
            <a:prstDash val="solid"/>
          </a:ln>
        </p:spPr>
      </p:cxnSp>
      <p:sp>
        <p:nvSpPr>
          <p:cNvPr id="42" name="">
            <a:extLst xmlns:a="http://schemas.openxmlformats.org/drawingml/2006/main">
              <a:ext uri="{FF2B5EF4-FFF2-40B4-BE49-F238E27FC236}">
                <a16:creationId xmlns:a16="http://schemas.microsoft.com/office/drawing/2014/main" id="{9C867449-A2A6-4D8B-9E48-9937D71B614B}"/>
              </a:ext>
            </a:extLst>
          </p:cNvPr>
          <p:cNvSpPr>
            <a:spLocks xmlns:a="http://schemas.openxmlformats.org/drawingml/2006/main" noGrp="1"/>
          </p:cNvSpPr>
          <p:nvPr/>
        </p:nvSpPr>
        <p:spPr>
          <a:xfrm xmlns:a="http://schemas.openxmlformats.org/drawingml/2006/main">
            <a:off x="533400" y="361950"/>
            <a:ext cx="1114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32A35"/>
                </a:solidFill>
                <a:latin typeface="DejaVu Sans"/>
                <a:ea typeface="DejaVu Sans"/>
                <a:cs typeface="DejaVu Sans"/>
              </a:defRPr>
            </a:defPPr>
            <a:lvl1pPr>
              <a:defRPr sz="3150" b="1">
                <a:solidFill>
                  <a:srgbClr val="132A35"/>
                </a:solidFill>
                <a:latin typeface="DejaVu Sans"/>
                <a:ea typeface="DejaVu Sans"/>
                <a:cs typeface="DejaVu Sans"/>
              </a:defRPr>
            </a:lvl1pPr>
            <a:lvl2pPr>
              <a:defRPr sz="3150" b="1">
                <a:solidFill>
                  <a:srgbClr val="132A35"/>
                </a:solidFill>
                <a:latin typeface="DejaVu Sans"/>
                <a:ea typeface="DejaVu Sans"/>
                <a:cs typeface="DejaVu Sans"/>
              </a:defRPr>
            </a:lvl2pPr>
            <a:lvl3pPr>
              <a:defRPr sz="3150" b="1">
                <a:solidFill>
                  <a:srgbClr val="132A35"/>
                </a:solidFill>
                <a:latin typeface="DejaVu Sans"/>
                <a:ea typeface="DejaVu Sans"/>
                <a:cs typeface="DejaVu Sans"/>
              </a:defRPr>
            </a:lvl3pPr>
            <a:lvl4pPr>
              <a:defRPr sz="3150" b="1">
                <a:solidFill>
                  <a:srgbClr val="132A35"/>
                </a:solidFill>
                <a:latin typeface="DejaVu Sans"/>
                <a:ea typeface="DejaVu Sans"/>
                <a:cs typeface="DejaVu Sans"/>
              </a:defRPr>
            </a:lvl4pPr>
            <a:lvl5pPr>
              <a:defRPr sz="3150" b="1">
                <a:solidFill>
                  <a:srgbClr val="132A35"/>
                </a:solidFill>
                <a:latin typeface="DejaVu Sans"/>
                <a:ea typeface="DejaVu Sans"/>
                <a:cs typeface="DejaVu Sans"/>
              </a:defRPr>
            </a:lvl5pPr>
            <a:lvl6pPr>
              <a:defRPr sz="3150" b="1">
                <a:solidFill>
                  <a:srgbClr val="132A35"/>
                </a:solidFill>
                <a:latin typeface="DejaVu Sans"/>
                <a:ea typeface="DejaVu Sans"/>
                <a:cs typeface="DejaVu Sans"/>
              </a:defRPr>
            </a:lvl6pPr>
            <a:lvl7pPr>
              <a:defRPr sz="3150" b="1">
                <a:solidFill>
                  <a:srgbClr val="132A35"/>
                </a:solidFill>
                <a:latin typeface="DejaVu Sans"/>
                <a:ea typeface="DejaVu Sans"/>
                <a:cs typeface="DejaVu Sans"/>
              </a:defRPr>
            </a:lvl7pPr>
            <a:lvl8pPr>
              <a:defRPr sz="3150" b="1">
                <a:solidFill>
                  <a:srgbClr val="132A35"/>
                </a:solidFill>
                <a:latin typeface="DejaVu Sans"/>
                <a:ea typeface="DejaVu Sans"/>
                <a:cs typeface="DejaVu Sans"/>
              </a:defRPr>
            </a:lvl8pPr>
            <a:lvl9pPr>
              <a:defRPr sz="3150" b="1">
                <a:solidFill>
                  <a:srgbClr val="132A35"/>
                </a:solidFill>
                <a:latin typeface="DejaVu Sans"/>
                <a:ea typeface="DejaVu Sans"/>
                <a:cs typeface="DejaVu Sans"/>
              </a:defRPr>
            </a:lvl9pPr>
          </a:lstStyle>
          <a:p xmlns:a="http://schemas.openxmlformats.org/drawingml/2006/main">
            <a:pPr>
              <a:defRPr sz="3150" b="1">
                <a:solidFill>
                  <a:srgbClr val="132A35"/>
                </a:solidFill>
                <a:latin typeface="DejaVu Sans"/>
                <a:ea typeface="DejaVu Sans"/>
                <a:cs typeface="DejaVu Sans"/>
              </a:defRPr>
            </a:pPr>
            <a:r>
              <a:rPr sz="3150" b="1">
                <a:solidFill>
                  <a:srgbClr val="132A35"/>
                </a:solidFill>
                <a:latin typeface="DejaVu Sans"/>
                <a:ea typeface="DejaVu Sans"/>
                <a:cs typeface="DejaVu Sans"/>
              </a:rPr>
              <a:t>Graph ML for cold-start demand</a:t>
            </a:r>
          </a:p>
        </p:txBody>
      </p:sp>
      <p:sp>
        <p:nvSpPr>
          <p:cNvPr id="2" name="">
            <a:extLst xmlns:a="http://schemas.openxmlformats.org/drawingml/2006/main">
              <a:ext uri="{FF2B5EF4-FFF2-40B4-BE49-F238E27FC236}">
                <a16:creationId xmlns:a16="http://schemas.microsoft.com/office/drawing/2014/main" id="{CA1E3E05-B2E3-4D2B-8F65-121A610D3FC0}"/>
              </a:ext>
            </a:extLst>
          </p:cNvPr>
          <p:cNvSpPr>
            <a:spLocks xmlns:a="http://schemas.openxmlformats.org/drawingml/2006/main" noGrp="1"/>
          </p:cNvSpPr>
          <p:nvPr/>
        </p:nvSpPr>
        <p:spPr>
          <a:xfrm xmlns:a="http://schemas.openxmlformats.org/drawingml/2006/main">
            <a:off x="552450" y="1057275"/>
            <a:ext cx="1104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Node similarity supplies analogues for the One Demand forecasting workflow</a:t>
            </a:r>
          </a:p>
        </p:txBody>
      </p:sp>
      <p:sp>
        <p:nvSpPr>
          <p:cNvPr id="3" name="location">
            <a:extLst xmlns:a="http://schemas.openxmlformats.org/drawingml/2006/main">
              <a:ext uri="{FF2B5EF4-FFF2-40B4-BE49-F238E27FC236}">
                <a16:creationId xmlns:a16="http://schemas.microsoft.com/office/drawing/2014/main" id="{74C41C6E-1E07-4D45-96A0-448459A023DD}"/>
              </a:ext>
            </a:extLst>
          </p:cNvPr>
          <p:cNvSpPr>
            <a:spLocks xmlns:a="http://schemas.openxmlformats.org/drawingml/2006/main" noGrp="1"/>
          </p:cNvSpPr>
          <p:nvPr/>
        </p:nvSpPr>
        <p:spPr>
          <a:xfrm xmlns:a="http://schemas.openxmlformats.org/drawingml/2006/main">
            <a:off x="981075" y="2371725"/>
            <a:ext cx="400050" cy="400050"/>
          </a:xfrm>
          <a:prstGeom xmlns:a="http://schemas.openxmlformats.org/drawingml/2006/main" prst="ellipse">
            <a:avLst/>
          </a:prstGeom>
          <a:solidFill xmlns:a="http://schemas.openxmlformats.org/drawingml/2006/main">
            <a:srgbClr val="A8D9EF"/>
          </a:solidFill>
          <a:ln xmlns:a="http://schemas.openxmlformats.org/drawingml/2006/main" w="19050">
            <a:solidFill>
              <a:srgbClr val="FFFFFF"/>
            </a:solidFill>
            <a:prstDash val="solid"/>
          </a:ln>
        </p:spPr>
      </p:sp>
      <p:sp>
        <p:nvSpPr>
          <p:cNvPr id="4" name="">
            <a:extLst xmlns:a="http://schemas.openxmlformats.org/drawingml/2006/main">
              <a:ext uri="{FF2B5EF4-FFF2-40B4-BE49-F238E27FC236}">
                <a16:creationId xmlns:a16="http://schemas.microsoft.com/office/drawing/2014/main" id="{1238853B-397A-4F36-820B-470051CCDC33}"/>
              </a:ext>
            </a:extLst>
          </p:cNvPr>
          <p:cNvSpPr>
            <a:spLocks xmlns:a="http://schemas.openxmlformats.org/drawingml/2006/main" noGrp="1"/>
          </p:cNvSpPr>
          <p:nvPr/>
        </p:nvSpPr>
        <p:spPr>
          <a:xfrm xmlns:a="http://schemas.openxmlformats.org/drawingml/2006/main">
            <a:off x="371475" y="20859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New York</a:t>
            </a:r>
          </a:p>
        </p:txBody>
      </p:sp>
      <p:sp>
        <p:nvSpPr>
          <p:cNvPr id="5" name="seller">
            <a:extLst xmlns:a="http://schemas.openxmlformats.org/drawingml/2006/main">
              <a:ext uri="{FF2B5EF4-FFF2-40B4-BE49-F238E27FC236}">
                <a16:creationId xmlns:a16="http://schemas.microsoft.com/office/drawing/2014/main" id="{029450E8-B91D-460D-B00A-A7F30903C41E}"/>
              </a:ext>
            </a:extLst>
          </p:cNvPr>
          <p:cNvSpPr>
            <a:spLocks xmlns:a="http://schemas.openxmlformats.org/drawingml/2006/main" noGrp="1"/>
          </p:cNvSpPr>
          <p:nvPr/>
        </p:nvSpPr>
        <p:spPr>
          <a:xfrm xmlns:a="http://schemas.openxmlformats.org/drawingml/2006/main">
            <a:off x="2262188" y="3243263"/>
            <a:ext cx="523875" cy="523875"/>
          </a:xfrm>
          <a:prstGeom xmlns:a="http://schemas.openxmlformats.org/drawingml/2006/main" prst="ellipse">
            <a:avLst/>
          </a:prstGeom>
          <a:solidFill xmlns:a="http://schemas.openxmlformats.org/drawingml/2006/main">
            <a:srgbClr val="1474A0"/>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450DDF55-7C8F-4D92-9C1A-2C07969B4464}"/>
              </a:ext>
            </a:extLst>
          </p:cNvPr>
          <p:cNvSpPr>
            <a:spLocks xmlns:a="http://schemas.openxmlformats.org/drawingml/2006/main" noGrp="1"/>
          </p:cNvSpPr>
          <p:nvPr/>
        </p:nvSpPr>
        <p:spPr>
          <a:xfrm xmlns:a="http://schemas.openxmlformats.org/drawingml/2006/main">
            <a:off x="1714500" y="295751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Seller1</a:t>
            </a:r>
          </a:p>
        </p:txBody>
      </p:sp>
      <p:sp>
        <p:nvSpPr>
          <p:cNvPr id="7" name="rating">
            <a:extLst xmlns:a="http://schemas.openxmlformats.org/drawingml/2006/main">
              <a:ext uri="{FF2B5EF4-FFF2-40B4-BE49-F238E27FC236}">
                <a16:creationId xmlns:a16="http://schemas.microsoft.com/office/drawing/2014/main" id="{4C3623CE-84D5-4891-A39B-636AF42B9E18}"/>
              </a:ext>
            </a:extLst>
          </p:cNvPr>
          <p:cNvSpPr>
            <a:spLocks xmlns:a="http://schemas.openxmlformats.org/drawingml/2006/main" noGrp="1"/>
          </p:cNvSpPr>
          <p:nvPr/>
        </p:nvSpPr>
        <p:spPr>
          <a:xfrm xmlns:a="http://schemas.openxmlformats.org/drawingml/2006/main">
            <a:off x="923925" y="4295775"/>
            <a:ext cx="400050" cy="400050"/>
          </a:xfrm>
          <a:prstGeom xmlns:a="http://schemas.openxmlformats.org/drawingml/2006/main" prst="ellipse">
            <a:avLst/>
          </a:prstGeom>
          <a:solidFill xmlns:a="http://schemas.openxmlformats.org/drawingml/2006/main">
            <a:srgbClr val="4C5666"/>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B852287E-FDEF-41A2-965E-255EEC440E4C}"/>
              </a:ext>
            </a:extLst>
          </p:cNvPr>
          <p:cNvSpPr>
            <a:spLocks xmlns:a="http://schemas.openxmlformats.org/drawingml/2006/main" noGrp="1"/>
          </p:cNvSpPr>
          <p:nvPr/>
        </p:nvSpPr>
        <p:spPr>
          <a:xfrm xmlns:a="http://schemas.openxmlformats.org/drawingml/2006/main">
            <a:off x="314325" y="40100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1-star rating</a:t>
            </a:r>
          </a:p>
        </p:txBody>
      </p:sp>
      <p:sp>
        <p:nvSpPr>
          <p:cNvPr id="9" name="item1">
            <a:extLst xmlns:a="http://schemas.openxmlformats.org/drawingml/2006/main">
              <a:ext uri="{FF2B5EF4-FFF2-40B4-BE49-F238E27FC236}">
                <a16:creationId xmlns:a16="http://schemas.microsoft.com/office/drawing/2014/main" id="{1C046113-9827-49E1-ABD1-F37B929665F6}"/>
              </a:ext>
            </a:extLst>
          </p:cNvPr>
          <p:cNvSpPr>
            <a:spLocks xmlns:a="http://schemas.openxmlformats.org/drawingml/2006/main" noGrp="1"/>
          </p:cNvSpPr>
          <p:nvPr/>
        </p:nvSpPr>
        <p:spPr>
          <a:xfrm xmlns:a="http://schemas.openxmlformats.org/drawingml/2006/main">
            <a:off x="3705225" y="246697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0" name="">
            <a:extLst xmlns:a="http://schemas.openxmlformats.org/drawingml/2006/main">
              <a:ext uri="{FF2B5EF4-FFF2-40B4-BE49-F238E27FC236}">
                <a16:creationId xmlns:a16="http://schemas.microsoft.com/office/drawing/2014/main" id="{07E42A94-C753-4524-A709-B4ADBA17F00C}"/>
              </a:ext>
            </a:extLst>
          </p:cNvPr>
          <p:cNvSpPr>
            <a:spLocks xmlns:a="http://schemas.openxmlformats.org/drawingml/2006/main" noGrp="1"/>
          </p:cNvSpPr>
          <p:nvPr/>
        </p:nvSpPr>
        <p:spPr>
          <a:xfrm xmlns:a="http://schemas.openxmlformats.org/drawingml/2006/main">
            <a:off x="3095625" y="21812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Item1</a:t>
            </a:r>
          </a:p>
        </p:txBody>
      </p:sp>
      <p:sp>
        <p:nvSpPr>
          <p:cNvPr id="11" name="item2">
            <a:extLst xmlns:a="http://schemas.openxmlformats.org/drawingml/2006/main">
              <a:ext uri="{FF2B5EF4-FFF2-40B4-BE49-F238E27FC236}">
                <a16:creationId xmlns:a16="http://schemas.microsoft.com/office/drawing/2014/main" id="{29EC1062-0BEA-4833-9616-B8EBBC071EC0}"/>
              </a:ext>
            </a:extLst>
          </p:cNvPr>
          <p:cNvSpPr>
            <a:spLocks xmlns:a="http://schemas.openxmlformats.org/drawingml/2006/main" noGrp="1"/>
          </p:cNvSpPr>
          <p:nvPr/>
        </p:nvSpPr>
        <p:spPr>
          <a:xfrm xmlns:a="http://schemas.openxmlformats.org/drawingml/2006/main">
            <a:off x="3705225" y="416242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AC11D16D-929C-4050-B6BB-28F9151364F3}"/>
              </a:ext>
            </a:extLst>
          </p:cNvPr>
          <p:cNvSpPr>
            <a:spLocks xmlns:a="http://schemas.openxmlformats.org/drawingml/2006/main" noGrp="1"/>
          </p:cNvSpPr>
          <p:nvPr/>
        </p:nvSpPr>
        <p:spPr>
          <a:xfrm xmlns:a="http://schemas.openxmlformats.org/drawingml/2006/main">
            <a:off x="3095625" y="38766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Item2</a:t>
            </a:r>
          </a:p>
        </p:txBody>
      </p:sp>
      <p:sp>
        <p:nvSpPr>
          <p:cNvPr id="13" name="category">
            <a:extLst xmlns:a="http://schemas.openxmlformats.org/drawingml/2006/main">
              <a:ext uri="{FF2B5EF4-FFF2-40B4-BE49-F238E27FC236}">
                <a16:creationId xmlns:a16="http://schemas.microsoft.com/office/drawing/2014/main" id="{129ECE9E-DBC0-41C4-AA66-67B58AFBAB1E}"/>
              </a:ext>
            </a:extLst>
          </p:cNvPr>
          <p:cNvSpPr>
            <a:spLocks xmlns:a="http://schemas.openxmlformats.org/drawingml/2006/main" noGrp="1"/>
          </p:cNvSpPr>
          <p:nvPr/>
        </p:nvSpPr>
        <p:spPr>
          <a:xfrm xmlns:a="http://schemas.openxmlformats.org/drawingml/2006/main">
            <a:off x="5038725" y="3286125"/>
            <a:ext cx="400050" cy="400050"/>
          </a:xfrm>
          <a:prstGeom xmlns:a="http://schemas.openxmlformats.org/drawingml/2006/main" prst="ellipse">
            <a:avLst/>
          </a:prstGeom>
          <a:solidFill xmlns:a="http://schemas.openxmlformats.org/drawingml/2006/main">
            <a:srgbClr val="966CC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3EF8C01B-DB95-465F-8388-89336119C8E1}"/>
              </a:ext>
            </a:extLst>
          </p:cNvPr>
          <p:cNvSpPr>
            <a:spLocks xmlns:a="http://schemas.openxmlformats.org/drawingml/2006/main" noGrp="1"/>
          </p:cNvSpPr>
          <p:nvPr/>
        </p:nvSpPr>
        <p:spPr>
          <a:xfrm xmlns:a="http://schemas.openxmlformats.org/drawingml/2006/main">
            <a:off x="4429125" y="3000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Holster</a:t>
            </a:r>
          </a:p>
        </p:txBody>
      </p:sp>
      <p:sp>
        <p:nvSpPr>
          <p:cNvPr id="15" name="attribute-out">
            <a:extLst xmlns:a="http://schemas.openxmlformats.org/drawingml/2006/main">
              <a:ext uri="{FF2B5EF4-FFF2-40B4-BE49-F238E27FC236}">
                <a16:creationId xmlns:a16="http://schemas.microsoft.com/office/drawing/2014/main" id="{02BDB97A-3DD1-4FA2-BA67-F4C21828DA31}"/>
              </a:ext>
            </a:extLst>
          </p:cNvPr>
          <p:cNvSpPr>
            <a:spLocks xmlns:a="http://schemas.openxmlformats.org/drawingml/2006/main" noGrp="1"/>
          </p:cNvSpPr>
          <p:nvPr/>
        </p:nvSpPr>
        <p:spPr>
          <a:xfrm xmlns:a="http://schemas.openxmlformats.org/drawingml/2006/main">
            <a:off x="5038725" y="203835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860185BB-1CF4-413A-9094-057593BDCF0D}"/>
              </a:ext>
            </a:extLst>
          </p:cNvPr>
          <p:cNvSpPr>
            <a:spLocks xmlns:a="http://schemas.openxmlformats.org/drawingml/2006/main" noGrp="1"/>
          </p:cNvSpPr>
          <p:nvPr/>
        </p:nvSpPr>
        <p:spPr>
          <a:xfrm xmlns:a="http://schemas.openxmlformats.org/drawingml/2006/main">
            <a:off x="4429125" y="1752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Outside</a:t>
            </a:r>
          </a:p>
        </p:txBody>
      </p:sp>
      <p:sp>
        <p:nvSpPr>
          <p:cNvPr id="17" name="attribute-in">
            <a:extLst xmlns:a="http://schemas.openxmlformats.org/drawingml/2006/main">
              <a:ext uri="{FF2B5EF4-FFF2-40B4-BE49-F238E27FC236}">
                <a16:creationId xmlns:a16="http://schemas.microsoft.com/office/drawing/2014/main" id="{2551A526-2D1E-40C4-88B3-816833774525}"/>
              </a:ext>
            </a:extLst>
          </p:cNvPr>
          <p:cNvSpPr>
            <a:spLocks xmlns:a="http://schemas.openxmlformats.org/drawingml/2006/main" noGrp="1"/>
          </p:cNvSpPr>
          <p:nvPr/>
        </p:nvSpPr>
        <p:spPr>
          <a:xfrm xmlns:a="http://schemas.openxmlformats.org/drawingml/2006/main">
            <a:off x="5038725" y="461010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2AAB0A5D-7749-4E61-A4EB-F87BDDF899F2}"/>
              </a:ext>
            </a:extLst>
          </p:cNvPr>
          <p:cNvSpPr>
            <a:spLocks xmlns:a="http://schemas.openxmlformats.org/drawingml/2006/main" noGrp="1"/>
          </p:cNvSpPr>
          <p:nvPr/>
        </p:nvSpPr>
        <p:spPr>
          <a:xfrm xmlns:a="http://schemas.openxmlformats.org/drawingml/2006/main">
            <a:off x="4429125" y="43243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Inside</a:t>
            </a:r>
          </a:p>
        </p:txBody>
      </p:sp>
      <p:sp>
        <p:nvSpPr>
          <p:cNvPr id="27" name="store-a">
            <a:extLst xmlns:a="http://schemas.openxmlformats.org/drawingml/2006/main">
              <a:ext uri="{FF2B5EF4-FFF2-40B4-BE49-F238E27FC236}">
                <a16:creationId xmlns:a16="http://schemas.microsoft.com/office/drawing/2014/main" id="{F6BF349F-21A3-408D-AA91-240C51742964}"/>
              </a:ext>
            </a:extLst>
          </p:cNvPr>
          <p:cNvSpPr>
            <a:spLocks xmlns:a="http://schemas.openxmlformats.org/drawingml/2006/main" noGrp="1"/>
          </p:cNvSpPr>
          <p:nvPr/>
        </p:nvSpPr>
        <p:spPr>
          <a:xfrm xmlns:a="http://schemas.openxmlformats.org/drawingml/2006/main">
            <a:off x="2085975" y="5153025"/>
            <a:ext cx="304800" cy="304800"/>
          </a:xfrm>
          <a:prstGeom xmlns:a="http://schemas.openxmlformats.org/drawingml/2006/main" prst="ellipse">
            <a:avLst/>
          </a:prstGeom>
          <a:solidFill xmlns:a="http://schemas.openxmlformats.org/drawingml/2006/main">
            <a:srgbClr val="73B8A0"/>
          </a:solidFill>
          <a:ln xmlns:a="http://schemas.openxmlformats.org/drawingml/2006/main" w="19050">
            <a:solidFill>
              <a:srgbClr val="FFFFFF"/>
            </a:solidFill>
            <a:prstDash val="solid"/>
          </a:ln>
        </p:spPr>
      </p:sp>
      <p:sp>
        <p:nvSpPr>
          <p:cNvPr id="28" name="">
            <a:extLst xmlns:a="http://schemas.openxmlformats.org/drawingml/2006/main">
              <a:ext uri="{FF2B5EF4-FFF2-40B4-BE49-F238E27FC236}">
                <a16:creationId xmlns:a16="http://schemas.microsoft.com/office/drawing/2014/main" id="{C72ED9A8-0660-4C8E-BC6F-E6F7B41992F4}"/>
              </a:ext>
            </a:extLst>
          </p:cNvPr>
          <p:cNvSpPr>
            <a:spLocks xmlns:a="http://schemas.openxmlformats.org/drawingml/2006/main" noGrp="1"/>
          </p:cNvSpPr>
          <p:nvPr/>
        </p:nvSpPr>
        <p:spPr>
          <a:xfrm xmlns:a="http://schemas.openxmlformats.org/drawingml/2006/main">
            <a:off x="1428750" y="48672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Store A</a:t>
            </a:r>
          </a:p>
        </p:txBody>
      </p:sp>
      <p:sp>
        <p:nvSpPr>
          <p:cNvPr id="29" name="store-b">
            <a:extLst xmlns:a="http://schemas.openxmlformats.org/drawingml/2006/main">
              <a:ext uri="{FF2B5EF4-FFF2-40B4-BE49-F238E27FC236}">
                <a16:creationId xmlns:a16="http://schemas.microsoft.com/office/drawing/2014/main" id="{1E4798EE-6201-4517-8775-F7265A01833D}"/>
              </a:ext>
            </a:extLst>
          </p:cNvPr>
          <p:cNvSpPr>
            <a:spLocks xmlns:a="http://schemas.openxmlformats.org/drawingml/2006/main" noGrp="1"/>
          </p:cNvSpPr>
          <p:nvPr/>
        </p:nvSpPr>
        <p:spPr>
          <a:xfrm xmlns:a="http://schemas.openxmlformats.org/drawingml/2006/main">
            <a:off x="3752850" y="5153025"/>
            <a:ext cx="304800" cy="304800"/>
          </a:xfrm>
          <a:prstGeom xmlns:a="http://schemas.openxmlformats.org/drawingml/2006/main" prst="ellipse">
            <a:avLst/>
          </a:prstGeom>
          <a:solidFill xmlns:a="http://schemas.openxmlformats.org/drawingml/2006/main">
            <a:srgbClr val="73B8A0"/>
          </a:solidFill>
          <a:ln xmlns:a="http://schemas.openxmlformats.org/drawingml/2006/main" w="19050">
            <a:solidFill>
              <a:srgbClr val="FFFFFF"/>
            </a:solidFill>
            <a:prstDash val="solid"/>
          </a:ln>
        </p:spPr>
      </p:sp>
      <p:sp>
        <p:nvSpPr>
          <p:cNvPr id="30" name="">
            <a:extLst xmlns:a="http://schemas.openxmlformats.org/drawingml/2006/main">
              <a:ext uri="{FF2B5EF4-FFF2-40B4-BE49-F238E27FC236}">
                <a16:creationId xmlns:a16="http://schemas.microsoft.com/office/drawing/2014/main" id="{66FD6DFE-BFEF-4386-9E3D-ED3096ADAB59}"/>
              </a:ext>
            </a:extLst>
          </p:cNvPr>
          <p:cNvSpPr>
            <a:spLocks xmlns:a="http://schemas.openxmlformats.org/drawingml/2006/main" noGrp="1"/>
          </p:cNvSpPr>
          <p:nvPr/>
        </p:nvSpPr>
        <p:spPr>
          <a:xfrm xmlns:a="http://schemas.openxmlformats.org/drawingml/2006/main">
            <a:off x="3095625" y="48672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Store B</a:t>
            </a:r>
          </a:p>
        </p:txBody>
      </p:sp>
      <p:sp>
        <p:nvSpPr>
          <p:cNvPr id="33" name="">
            <a:extLst xmlns:a="http://schemas.openxmlformats.org/drawingml/2006/main">
              <a:ext uri="{FF2B5EF4-FFF2-40B4-BE49-F238E27FC236}">
                <a16:creationId xmlns:a16="http://schemas.microsoft.com/office/drawing/2014/main" id="{037F9323-B0A6-4A92-941E-09DBC08BBB54}"/>
              </a:ext>
            </a:extLst>
          </p:cNvPr>
          <p:cNvSpPr>
            <a:spLocks xmlns:a="http://schemas.openxmlformats.org/drawingml/2006/main" noGrp="1"/>
          </p:cNvSpPr>
          <p:nvPr/>
        </p:nvSpPr>
        <p:spPr>
          <a:xfrm xmlns:a="http://schemas.openxmlformats.org/drawingml/2006/main">
            <a:off x="609600" y="5724525"/>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3676D"/>
                </a:solidFill>
                <a:latin typeface="DejaVu Sans"/>
                <a:ea typeface="DejaVu Sans"/>
                <a:cs typeface="DejaVu Sans"/>
              </a:defRPr>
            </a:defPPr>
            <a:lvl1pPr>
              <a:defRPr sz="1350" b="0">
                <a:solidFill>
                  <a:srgbClr val="53676D"/>
                </a:solidFill>
                <a:latin typeface="DejaVu Sans"/>
                <a:ea typeface="DejaVu Sans"/>
                <a:cs typeface="DejaVu Sans"/>
              </a:defRPr>
            </a:lvl1pPr>
            <a:lvl2pPr>
              <a:defRPr sz="1350" b="0">
                <a:solidFill>
                  <a:srgbClr val="53676D"/>
                </a:solidFill>
                <a:latin typeface="DejaVu Sans"/>
                <a:ea typeface="DejaVu Sans"/>
                <a:cs typeface="DejaVu Sans"/>
              </a:defRPr>
            </a:lvl2pPr>
            <a:lvl3pPr>
              <a:defRPr sz="1350" b="0">
                <a:solidFill>
                  <a:srgbClr val="53676D"/>
                </a:solidFill>
                <a:latin typeface="DejaVu Sans"/>
                <a:ea typeface="DejaVu Sans"/>
                <a:cs typeface="DejaVu Sans"/>
              </a:defRPr>
            </a:lvl3pPr>
            <a:lvl4pPr>
              <a:defRPr sz="1350" b="0">
                <a:solidFill>
                  <a:srgbClr val="53676D"/>
                </a:solidFill>
                <a:latin typeface="DejaVu Sans"/>
                <a:ea typeface="DejaVu Sans"/>
                <a:cs typeface="DejaVu Sans"/>
              </a:defRPr>
            </a:lvl4pPr>
            <a:lvl5pPr>
              <a:defRPr sz="1350" b="0">
                <a:solidFill>
                  <a:srgbClr val="53676D"/>
                </a:solidFill>
                <a:latin typeface="DejaVu Sans"/>
                <a:ea typeface="DejaVu Sans"/>
                <a:cs typeface="DejaVu Sans"/>
              </a:defRPr>
            </a:lvl5pPr>
            <a:lvl6pPr>
              <a:defRPr sz="1350" b="0">
                <a:solidFill>
                  <a:srgbClr val="53676D"/>
                </a:solidFill>
                <a:latin typeface="DejaVu Sans"/>
                <a:ea typeface="DejaVu Sans"/>
                <a:cs typeface="DejaVu Sans"/>
              </a:defRPr>
            </a:lvl6pPr>
            <a:lvl7pPr>
              <a:defRPr sz="1350" b="0">
                <a:solidFill>
                  <a:srgbClr val="53676D"/>
                </a:solidFill>
                <a:latin typeface="DejaVu Sans"/>
                <a:ea typeface="DejaVu Sans"/>
                <a:cs typeface="DejaVu Sans"/>
              </a:defRPr>
            </a:lvl7pPr>
            <a:lvl8pPr>
              <a:defRPr sz="1350" b="0">
                <a:solidFill>
                  <a:srgbClr val="53676D"/>
                </a:solidFill>
                <a:latin typeface="DejaVu Sans"/>
                <a:ea typeface="DejaVu Sans"/>
                <a:cs typeface="DejaVu Sans"/>
              </a:defRPr>
            </a:lvl8pPr>
            <a:lvl9pPr>
              <a:defRPr sz="1350" b="0">
                <a:solidFill>
                  <a:srgbClr val="53676D"/>
                </a:solidFill>
                <a:latin typeface="DejaVu Sans"/>
                <a:ea typeface="DejaVu Sans"/>
                <a:cs typeface="DejaVu Sans"/>
              </a:defRPr>
            </a:lvl9pPr>
          </a:lstStyle>
          <a:p xmlns:a="http://schemas.openxmlformats.org/drawingml/2006/main">
            <a:pPr>
              <a:defRPr sz="1350" b="0">
                <a:solidFill>
                  <a:srgbClr val="53676D"/>
                </a:solidFill>
                <a:latin typeface="DejaVu Sans"/>
                <a:ea typeface="DejaVu Sans"/>
                <a:cs typeface="DejaVu Sans"/>
              </a:defRPr>
            </a:pPr>
            <a:r>
              <a:rPr sz="1350" b="0">
                <a:solidFill>
                  <a:srgbClr val="53676D"/>
                </a:solidFill>
                <a:latin typeface="DejaVu Sans"/>
                <a:ea typeface="DejaVu Sans"/>
                <a:cs typeface="DejaVu Sans"/>
              </a:rPr>
              <a:t>Illustrative extension: store–item sales history</a:t>
            </a:r>
          </a:p>
        </p:txBody>
      </p:sp>
      <p:sp>
        <p:nvSpPr>
          <p:cNvPr id="34" name="">
            <a:extLst xmlns:a="http://schemas.openxmlformats.org/drawingml/2006/main">
              <a:ext uri="{FF2B5EF4-FFF2-40B4-BE49-F238E27FC236}">
                <a16:creationId xmlns:a16="http://schemas.microsoft.com/office/drawing/2014/main" id="{1B55F254-9313-460E-8986-D36FC7DCAAED}"/>
              </a:ext>
            </a:extLst>
          </p:cNvPr>
          <p:cNvSpPr>
            <a:spLocks xmlns:a="http://schemas.openxmlformats.org/drawingml/2006/main" noGrp="1"/>
          </p:cNvSpPr>
          <p:nvPr/>
        </p:nvSpPr>
        <p:spPr>
          <a:xfrm xmlns:a="http://schemas.openxmlformats.org/drawingml/2006/main">
            <a:off x="609600" y="18097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32A35"/>
                </a:solidFill>
                <a:latin typeface="DejaVu Sans"/>
                <a:ea typeface="DejaVu Sans"/>
                <a:cs typeface="DejaVu Sans"/>
              </a:defRPr>
            </a:defPPr>
            <a:lvl1pPr>
              <a:defRPr sz="1950" b="1">
                <a:solidFill>
                  <a:srgbClr val="132A35"/>
                </a:solidFill>
                <a:latin typeface="DejaVu Sans"/>
                <a:ea typeface="DejaVu Sans"/>
                <a:cs typeface="DejaVu Sans"/>
              </a:defRPr>
            </a:lvl1pPr>
            <a:lvl2pPr>
              <a:defRPr sz="1950" b="1">
                <a:solidFill>
                  <a:srgbClr val="132A35"/>
                </a:solidFill>
                <a:latin typeface="DejaVu Sans"/>
                <a:ea typeface="DejaVu Sans"/>
                <a:cs typeface="DejaVu Sans"/>
              </a:defRPr>
            </a:lvl2pPr>
            <a:lvl3pPr>
              <a:defRPr sz="1950" b="1">
                <a:solidFill>
                  <a:srgbClr val="132A35"/>
                </a:solidFill>
                <a:latin typeface="DejaVu Sans"/>
                <a:ea typeface="DejaVu Sans"/>
                <a:cs typeface="DejaVu Sans"/>
              </a:defRPr>
            </a:lvl3pPr>
            <a:lvl4pPr>
              <a:defRPr sz="1950" b="1">
                <a:solidFill>
                  <a:srgbClr val="132A35"/>
                </a:solidFill>
                <a:latin typeface="DejaVu Sans"/>
                <a:ea typeface="DejaVu Sans"/>
                <a:cs typeface="DejaVu Sans"/>
              </a:defRPr>
            </a:lvl4pPr>
            <a:lvl5pPr>
              <a:defRPr sz="1950" b="1">
                <a:solidFill>
                  <a:srgbClr val="132A35"/>
                </a:solidFill>
                <a:latin typeface="DejaVu Sans"/>
                <a:ea typeface="DejaVu Sans"/>
                <a:cs typeface="DejaVu Sans"/>
              </a:defRPr>
            </a:lvl5pPr>
            <a:lvl6pPr>
              <a:defRPr sz="1950" b="1">
                <a:solidFill>
                  <a:srgbClr val="132A35"/>
                </a:solidFill>
                <a:latin typeface="DejaVu Sans"/>
                <a:ea typeface="DejaVu Sans"/>
                <a:cs typeface="DejaVu Sans"/>
              </a:defRPr>
            </a:lvl6pPr>
            <a:lvl7pPr>
              <a:defRPr sz="1950" b="1">
                <a:solidFill>
                  <a:srgbClr val="132A35"/>
                </a:solidFill>
                <a:latin typeface="DejaVu Sans"/>
                <a:ea typeface="DejaVu Sans"/>
                <a:cs typeface="DejaVu Sans"/>
              </a:defRPr>
            </a:lvl7pPr>
            <a:lvl8pPr>
              <a:defRPr sz="1950" b="1">
                <a:solidFill>
                  <a:srgbClr val="132A35"/>
                </a:solidFill>
                <a:latin typeface="DejaVu Sans"/>
                <a:ea typeface="DejaVu Sans"/>
                <a:cs typeface="DejaVu Sans"/>
              </a:defRPr>
            </a:lvl8pPr>
            <a:lvl9pPr>
              <a:defRPr sz="1950" b="1">
                <a:solidFill>
                  <a:srgbClr val="132A35"/>
                </a:solidFill>
                <a:latin typeface="DejaVu Sans"/>
                <a:ea typeface="DejaVu Sans"/>
                <a:cs typeface="DejaVu Sans"/>
              </a:defRPr>
            </a:lvl9pPr>
          </a:lstStyle>
          <a:p xmlns:a="http://schemas.openxmlformats.org/drawingml/2006/main">
            <a:pPr>
              <a:defRPr sz="1950" b="1">
                <a:solidFill>
                  <a:srgbClr val="132A35"/>
                </a:solidFill>
                <a:latin typeface="DejaVu Sans"/>
                <a:ea typeface="DejaVu Sans"/>
                <a:cs typeface="DejaVu Sans"/>
              </a:defRPr>
            </a:pPr>
            <a:r>
              <a:rPr sz="1950" b="1">
                <a:solidFill>
                  <a:srgbClr val="132A35"/>
                </a:solidFill>
                <a:latin typeface="DejaVu Sans"/>
                <a:ea typeface="DejaVu Sans"/>
                <a:cs typeface="DejaVu Sans"/>
              </a:rPr>
              <a:t>Shared seller–item graph</a:t>
            </a:r>
          </a:p>
        </p:txBody>
      </p:sp>
      <p:sp>
        <p:nvSpPr>
          <p:cNvPr id="35" name="">
            <a:extLst xmlns:a="http://schemas.openxmlformats.org/drawingml/2006/main">
              <a:ext uri="{FF2B5EF4-FFF2-40B4-BE49-F238E27FC236}">
                <a16:creationId xmlns:a16="http://schemas.microsoft.com/office/drawing/2014/main" id="{608D50E6-D140-407C-A1E7-5FF36635D22D}"/>
              </a:ext>
            </a:extLst>
          </p:cNvPr>
          <p:cNvSpPr>
            <a:spLocks xmlns:a="http://schemas.openxmlformats.org/drawingml/2006/main" noGrp="1"/>
          </p:cNvSpPr>
          <p:nvPr/>
        </p:nvSpPr>
        <p:spPr>
          <a:xfrm xmlns:a="http://schemas.openxmlformats.org/drawingml/2006/main">
            <a:off x="6276975" y="187642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1. Find comparable items and stores</a:t>
            </a:r>
          </a:p>
        </p:txBody>
      </p:sp>
      <p:sp>
        <p:nvSpPr>
          <p:cNvPr id="36" name="">
            <a:extLst xmlns:a="http://schemas.openxmlformats.org/drawingml/2006/main">
              <a:ext uri="{FF2B5EF4-FFF2-40B4-BE49-F238E27FC236}">
                <a16:creationId xmlns:a16="http://schemas.microsoft.com/office/drawing/2014/main" id="{DE9E419F-838E-4441-9191-60A4BB4AF3DD}"/>
              </a:ext>
            </a:extLst>
          </p:cNvPr>
          <p:cNvSpPr>
            <a:spLocks xmlns:a="http://schemas.openxmlformats.org/drawingml/2006/main" noGrp="1"/>
          </p:cNvSpPr>
          <p:nvPr/>
        </p:nvSpPr>
        <p:spPr>
          <a:xfrm xmlns:a="http://schemas.openxmlformats.org/drawingml/2006/main">
            <a:off x="6276975" y="228600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Compare neighbours with Jaccard similarity.</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Use cosine similarity for item / store features.</a:t>
            </a:r>
          </a:p>
        </p:txBody>
      </p:sp>
      <p:sp>
        <p:nvSpPr>
          <p:cNvPr id="37" name="">
            <a:extLst xmlns:a="http://schemas.openxmlformats.org/drawingml/2006/main">
              <a:ext uri="{FF2B5EF4-FFF2-40B4-BE49-F238E27FC236}">
                <a16:creationId xmlns:a16="http://schemas.microsoft.com/office/drawing/2014/main" id="{387F1E48-BDF3-4599-B271-CD6ADD25234F}"/>
              </a:ext>
            </a:extLst>
          </p:cNvPr>
          <p:cNvSpPr>
            <a:spLocks xmlns:a="http://schemas.openxmlformats.org/drawingml/2006/main" noGrp="1"/>
          </p:cNvSpPr>
          <p:nvPr/>
        </p:nvSpPr>
        <p:spPr>
          <a:xfrm xmlns:a="http://schemas.openxmlformats.org/drawingml/2006/main">
            <a:off x="6276975" y="3314700"/>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2. Transfer demand evidence</a:t>
            </a:r>
          </a:p>
        </p:txBody>
      </p:sp>
      <p:sp>
        <p:nvSpPr>
          <p:cNvPr id="38" name="">
            <a:extLst xmlns:a="http://schemas.openxmlformats.org/drawingml/2006/main">
              <a:ext uri="{FF2B5EF4-FFF2-40B4-BE49-F238E27FC236}">
                <a16:creationId xmlns:a16="http://schemas.microsoft.com/office/drawing/2014/main" id="{D644BE72-0D54-45A1-8D38-E8F3FE8ECBA7}"/>
              </a:ext>
            </a:extLst>
          </p:cNvPr>
          <p:cNvSpPr>
            <a:spLocks xmlns:a="http://schemas.openxmlformats.org/drawingml/2006/main" noGrp="1"/>
          </p:cNvSpPr>
          <p:nvPr/>
        </p:nvSpPr>
        <p:spPr>
          <a:xfrm xmlns:a="http://schemas.openxmlformats.org/drawingml/2006/main">
            <a:off x="6276975" y="3724275"/>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Use similar items with observed sales history.</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For new-to-store items, borrow comparable-store signals.</a:t>
            </a:r>
          </a:p>
        </p:txBody>
      </p:sp>
      <p:sp>
        <p:nvSpPr>
          <p:cNvPr id="39" name="">
            <a:extLst xmlns:a="http://schemas.openxmlformats.org/drawingml/2006/main">
              <a:ext uri="{FF2B5EF4-FFF2-40B4-BE49-F238E27FC236}">
                <a16:creationId xmlns:a16="http://schemas.microsoft.com/office/drawing/2014/main" id="{0FB18987-2681-405E-B10A-253696FA47B8}"/>
              </a:ext>
            </a:extLst>
          </p:cNvPr>
          <p:cNvSpPr>
            <a:spLocks xmlns:a="http://schemas.openxmlformats.org/drawingml/2006/main" noGrp="1"/>
          </p:cNvSpPr>
          <p:nvPr/>
        </p:nvSpPr>
        <p:spPr>
          <a:xfrm xmlns:a="http://schemas.openxmlformats.org/drawingml/2006/main">
            <a:off x="6276975" y="475297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3. Generate a calibrated forecast</a:t>
            </a:r>
          </a:p>
        </p:txBody>
      </p:sp>
      <p:sp>
        <p:nvSpPr>
          <p:cNvPr id="40" name="">
            <a:extLst xmlns:a="http://schemas.openxmlformats.org/drawingml/2006/main">
              <a:ext uri="{FF2B5EF4-FFF2-40B4-BE49-F238E27FC236}">
                <a16:creationId xmlns:a16="http://schemas.microsoft.com/office/drawing/2014/main" id="{54654718-486B-4A05-8EC8-8BA997BFED7C}"/>
              </a:ext>
            </a:extLst>
          </p:cNvPr>
          <p:cNvSpPr>
            <a:spLocks xmlns:a="http://schemas.openxmlformats.org/drawingml/2006/main" noGrp="1"/>
          </p:cNvSpPr>
          <p:nvPr/>
        </p:nvSpPr>
        <p:spPr>
          <a:xfrm xmlns:a="http://schemas.openxmlformats.org/drawingml/2006/main">
            <a:off x="6276975" y="516255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Feed analogue-demand features into a forecaster.</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Adjust for price, seasonality and local availability.</a:t>
            </a:r>
          </a:p>
        </p:txBody>
      </p:sp>
      <p:sp>
        <p:nvSpPr>
          <p:cNvPr id="41" name="">
            <a:extLst xmlns:a="http://schemas.openxmlformats.org/drawingml/2006/main">
              <a:ext uri="{FF2B5EF4-FFF2-40B4-BE49-F238E27FC236}">
                <a16:creationId xmlns:a16="http://schemas.microsoft.com/office/drawing/2014/main" id="{9BEF608B-1D86-45DE-8DEA-5ADEB525A003}"/>
              </a:ext>
            </a:extLst>
          </p:cNvPr>
          <p:cNvSpPr>
            <a:spLocks xmlns:a="http://schemas.openxmlformats.org/drawingml/2006/main" noGrp="1"/>
          </p:cNvSpPr>
          <p:nvPr/>
        </p:nvSpPr>
        <p:spPr>
          <a:xfrm xmlns:a="http://schemas.openxmlformats.org/drawingml/2006/main">
            <a:off x="552450" y="62769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087E83"/>
                </a:solidFill>
                <a:latin typeface="DejaVu Sans"/>
                <a:ea typeface="DejaVu Sans"/>
                <a:cs typeface="DejaVu Sans"/>
              </a:defRPr>
            </a:defPPr>
            <a:lvl1pPr>
              <a:defRPr sz="1650" b="1">
                <a:solidFill>
                  <a:srgbClr val="087E83"/>
                </a:solidFill>
                <a:latin typeface="DejaVu Sans"/>
                <a:ea typeface="DejaVu Sans"/>
                <a:cs typeface="DejaVu Sans"/>
              </a:defRPr>
            </a:lvl1pPr>
            <a:lvl2pPr>
              <a:defRPr sz="1650" b="1">
                <a:solidFill>
                  <a:srgbClr val="087E83"/>
                </a:solidFill>
                <a:latin typeface="DejaVu Sans"/>
                <a:ea typeface="DejaVu Sans"/>
                <a:cs typeface="DejaVu Sans"/>
              </a:defRPr>
            </a:lvl2pPr>
            <a:lvl3pPr>
              <a:defRPr sz="1650" b="1">
                <a:solidFill>
                  <a:srgbClr val="087E83"/>
                </a:solidFill>
                <a:latin typeface="DejaVu Sans"/>
                <a:ea typeface="DejaVu Sans"/>
                <a:cs typeface="DejaVu Sans"/>
              </a:defRPr>
            </a:lvl3pPr>
            <a:lvl4pPr>
              <a:defRPr sz="1650" b="1">
                <a:solidFill>
                  <a:srgbClr val="087E83"/>
                </a:solidFill>
                <a:latin typeface="DejaVu Sans"/>
                <a:ea typeface="DejaVu Sans"/>
                <a:cs typeface="DejaVu Sans"/>
              </a:defRPr>
            </a:lvl4pPr>
            <a:lvl5pPr>
              <a:defRPr sz="1650" b="1">
                <a:solidFill>
                  <a:srgbClr val="087E83"/>
                </a:solidFill>
                <a:latin typeface="DejaVu Sans"/>
                <a:ea typeface="DejaVu Sans"/>
                <a:cs typeface="DejaVu Sans"/>
              </a:defRPr>
            </a:lvl5pPr>
            <a:lvl6pPr>
              <a:defRPr sz="1650" b="1">
                <a:solidFill>
                  <a:srgbClr val="087E83"/>
                </a:solidFill>
                <a:latin typeface="DejaVu Sans"/>
                <a:ea typeface="DejaVu Sans"/>
                <a:cs typeface="DejaVu Sans"/>
              </a:defRPr>
            </a:lvl6pPr>
            <a:lvl7pPr>
              <a:defRPr sz="1650" b="1">
                <a:solidFill>
                  <a:srgbClr val="087E83"/>
                </a:solidFill>
                <a:latin typeface="DejaVu Sans"/>
                <a:ea typeface="DejaVu Sans"/>
                <a:cs typeface="DejaVu Sans"/>
              </a:defRPr>
            </a:lvl7pPr>
            <a:lvl8pPr>
              <a:defRPr sz="1650" b="1">
                <a:solidFill>
                  <a:srgbClr val="087E83"/>
                </a:solidFill>
                <a:latin typeface="DejaVu Sans"/>
                <a:ea typeface="DejaVu Sans"/>
                <a:cs typeface="DejaVu Sans"/>
              </a:defRPr>
            </a:lvl8pPr>
            <a:lvl9pPr>
              <a:defRPr sz="1650" b="1">
                <a:solidFill>
                  <a:srgbClr val="087E83"/>
                </a:solidFill>
                <a:latin typeface="DejaVu Sans"/>
                <a:ea typeface="DejaVu Sans"/>
                <a:cs typeface="DejaVu Sans"/>
              </a:defRPr>
            </a:lvl9pPr>
          </a:lstStyle>
          <a:p xmlns:a="http://schemas.openxmlformats.org/drawingml/2006/main">
            <a:pPr>
              <a:defRPr sz="1650" b="1">
                <a:solidFill>
                  <a:srgbClr val="087E83"/>
                </a:solidFill>
                <a:latin typeface="DejaVu Sans"/>
                <a:ea typeface="DejaVu Sans"/>
                <a:cs typeface="DejaVu Sans"/>
              </a:defRPr>
            </a:pPr>
            <a:r>
              <a:rPr sz="1650" b="1">
                <a:solidFill>
                  <a:srgbClr val="087E83"/>
                </a:solidFill>
                <a:latin typeface="DejaVu Sans"/>
                <a:ea typeface="DejaVu Sans"/>
                <a:cs typeface="DejaVu Sans"/>
              </a:rPr>
              <a:t>Similarity provides a cold-start prior; the forecasting model estimates demand.</a:t>
            </a:r>
          </a:p>
        </p:txBody>
      </p:sp>
    </p:spTree>
    <p:extLst>
      <p:ext uri="{BB962C8B-B14F-4D97-AF65-F5344CB8AC3E}">
        <p14:creationId xmlns:p14="http://schemas.microsoft.com/office/powerpoint/2010/main" val="31385582"/>
      </p:ext>
    </p:extLst>
  </p:cSld>
</p:sld>
</file>

<file path=ppt/slides/slide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C510508C-2444-43CC-B8DE-91E91744E62B}"/>
              </a:ext>
            </a:extLst>
          </p:cNvPr>
          <p:cNvCxnSpPr>
            <a:stCxn xmlns:a="http://schemas.openxmlformats.org/drawingml/2006/main" id="11" idx="6"/>
            <a:endCxn xmlns:a="http://schemas.openxmlformats.org/drawingml/2006/main" id="17" idx="2"/>
          </p:cNvCxnSpPr>
          <p:nvPr/>
        </p:nvCxnSpPr>
        <p:spPr>
          <a:xfrm xmlns:a="http://schemas.openxmlformats.org/drawingml/2006/main">
            <a:off x="4105275" y="4362450"/>
            <a:ext cx="933450" cy="447675"/>
          </a:xfrm>
          <a:prstGeom xmlns:a="http://schemas.openxmlformats.org/drawingml/2006/main" prst="straightConnector1">
            <a:avLst/>
          </a:prstGeom>
          <a:ln xmlns:a="http://schemas.openxmlformats.org/drawingml/2006/main" w="15240">
            <a:solidFill>
              <a:srgbClr val="C5CCC7"/>
            </a:solidFill>
            <a:prstDash val="solid"/>
          </a:ln>
        </p:spPr>
      </p:cxnSp>
      <p:cxnSp>
        <p:nvCxnSpPr>
          <p:cNvPr id="25" name="">
            <a:extLst xmlns:a="http://schemas.openxmlformats.org/drawingml/2006/main">
              <a:ext uri="{FF2B5EF4-FFF2-40B4-BE49-F238E27FC236}">
                <a16:creationId xmlns:a16="http://schemas.microsoft.com/office/drawing/2014/main" id="{41EA937B-11F8-457E-8B25-D1AD1C447C7C}"/>
              </a:ext>
            </a:extLst>
          </p:cNvPr>
          <p:cNvCxnSpPr>
            <a:stCxn xmlns:a="http://schemas.openxmlformats.org/drawingml/2006/main" id="9" idx="6"/>
            <a:endCxn xmlns:a="http://schemas.openxmlformats.org/drawingml/2006/main" id="15" idx="2"/>
          </p:cNvCxnSpPr>
          <p:nvPr/>
        </p:nvCxnSpPr>
        <p:spPr>
          <a:xfrm xmlns:a="http://schemas.openxmlformats.org/drawingml/2006/main" flipV="1">
            <a:off x="4105275" y="2238375"/>
            <a:ext cx="933450" cy="428625"/>
          </a:xfrm>
          <a:prstGeom xmlns:a="http://schemas.openxmlformats.org/drawingml/2006/main" prst="straightConnector1">
            <a:avLst/>
          </a:prstGeom>
          <a:ln xmlns:a="http://schemas.openxmlformats.org/drawingml/2006/main" w="15240">
            <a:solidFill>
              <a:srgbClr val="C5CCC7"/>
            </a:solidFill>
            <a:prstDash val="solid"/>
          </a:ln>
        </p:spPr>
      </p:cxnSp>
      <p:cxnSp>
        <p:nvCxnSpPr>
          <p:cNvPr id="24" name="">
            <a:extLst xmlns:a="http://schemas.openxmlformats.org/drawingml/2006/main">
              <a:ext uri="{FF2B5EF4-FFF2-40B4-BE49-F238E27FC236}">
                <a16:creationId xmlns:a16="http://schemas.microsoft.com/office/drawing/2014/main" id="{2A17B880-5ACD-4EB1-9AF5-1FB531309AA1}"/>
              </a:ext>
            </a:extLst>
          </p:cNvPr>
          <p:cNvCxnSpPr>
            <a:stCxn xmlns:a="http://schemas.openxmlformats.org/drawingml/2006/main" id="11" idx="7"/>
            <a:endCxn xmlns:a="http://schemas.openxmlformats.org/drawingml/2006/main" id="13" idx="3"/>
          </p:cNvCxnSpPr>
          <p:nvPr/>
        </p:nvCxnSpPr>
        <p:spPr>
          <a:xfrm xmlns:a="http://schemas.openxmlformats.org/drawingml/2006/main" flipV="1">
            <a:off x="4046689" y="3627589"/>
            <a:ext cx="1050622" cy="593422"/>
          </a:xfrm>
          <a:prstGeom xmlns:a="http://schemas.openxmlformats.org/drawingml/2006/main" prst="straightConnector1">
            <a:avLst/>
          </a:prstGeom>
          <a:ln xmlns:a="http://schemas.openxmlformats.org/drawingml/2006/main" w="15240">
            <a:solidFill>
              <a:srgbClr val="C5CCC7"/>
            </a:solidFill>
            <a:prstDash val="solid"/>
          </a:ln>
        </p:spPr>
      </p:cxnSp>
      <p:cxnSp>
        <p:nvCxnSpPr>
          <p:cNvPr id="23" name="">
            <a:extLst xmlns:a="http://schemas.openxmlformats.org/drawingml/2006/main">
              <a:ext uri="{FF2B5EF4-FFF2-40B4-BE49-F238E27FC236}">
                <a16:creationId xmlns:a16="http://schemas.microsoft.com/office/drawing/2014/main" id="{061CD9CF-0A86-43FE-9DAD-03D638C6E874}"/>
              </a:ext>
            </a:extLst>
          </p:cNvPr>
          <p:cNvCxnSpPr>
            <a:stCxn xmlns:a="http://schemas.openxmlformats.org/drawingml/2006/main" id="9" idx="5"/>
            <a:endCxn xmlns:a="http://schemas.openxmlformats.org/drawingml/2006/main" id="13" idx="1"/>
          </p:cNvCxnSpPr>
          <p:nvPr/>
        </p:nvCxnSpPr>
        <p:spPr>
          <a:xfrm xmlns:a="http://schemas.openxmlformats.org/drawingml/2006/main">
            <a:off x="4046689" y="2808439"/>
            <a:ext cx="1050622" cy="536272"/>
          </a:xfrm>
          <a:prstGeom xmlns:a="http://schemas.openxmlformats.org/drawingml/2006/main" prst="straightConnector1">
            <a:avLst/>
          </a:prstGeom>
          <a:ln xmlns:a="http://schemas.openxmlformats.org/drawingml/2006/main" w="15240">
            <a:solidFill>
              <a:srgbClr val="C5CCC7"/>
            </a:solidFill>
            <a:prstDash val="solid"/>
          </a:ln>
        </p:spPr>
      </p:cxnSp>
      <p:cxnSp>
        <p:nvCxnSpPr>
          <p:cNvPr id="22" name="">
            <a:extLst xmlns:a="http://schemas.openxmlformats.org/drawingml/2006/main">
              <a:ext uri="{FF2B5EF4-FFF2-40B4-BE49-F238E27FC236}">
                <a16:creationId xmlns:a16="http://schemas.microsoft.com/office/drawing/2014/main" id="{6B3E5259-130B-49BA-92F2-5B09F3A06453}"/>
              </a:ext>
            </a:extLst>
          </p:cNvPr>
          <p:cNvCxnSpPr>
            <a:stCxn xmlns:a="http://schemas.openxmlformats.org/drawingml/2006/main" id="5" idx="5"/>
            <a:endCxn xmlns:a="http://schemas.openxmlformats.org/drawingml/2006/main" id="11" idx="1"/>
          </p:cNvCxnSpPr>
          <p:nvPr/>
        </p:nvCxnSpPr>
        <p:spPr>
          <a:xfrm xmlns:a="http://schemas.openxmlformats.org/drawingml/2006/main">
            <a:off x="2709343" y="3690418"/>
            <a:ext cx="1054468" cy="530593"/>
          </a:xfrm>
          <a:prstGeom xmlns:a="http://schemas.openxmlformats.org/drawingml/2006/main" prst="straightConnector1">
            <a:avLst/>
          </a:prstGeom>
          <a:ln xmlns:a="http://schemas.openxmlformats.org/drawingml/2006/main" w="38100">
            <a:solidFill>
              <a:srgbClr val="087E83"/>
            </a:solidFill>
            <a:prstDash val="solid"/>
          </a:ln>
        </p:spPr>
      </p:cxnSp>
      <p:cxnSp>
        <p:nvCxnSpPr>
          <p:cNvPr id="21" name="">
            <a:extLst xmlns:a="http://schemas.openxmlformats.org/drawingml/2006/main">
              <a:ext uri="{FF2B5EF4-FFF2-40B4-BE49-F238E27FC236}">
                <a16:creationId xmlns:a16="http://schemas.microsoft.com/office/drawing/2014/main" id="{16471EBC-BF58-4266-B039-08B8B98E5EF6}"/>
              </a:ext>
            </a:extLst>
          </p:cNvPr>
          <p:cNvCxnSpPr>
            <a:stCxn xmlns:a="http://schemas.openxmlformats.org/drawingml/2006/main" id="5" idx="7"/>
            <a:endCxn xmlns:a="http://schemas.openxmlformats.org/drawingml/2006/main" id="9" idx="3"/>
          </p:cNvCxnSpPr>
          <p:nvPr/>
        </p:nvCxnSpPr>
        <p:spPr>
          <a:xfrm xmlns:a="http://schemas.openxmlformats.org/drawingml/2006/main" flipV="1">
            <a:off x="2709343" y="2808439"/>
            <a:ext cx="1054468" cy="511544"/>
          </a:xfrm>
          <a:prstGeom xmlns:a="http://schemas.openxmlformats.org/drawingml/2006/main" prst="straightConnector1">
            <a:avLst/>
          </a:prstGeom>
          <a:ln xmlns:a="http://schemas.openxmlformats.org/drawingml/2006/main" w="38100">
            <a:solidFill>
              <a:srgbClr val="087E83"/>
            </a:solidFill>
            <a:prstDash val="solid"/>
          </a:ln>
        </p:spPr>
      </p:cxnSp>
      <p:cxnSp>
        <p:nvCxnSpPr>
          <p:cNvPr id="20" name="">
            <a:extLst xmlns:a="http://schemas.openxmlformats.org/drawingml/2006/main">
              <a:ext uri="{FF2B5EF4-FFF2-40B4-BE49-F238E27FC236}">
                <a16:creationId xmlns:a16="http://schemas.microsoft.com/office/drawing/2014/main" id="{1445D6CC-94AF-4520-A324-6B4BBD59C595}"/>
              </a:ext>
            </a:extLst>
          </p:cNvPr>
          <p:cNvCxnSpPr>
            <a:stCxn xmlns:a="http://schemas.openxmlformats.org/drawingml/2006/main" id="7" idx="7"/>
            <a:endCxn xmlns:a="http://schemas.openxmlformats.org/drawingml/2006/main" id="5" idx="3"/>
          </p:cNvCxnSpPr>
          <p:nvPr/>
        </p:nvCxnSpPr>
        <p:spPr>
          <a:xfrm xmlns:a="http://schemas.openxmlformats.org/drawingml/2006/main" flipV="1">
            <a:off x="1265389" y="3690418"/>
            <a:ext cx="1073519" cy="663943"/>
          </a:xfrm>
          <a:prstGeom xmlns:a="http://schemas.openxmlformats.org/drawingml/2006/main" prst="straightConnector1">
            <a:avLst/>
          </a:prstGeom>
          <a:ln xmlns:a="http://schemas.openxmlformats.org/drawingml/2006/main" w="38100">
            <a:solidFill>
              <a:srgbClr val="087E83"/>
            </a:solidFill>
            <a:prstDash val="solid"/>
          </a:ln>
        </p:spPr>
      </p:cxnSp>
      <p:cxnSp>
        <p:nvCxnSpPr>
          <p:cNvPr id="19" name="">
            <a:extLst xmlns:a="http://schemas.openxmlformats.org/drawingml/2006/main">
              <a:ext uri="{FF2B5EF4-FFF2-40B4-BE49-F238E27FC236}">
                <a16:creationId xmlns:a16="http://schemas.microsoft.com/office/drawing/2014/main" id="{6E4B5EA6-9706-46DB-8154-BF23836E34BA}"/>
              </a:ext>
            </a:extLst>
          </p:cNvPr>
          <p:cNvCxnSpPr>
            <a:stCxn xmlns:a="http://schemas.openxmlformats.org/drawingml/2006/main" id="3" idx="5"/>
            <a:endCxn xmlns:a="http://schemas.openxmlformats.org/drawingml/2006/main" id="5" idx="1"/>
          </p:cNvCxnSpPr>
          <p:nvPr/>
        </p:nvCxnSpPr>
        <p:spPr>
          <a:xfrm xmlns:a="http://schemas.openxmlformats.org/drawingml/2006/main">
            <a:off x="1322539" y="2713189"/>
            <a:ext cx="1016369" cy="606794"/>
          </a:xfrm>
          <a:prstGeom xmlns:a="http://schemas.openxmlformats.org/drawingml/2006/main" prst="straightConnector1">
            <a:avLst/>
          </a:prstGeom>
          <a:ln xmlns:a="http://schemas.openxmlformats.org/drawingml/2006/main" w="38100">
            <a:solidFill>
              <a:srgbClr val="087E83"/>
            </a:solidFill>
            <a:prstDash val="solid"/>
          </a:ln>
        </p:spPr>
      </p:cxnSp>
      <p:sp>
        <p:nvSpPr>
          <p:cNvPr id="36" name="">
            <a:extLst xmlns:a="http://schemas.openxmlformats.org/drawingml/2006/main">
              <a:ext uri="{FF2B5EF4-FFF2-40B4-BE49-F238E27FC236}">
                <a16:creationId xmlns:a16="http://schemas.microsoft.com/office/drawing/2014/main" id="{6003BEBE-9A68-40A3-AF24-55F8FC0942DC}"/>
              </a:ext>
            </a:extLst>
          </p:cNvPr>
          <p:cNvSpPr>
            <a:spLocks xmlns:a="http://schemas.openxmlformats.org/drawingml/2006/main" noGrp="1"/>
          </p:cNvSpPr>
          <p:nvPr/>
        </p:nvSpPr>
        <p:spPr>
          <a:xfrm xmlns:a="http://schemas.openxmlformats.org/drawingml/2006/main">
            <a:off x="533400" y="361950"/>
            <a:ext cx="1114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32A35"/>
                </a:solidFill>
                <a:latin typeface="DejaVu Sans"/>
                <a:ea typeface="DejaVu Sans"/>
                <a:cs typeface="DejaVu Sans"/>
              </a:defRPr>
            </a:defPPr>
            <a:lvl1pPr>
              <a:defRPr sz="3150" b="1">
                <a:solidFill>
                  <a:srgbClr val="132A35"/>
                </a:solidFill>
                <a:latin typeface="DejaVu Sans"/>
                <a:ea typeface="DejaVu Sans"/>
                <a:cs typeface="DejaVu Sans"/>
              </a:defRPr>
            </a:lvl1pPr>
            <a:lvl2pPr>
              <a:defRPr sz="3150" b="1">
                <a:solidFill>
                  <a:srgbClr val="132A35"/>
                </a:solidFill>
                <a:latin typeface="DejaVu Sans"/>
                <a:ea typeface="DejaVu Sans"/>
                <a:cs typeface="DejaVu Sans"/>
              </a:defRPr>
            </a:lvl2pPr>
            <a:lvl3pPr>
              <a:defRPr sz="3150" b="1">
                <a:solidFill>
                  <a:srgbClr val="132A35"/>
                </a:solidFill>
                <a:latin typeface="DejaVu Sans"/>
                <a:ea typeface="DejaVu Sans"/>
                <a:cs typeface="DejaVu Sans"/>
              </a:defRPr>
            </a:lvl3pPr>
            <a:lvl4pPr>
              <a:defRPr sz="3150" b="1">
                <a:solidFill>
                  <a:srgbClr val="132A35"/>
                </a:solidFill>
                <a:latin typeface="DejaVu Sans"/>
                <a:ea typeface="DejaVu Sans"/>
                <a:cs typeface="DejaVu Sans"/>
              </a:defRPr>
            </a:lvl4pPr>
            <a:lvl5pPr>
              <a:defRPr sz="3150" b="1">
                <a:solidFill>
                  <a:srgbClr val="132A35"/>
                </a:solidFill>
                <a:latin typeface="DejaVu Sans"/>
                <a:ea typeface="DejaVu Sans"/>
                <a:cs typeface="DejaVu Sans"/>
              </a:defRPr>
            </a:lvl5pPr>
            <a:lvl6pPr>
              <a:defRPr sz="3150" b="1">
                <a:solidFill>
                  <a:srgbClr val="132A35"/>
                </a:solidFill>
                <a:latin typeface="DejaVu Sans"/>
                <a:ea typeface="DejaVu Sans"/>
                <a:cs typeface="DejaVu Sans"/>
              </a:defRPr>
            </a:lvl6pPr>
            <a:lvl7pPr>
              <a:defRPr sz="3150" b="1">
                <a:solidFill>
                  <a:srgbClr val="132A35"/>
                </a:solidFill>
                <a:latin typeface="DejaVu Sans"/>
                <a:ea typeface="DejaVu Sans"/>
                <a:cs typeface="DejaVu Sans"/>
              </a:defRPr>
            </a:lvl7pPr>
            <a:lvl8pPr>
              <a:defRPr sz="3150" b="1">
                <a:solidFill>
                  <a:srgbClr val="132A35"/>
                </a:solidFill>
                <a:latin typeface="DejaVu Sans"/>
                <a:ea typeface="DejaVu Sans"/>
                <a:cs typeface="DejaVu Sans"/>
              </a:defRPr>
            </a:lvl8pPr>
            <a:lvl9pPr>
              <a:defRPr sz="3150" b="1">
                <a:solidFill>
                  <a:srgbClr val="132A35"/>
                </a:solidFill>
                <a:latin typeface="DejaVu Sans"/>
                <a:ea typeface="DejaVu Sans"/>
                <a:cs typeface="DejaVu Sans"/>
              </a:defRPr>
            </a:lvl9pPr>
          </a:lstStyle>
          <a:p xmlns:a="http://schemas.openxmlformats.org/drawingml/2006/main">
            <a:pPr>
              <a:defRPr sz="3150" b="1">
                <a:solidFill>
                  <a:srgbClr val="132A35"/>
                </a:solidFill>
                <a:latin typeface="DejaVu Sans"/>
                <a:ea typeface="DejaVu Sans"/>
                <a:cs typeface="DejaVu Sans"/>
              </a:defRPr>
            </a:pPr>
            <a:r>
              <a:rPr sz="3150" b="1">
                <a:solidFill>
                  <a:srgbClr val="132A35"/>
                </a:solidFill>
                <a:latin typeface="DejaVu Sans"/>
                <a:ea typeface="DejaVu Sans"/>
                <a:cs typeface="DejaVu Sans"/>
              </a:rPr>
              <a:t>Seller fraud: typed graph signals</a:t>
            </a:r>
          </a:p>
        </p:txBody>
      </p:sp>
      <p:sp>
        <p:nvSpPr>
          <p:cNvPr id="2" name="">
            <a:extLst xmlns:a="http://schemas.openxmlformats.org/drawingml/2006/main">
              <a:ext uri="{FF2B5EF4-FFF2-40B4-BE49-F238E27FC236}">
                <a16:creationId xmlns:a16="http://schemas.microsoft.com/office/drawing/2014/main" id="{108D2598-D415-420A-B46D-1F02EB9F8B82}"/>
              </a:ext>
            </a:extLst>
          </p:cNvPr>
          <p:cNvSpPr>
            <a:spLocks xmlns:a="http://schemas.openxmlformats.org/drawingml/2006/main" noGrp="1"/>
          </p:cNvSpPr>
          <p:nvPr/>
        </p:nvSpPr>
        <p:spPr>
          <a:xfrm xmlns:a="http://schemas.openxmlformats.org/drawingml/2006/main">
            <a:off x="552450" y="1057275"/>
            <a:ext cx="1104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SeHGNN-inspired design for the same seller–item graph</a:t>
            </a:r>
          </a:p>
        </p:txBody>
      </p:sp>
      <p:sp>
        <p:nvSpPr>
          <p:cNvPr id="3" name="location">
            <a:extLst xmlns:a="http://schemas.openxmlformats.org/drawingml/2006/main">
              <a:ext uri="{FF2B5EF4-FFF2-40B4-BE49-F238E27FC236}">
                <a16:creationId xmlns:a16="http://schemas.microsoft.com/office/drawing/2014/main" id="{B92ECC24-ED45-4C59-A81E-8214FA7F3D5E}"/>
              </a:ext>
            </a:extLst>
          </p:cNvPr>
          <p:cNvSpPr>
            <a:spLocks xmlns:a="http://schemas.openxmlformats.org/drawingml/2006/main" noGrp="1"/>
          </p:cNvSpPr>
          <p:nvPr/>
        </p:nvSpPr>
        <p:spPr>
          <a:xfrm xmlns:a="http://schemas.openxmlformats.org/drawingml/2006/main">
            <a:off x="981075" y="2371725"/>
            <a:ext cx="400050" cy="400050"/>
          </a:xfrm>
          <a:prstGeom xmlns:a="http://schemas.openxmlformats.org/drawingml/2006/main" prst="ellipse">
            <a:avLst/>
          </a:prstGeom>
          <a:solidFill xmlns:a="http://schemas.openxmlformats.org/drawingml/2006/main">
            <a:srgbClr val="A8D9EF"/>
          </a:solidFill>
          <a:ln xmlns:a="http://schemas.openxmlformats.org/drawingml/2006/main" w="19050">
            <a:solidFill>
              <a:srgbClr val="FFFFFF"/>
            </a:solidFill>
            <a:prstDash val="solid"/>
          </a:ln>
        </p:spPr>
      </p:sp>
      <p:sp>
        <p:nvSpPr>
          <p:cNvPr id="4" name="">
            <a:extLst xmlns:a="http://schemas.openxmlformats.org/drawingml/2006/main">
              <a:ext uri="{FF2B5EF4-FFF2-40B4-BE49-F238E27FC236}">
                <a16:creationId xmlns:a16="http://schemas.microsoft.com/office/drawing/2014/main" id="{5F658BC7-CDA5-4C54-9B96-EAE966EA255E}"/>
              </a:ext>
            </a:extLst>
          </p:cNvPr>
          <p:cNvSpPr>
            <a:spLocks xmlns:a="http://schemas.openxmlformats.org/drawingml/2006/main" noGrp="1"/>
          </p:cNvSpPr>
          <p:nvPr/>
        </p:nvSpPr>
        <p:spPr>
          <a:xfrm xmlns:a="http://schemas.openxmlformats.org/drawingml/2006/main">
            <a:off x="371475" y="20859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New York</a:t>
            </a:r>
          </a:p>
        </p:txBody>
      </p:sp>
      <p:sp>
        <p:nvSpPr>
          <p:cNvPr id="5" name="seller">
            <a:extLst xmlns:a="http://schemas.openxmlformats.org/drawingml/2006/main">
              <a:ext uri="{FF2B5EF4-FFF2-40B4-BE49-F238E27FC236}">
                <a16:creationId xmlns:a16="http://schemas.microsoft.com/office/drawing/2014/main" id="{40EF29B5-0C3E-490F-8B1D-D55689E04EAA}"/>
              </a:ext>
            </a:extLst>
          </p:cNvPr>
          <p:cNvSpPr>
            <a:spLocks xmlns:a="http://schemas.openxmlformats.org/drawingml/2006/main" noGrp="1"/>
          </p:cNvSpPr>
          <p:nvPr/>
        </p:nvSpPr>
        <p:spPr>
          <a:xfrm xmlns:a="http://schemas.openxmlformats.org/drawingml/2006/main">
            <a:off x="2262188" y="3243263"/>
            <a:ext cx="523875" cy="523875"/>
          </a:xfrm>
          <a:prstGeom xmlns:a="http://schemas.openxmlformats.org/drawingml/2006/main" prst="ellipse">
            <a:avLst/>
          </a:prstGeom>
          <a:solidFill xmlns:a="http://schemas.openxmlformats.org/drawingml/2006/main">
            <a:srgbClr val="1474A0"/>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D0F7A3C7-535A-4C80-B857-46A7BB155737}"/>
              </a:ext>
            </a:extLst>
          </p:cNvPr>
          <p:cNvSpPr>
            <a:spLocks xmlns:a="http://schemas.openxmlformats.org/drawingml/2006/main" noGrp="1"/>
          </p:cNvSpPr>
          <p:nvPr/>
        </p:nvSpPr>
        <p:spPr>
          <a:xfrm xmlns:a="http://schemas.openxmlformats.org/drawingml/2006/main">
            <a:off x="1714500" y="295751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Seller1</a:t>
            </a:r>
          </a:p>
        </p:txBody>
      </p:sp>
      <p:sp>
        <p:nvSpPr>
          <p:cNvPr id="7" name="rating">
            <a:extLst xmlns:a="http://schemas.openxmlformats.org/drawingml/2006/main">
              <a:ext uri="{FF2B5EF4-FFF2-40B4-BE49-F238E27FC236}">
                <a16:creationId xmlns:a16="http://schemas.microsoft.com/office/drawing/2014/main" id="{DE3F1E80-86F0-43CF-8EDF-B00755576A67}"/>
              </a:ext>
            </a:extLst>
          </p:cNvPr>
          <p:cNvSpPr>
            <a:spLocks xmlns:a="http://schemas.openxmlformats.org/drawingml/2006/main" noGrp="1"/>
          </p:cNvSpPr>
          <p:nvPr/>
        </p:nvSpPr>
        <p:spPr>
          <a:xfrm xmlns:a="http://schemas.openxmlformats.org/drawingml/2006/main">
            <a:off x="923925" y="4295775"/>
            <a:ext cx="400050" cy="400050"/>
          </a:xfrm>
          <a:prstGeom xmlns:a="http://schemas.openxmlformats.org/drawingml/2006/main" prst="ellipse">
            <a:avLst/>
          </a:prstGeom>
          <a:solidFill xmlns:a="http://schemas.openxmlformats.org/drawingml/2006/main">
            <a:srgbClr val="4C5666"/>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A6F1A33E-97FA-41D6-8274-496EDA52DBB0}"/>
              </a:ext>
            </a:extLst>
          </p:cNvPr>
          <p:cNvSpPr>
            <a:spLocks xmlns:a="http://schemas.openxmlformats.org/drawingml/2006/main" noGrp="1"/>
          </p:cNvSpPr>
          <p:nvPr/>
        </p:nvSpPr>
        <p:spPr>
          <a:xfrm xmlns:a="http://schemas.openxmlformats.org/drawingml/2006/main">
            <a:off x="314325" y="40100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1-star rating</a:t>
            </a:r>
          </a:p>
        </p:txBody>
      </p:sp>
      <p:sp>
        <p:nvSpPr>
          <p:cNvPr id="9" name="item1">
            <a:extLst xmlns:a="http://schemas.openxmlformats.org/drawingml/2006/main">
              <a:ext uri="{FF2B5EF4-FFF2-40B4-BE49-F238E27FC236}">
                <a16:creationId xmlns:a16="http://schemas.microsoft.com/office/drawing/2014/main" id="{7F1D0974-B00D-4C32-AB3C-81FDC44BD7B5}"/>
              </a:ext>
            </a:extLst>
          </p:cNvPr>
          <p:cNvSpPr>
            <a:spLocks xmlns:a="http://schemas.openxmlformats.org/drawingml/2006/main" noGrp="1"/>
          </p:cNvSpPr>
          <p:nvPr/>
        </p:nvSpPr>
        <p:spPr>
          <a:xfrm xmlns:a="http://schemas.openxmlformats.org/drawingml/2006/main">
            <a:off x="3705225" y="246697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0" name="">
            <a:extLst xmlns:a="http://schemas.openxmlformats.org/drawingml/2006/main">
              <a:ext uri="{FF2B5EF4-FFF2-40B4-BE49-F238E27FC236}">
                <a16:creationId xmlns:a16="http://schemas.microsoft.com/office/drawing/2014/main" id="{E9E2D190-2C76-4276-B844-AEF268A4FC5C}"/>
              </a:ext>
            </a:extLst>
          </p:cNvPr>
          <p:cNvSpPr>
            <a:spLocks xmlns:a="http://schemas.openxmlformats.org/drawingml/2006/main" noGrp="1"/>
          </p:cNvSpPr>
          <p:nvPr/>
        </p:nvSpPr>
        <p:spPr>
          <a:xfrm xmlns:a="http://schemas.openxmlformats.org/drawingml/2006/main">
            <a:off x="3095625" y="21812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Item1</a:t>
            </a:r>
          </a:p>
        </p:txBody>
      </p:sp>
      <p:sp>
        <p:nvSpPr>
          <p:cNvPr id="11" name="item2">
            <a:extLst xmlns:a="http://schemas.openxmlformats.org/drawingml/2006/main">
              <a:ext uri="{FF2B5EF4-FFF2-40B4-BE49-F238E27FC236}">
                <a16:creationId xmlns:a16="http://schemas.microsoft.com/office/drawing/2014/main" id="{A4D5CB6F-376C-4CF8-9448-089EA9B3BE09}"/>
              </a:ext>
            </a:extLst>
          </p:cNvPr>
          <p:cNvSpPr>
            <a:spLocks xmlns:a="http://schemas.openxmlformats.org/drawingml/2006/main" noGrp="1"/>
          </p:cNvSpPr>
          <p:nvPr/>
        </p:nvSpPr>
        <p:spPr>
          <a:xfrm xmlns:a="http://schemas.openxmlformats.org/drawingml/2006/main">
            <a:off x="3705225" y="416242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5672B963-5434-4BA2-B387-A95375BF807E}"/>
              </a:ext>
            </a:extLst>
          </p:cNvPr>
          <p:cNvSpPr>
            <a:spLocks xmlns:a="http://schemas.openxmlformats.org/drawingml/2006/main" noGrp="1"/>
          </p:cNvSpPr>
          <p:nvPr/>
        </p:nvSpPr>
        <p:spPr>
          <a:xfrm xmlns:a="http://schemas.openxmlformats.org/drawingml/2006/main">
            <a:off x="3095625" y="38766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Item2</a:t>
            </a:r>
          </a:p>
        </p:txBody>
      </p:sp>
      <p:sp>
        <p:nvSpPr>
          <p:cNvPr id="13" name="category">
            <a:extLst xmlns:a="http://schemas.openxmlformats.org/drawingml/2006/main">
              <a:ext uri="{FF2B5EF4-FFF2-40B4-BE49-F238E27FC236}">
                <a16:creationId xmlns:a16="http://schemas.microsoft.com/office/drawing/2014/main" id="{427390CE-EADD-4B78-9D06-C15105FCEF79}"/>
              </a:ext>
            </a:extLst>
          </p:cNvPr>
          <p:cNvSpPr>
            <a:spLocks xmlns:a="http://schemas.openxmlformats.org/drawingml/2006/main" noGrp="1"/>
          </p:cNvSpPr>
          <p:nvPr/>
        </p:nvSpPr>
        <p:spPr>
          <a:xfrm xmlns:a="http://schemas.openxmlformats.org/drawingml/2006/main">
            <a:off x="5038725" y="3286125"/>
            <a:ext cx="400050" cy="400050"/>
          </a:xfrm>
          <a:prstGeom xmlns:a="http://schemas.openxmlformats.org/drawingml/2006/main" prst="ellipse">
            <a:avLst/>
          </a:prstGeom>
          <a:solidFill xmlns:a="http://schemas.openxmlformats.org/drawingml/2006/main">
            <a:srgbClr val="966CC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60BBA43D-DEEE-4223-B0DB-6614AB64D208}"/>
              </a:ext>
            </a:extLst>
          </p:cNvPr>
          <p:cNvSpPr>
            <a:spLocks xmlns:a="http://schemas.openxmlformats.org/drawingml/2006/main" noGrp="1"/>
          </p:cNvSpPr>
          <p:nvPr/>
        </p:nvSpPr>
        <p:spPr>
          <a:xfrm xmlns:a="http://schemas.openxmlformats.org/drawingml/2006/main">
            <a:off x="4429125" y="3000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Holster</a:t>
            </a:r>
          </a:p>
        </p:txBody>
      </p:sp>
      <p:sp>
        <p:nvSpPr>
          <p:cNvPr id="15" name="attribute-out">
            <a:extLst xmlns:a="http://schemas.openxmlformats.org/drawingml/2006/main">
              <a:ext uri="{FF2B5EF4-FFF2-40B4-BE49-F238E27FC236}">
                <a16:creationId xmlns:a16="http://schemas.microsoft.com/office/drawing/2014/main" id="{44F0F3F6-AFD6-40DB-9D60-58081AE85453}"/>
              </a:ext>
            </a:extLst>
          </p:cNvPr>
          <p:cNvSpPr>
            <a:spLocks xmlns:a="http://schemas.openxmlformats.org/drawingml/2006/main" noGrp="1"/>
          </p:cNvSpPr>
          <p:nvPr/>
        </p:nvSpPr>
        <p:spPr>
          <a:xfrm xmlns:a="http://schemas.openxmlformats.org/drawingml/2006/main">
            <a:off x="5038725" y="203835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879413B1-C9B6-48AD-8D69-F98F4A0B43E5}"/>
              </a:ext>
            </a:extLst>
          </p:cNvPr>
          <p:cNvSpPr>
            <a:spLocks xmlns:a="http://schemas.openxmlformats.org/drawingml/2006/main" noGrp="1"/>
          </p:cNvSpPr>
          <p:nvPr/>
        </p:nvSpPr>
        <p:spPr>
          <a:xfrm xmlns:a="http://schemas.openxmlformats.org/drawingml/2006/main">
            <a:off x="4429125" y="1752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Outside</a:t>
            </a:r>
          </a:p>
        </p:txBody>
      </p:sp>
      <p:sp>
        <p:nvSpPr>
          <p:cNvPr id="17" name="attribute-in">
            <a:extLst xmlns:a="http://schemas.openxmlformats.org/drawingml/2006/main">
              <a:ext uri="{FF2B5EF4-FFF2-40B4-BE49-F238E27FC236}">
                <a16:creationId xmlns:a16="http://schemas.microsoft.com/office/drawing/2014/main" id="{32801644-6539-48CB-A8A4-EDF61844F10D}"/>
              </a:ext>
            </a:extLst>
          </p:cNvPr>
          <p:cNvSpPr>
            <a:spLocks xmlns:a="http://schemas.openxmlformats.org/drawingml/2006/main" noGrp="1"/>
          </p:cNvSpPr>
          <p:nvPr/>
        </p:nvSpPr>
        <p:spPr>
          <a:xfrm xmlns:a="http://schemas.openxmlformats.org/drawingml/2006/main">
            <a:off x="5038725" y="461010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442D47EA-534B-49B1-8A04-DE78460304B8}"/>
              </a:ext>
            </a:extLst>
          </p:cNvPr>
          <p:cNvSpPr>
            <a:spLocks xmlns:a="http://schemas.openxmlformats.org/drawingml/2006/main" noGrp="1"/>
          </p:cNvSpPr>
          <p:nvPr/>
        </p:nvSpPr>
        <p:spPr>
          <a:xfrm xmlns:a="http://schemas.openxmlformats.org/drawingml/2006/main">
            <a:off x="4429125" y="43243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Inside</a:t>
            </a:r>
          </a:p>
        </p:txBody>
      </p:sp>
      <p:sp>
        <p:nvSpPr>
          <p:cNvPr id="27" name="">
            <a:extLst xmlns:a="http://schemas.openxmlformats.org/drawingml/2006/main">
              <a:ext uri="{FF2B5EF4-FFF2-40B4-BE49-F238E27FC236}">
                <a16:creationId xmlns:a16="http://schemas.microsoft.com/office/drawing/2014/main" id="{7145867E-8F09-4AD8-8F56-565B4FA59E62}"/>
              </a:ext>
            </a:extLst>
          </p:cNvPr>
          <p:cNvSpPr>
            <a:spLocks xmlns:a="http://schemas.openxmlformats.org/drawingml/2006/main" noGrp="1"/>
          </p:cNvSpPr>
          <p:nvPr/>
        </p:nvSpPr>
        <p:spPr>
          <a:xfrm xmlns:a="http://schemas.openxmlformats.org/drawingml/2006/main">
            <a:off x="609600" y="539115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087E83"/>
                </a:solidFill>
                <a:latin typeface="DejaVu Sans"/>
                <a:ea typeface="DejaVu Sans"/>
                <a:cs typeface="DejaVu Sans"/>
              </a:defRPr>
            </a:defPPr>
            <a:lvl1pPr>
              <a:defRPr sz="1425" b="0">
                <a:solidFill>
                  <a:srgbClr val="087E83"/>
                </a:solidFill>
                <a:latin typeface="DejaVu Sans"/>
                <a:ea typeface="DejaVu Sans"/>
                <a:cs typeface="DejaVu Sans"/>
              </a:defRPr>
            </a:lvl1pPr>
            <a:lvl2pPr>
              <a:defRPr sz="1425" b="0">
                <a:solidFill>
                  <a:srgbClr val="087E83"/>
                </a:solidFill>
                <a:latin typeface="DejaVu Sans"/>
                <a:ea typeface="DejaVu Sans"/>
                <a:cs typeface="DejaVu Sans"/>
              </a:defRPr>
            </a:lvl2pPr>
            <a:lvl3pPr>
              <a:defRPr sz="1425" b="0">
                <a:solidFill>
                  <a:srgbClr val="087E83"/>
                </a:solidFill>
                <a:latin typeface="DejaVu Sans"/>
                <a:ea typeface="DejaVu Sans"/>
                <a:cs typeface="DejaVu Sans"/>
              </a:defRPr>
            </a:lvl3pPr>
            <a:lvl4pPr>
              <a:defRPr sz="1425" b="0">
                <a:solidFill>
                  <a:srgbClr val="087E83"/>
                </a:solidFill>
                <a:latin typeface="DejaVu Sans"/>
                <a:ea typeface="DejaVu Sans"/>
                <a:cs typeface="DejaVu Sans"/>
              </a:defRPr>
            </a:lvl4pPr>
            <a:lvl5pPr>
              <a:defRPr sz="1425" b="0">
                <a:solidFill>
                  <a:srgbClr val="087E83"/>
                </a:solidFill>
                <a:latin typeface="DejaVu Sans"/>
                <a:ea typeface="DejaVu Sans"/>
                <a:cs typeface="DejaVu Sans"/>
              </a:defRPr>
            </a:lvl5pPr>
            <a:lvl6pPr>
              <a:defRPr sz="1425" b="0">
                <a:solidFill>
                  <a:srgbClr val="087E83"/>
                </a:solidFill>
                <a:latin typeface="DejaVu Sans"/>
                <a:ea typeface="DejaVu Sans"/>
                <a:cs typeface="DejaVu Sans"/>
              </a:defRPr>
            </a:lvl6pPr>
            <a:lvl7pPr>
              <a:defRPr sz="1425" b="0">
                <a:solidFill>
                  <a:srgbClr val="087E83"/>
                </a:solidFill>
                <a:latin typeface="DejaVu Sans"/>
                <a:ea typeface="DejaVu Sans"/>
                <a:cs typeface="DejaVu Sans"/>
              </a:defRPr>
            </a:lvl7pPr>
            <a:lvl8pPr>
              <a:defRPr sz="1425" b="0">
                <a:solidFill>
                  <a:srgbClr val="087E83"/>
                </a:solidFill>
                <a:latin typeface="DejaVu Sans"/>
                <a:ea typeface="DejaVu Sans"/>
                <a:cs typeface="DejaVu Sans"/>
              </a:defRPr>
            </a:lvl8pPr>
            <a:lvl9pPr>
              <a:defRPr sz="1425" b="0">
                <a:solidFill>
                  <a:srgbClr val="087E83"/>
                </a:solidFill>
                <a:latin typeface="DejaVu Sans"/>
                <a:ea typeface="DejaVu Sans"/>
                <a:cs typeface="DejaVu Sans"/>
              </a:defRPr>
            </a:lvl9pPr>
          </a:lstStyle>
          <a:p xmlns:a="http://schemas.openxmlformats.org/drawingml/2006/main">
            <a:pPr>
              <a:defRPr sz="1425" b="0">
                <a:solidFill>
                  <a:srgbClr val="087E83"/>
                </a:solidFill>
                <a:latin typeface="DejaVu Sans"/>
                <a:ea typeface="DejaVu Sans"/>
                <a:cs typeface="DejaVu Sans"/>
              </a:defRPr>
            </a:pPr>
            <a:r>
              <a:rPr sz="1425" b="0">
                <a:solidFill>
                  <a:srgbClr val="087E83"/>
                </a:solidFill>
                <a:latin typeface="DejaVu Sans"/>
                <a:ea typeface="DejaVu Sans"/>
                <a:cs typeface="DejaVu Sans"/>
              </a:rPr>
              <a:t>Highlighted: seller context for aggregation</a:t>
            </a:r>
          </a:p>
        </p:txBody>
      </p:sp>
      <p:sp>
        <p:nvSpPr>
          <p:cNvPr id="28" name="">
            <a:extLst xmlns:a="http://schemas.openxmlformats.org/drawingml/2006/main">
              <a:ext uri="{FF2B5EF4-FFF2-40B4-BE49-F238E27FC236}">
                <a16:creationId xmlns:a16="http://schemas.microsoft.com/office/drawing/2014/main" id="{41ADE78B-0C8B-4F8A-8C37-411047212851}"/>
              </a:ext>
            </a:extLst>
          </p:cNvPr>
          <p:cNvSpPr>
            <a:spLocks xmlns:a="http://schemas.openxmlformats.org/drawingml/2006/main" noGrp="1"/>
          </p:cNvSpPr>
          <p:nvPr/>
        </p:nvSpPr>
        <p:spPr>
          <a:xfrm xmlns:a="http://schemas.openxmlformats.org/drawingml/2006/main">
            <a:off x="609600" y="18097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32A35"/>
                </a:solidFill>
                <a:latin typeface="DejaVu Sans"/>
                <a:ea typeface="DejaVu Sans"/>
                <a:cs typeface="DejaVu Sans"/>
              </a:defRPr>
            </a:defPPr>
            <a:lvl1pPr>
              <a:defRPr sz="1950" b="1">
                <a:solidFill>
                  <a:srgbClr val="132A35"/>
                </a:solidFill>
                <a:latin typeface="DejaVu Sans"/>
                <a:ea typeface="DejaVu Sans"/>
                <a:cs typeface="DejaVu Sans"/>
              </a:defRPr>
            </a:lvl1pPr>
            <a:lvl2pPr>
              <a:defRPr sz="1950" b="1">
                <a:solidFill>
                  <a:srgbClr val="132A35"/>
                </a:solidFill>
                <a:latin typeface="DejaVu Sans"/>
                <a:ea typeface="DejaVu Sans"/>
                <a:cs typeface="DejaVu Sans"/>
              </a:defRPr>
            </a:lvl2pPr>
            <a:lvl3pPr>
              <a:defRPr sz="1950" b="1">
                <a:solidFill>
                  <a:srgbClr val="132A35"/>
                </a:solidFill>
                <a:latin typeface="DejaVu Sans"/>
                <a:ea typeface="DejaVu Sans"/>
                <a:cs typeface="DejaVu Sans"/>
              </a:defRPr>
            </a:lvl3pPr>
            <a:lvl4pPr>
              <a:defRPr sz="1950" b="1">
                <a:solidFill>
                  <a:srgbClr val="132A35"/>
                </a:solidFill>
                <a:latin typeface="DejaVu Sans"/>
                <a:ea typeface="DejaVu Sans"/>
                <a:cs typeface="DejaVu Sans"/>
              </a:defRPr>
            </a:lvl4pPr>
            <a:lvl5pPr>
              <a:defRPr sz="1950" b="1">
                <a:solidFill>
                  <a:srgbClr val="132A35"/>
                </a:solidFill>
                <a:latin typeface="DejaVu Sans"/>
                <a:ea typeface="DejaVu Sans"/>
                <a:cs typeface="DejaVu Sans"/>
              </a:defRPr>
            </a:lvl5pPr>
            <a:lvl6pPr>
              <a:defRPr sz="1950" b="1">
                <a:solidFill>
                  <a:srgbClr val="132A35"/>
                </a:solidFill>
                <a:latin typeface="DejaVu Sans"/>
                <a:ea typeface="DejaVu Sans"/>
                <a:cs typeface="DejaVu Sans"/>
              </a:defRPr>
            </a:lvl6pPr>
            <a:lvl7pPr>
              <a:defRPr sz="1950" b="1">
                <a:solidFill>
                  <a:srgbClr val="132A35"/>
                </a:solidFill>
                <a:latin typeface="DejaVu Sans"/>
                <a:ea typeface="DejaVu Sans"/>
                <a:cs typeface="DejaVu Sans"/>
              </a:defRPr>
            </a:lvl7pPr>
            <a:lvl8pPr>
              <a:defRPr sz="1950" b="1">
                <a:solidFill>
                  <a:srgbClr val="132A35"/>
                </a:solidFill>
                <a:latin typeface="DejaVu Sans"/>
                <a:ea typeface="DejaVu Sans"/>
                <a:cs typeface="DejaVu Sans"/>
              </a:defRPr>
            </a:lvl8pPr>
            <a:lvl9pPr>
              <a:defRPr sz="1950" b="1">
                <a:solidFill>
                  <a:srgbClr val="132A35"/>
                </a:solidFill>
                <a:latin typeface="DejaVu Sans"/>
                <a:ea typeface="DejaVu Sans"/>
                <a:cs typeface="DejaVu Sans"/>
              </a:defRPr>
            </a:lvl9pPr>
          </a:lstStyle>
          <a:p xmlns:a="http://schemas.openxmlformats.org/drawingml/2006/main">
            <a:pPr>
              <a:defRPr sz="1950" b="1">
                <a:solidFill>
                  <a:srgbClr val="132A35"/>
                </a:solidFill>
                <a:latin typeface="DejaVu Sans"/>
                <a:ea typeface="DejaVu Sans"/>
                <a:cs typeface="DejaVu Sans"/>
              </a:defRPr>
            </a:pPr>
            <a:r>
              <a:rPr sz="1950" b="1">
                <a:solidFill>
                  <a:srgbClr val="132A35"/>
                </a:solidFill>
                <a:latin typeface="DejaVu Sans"/>
                <a:ea typeface="DejaVu Sans"/>
                <a:cs typeface="DejaVu Sans"/>
              </a:rPr>
              <a:t>Shared seller–item graph</a:t>
            </a:r>
          </a:p>
        </p:txBody>
      </p:sp>
      <p:sp>
        <p:nvSpPr>
          <p:cNvPr id="29" name="">
            <a:extLst xmlns:a="http://schemas.openxmlformats.org/drawingml/2006/main">
              <a:ext uri="{FF2B5EF4-FFF2-40B4-BE49-F238E27FC236}">
                <a16:creationId xmlns:a16="http://schemas.microsoft.com/office/drawing/2014/main" id="{DB08EC9C-8B78-4539-9B11-5D19E050D807}"/>
              </a:ext>
            </a:extLst>
          </p:cNvPr>
          <p:cNvSpPr>
            <a:spLocks xmlns:a="http://schemas.openxmlformats.org/drawingml/2006/main" noGrp="1"/>
          </p:cNvSpPr>
          <p:nvPr/>
        </p:nvSpPr>
        <p:spPr>
          <a:xfrm xmlns:a="http://schemas.openxmlformats.org/drawingml/2006/main">
            <a:off x="6276975" y="187642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Target node: Seller1</a:t>
            </a:r>
          </a:p>
        </p:txBody>
      </p:sp>
      <p:sp>
        <p:nvSpPr>
          <p:cNvPr id="30" name="">
            <a:extLst xmlns:a="http://schemas.openxmlformats.org/drawingml/2006/main">
              <a:ext uri="{FF2B5EF4-FFF2-40B4-BE49-F238E27FC236}">
                <a16:creationId xmlns:a16="http://schemas.microsoft.com/office/drawing/2014/main" id="{6F09E7EF-A25F-4A73-A436-1E508113A881}"/>
              </a:ext>
            </a:extLst>
          </p:cNvPr>
          <p:cNvSpPr>
            <a:spLocks xmlns:a="http://schemas.openxmlformats.org/drawingml/2006/main" noGrp="1"/>
          </p:cNvSpPr>
          <p:nvPr/>
        </p:nvSpPr>
        <p:spPr>
          <a:xfrm xmlns:a="http://schemas.openxmlformats.org/drawingml/2006/main">
            <a:off x="6276975" y="228600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Seller features: tenure, returns and disputes.</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Item features: content, price and policy signals.</a:t>
            </a:r>
          </a:p>
        </p:txBody>
      </p:sp>
      <p:sp>
        <p:nvSpPr>
          <p:cNvPr id="31" name="">
            <a:extLst xmlns:a="http://schemas.openxmlformats.org/drawingml/2006/main">
              <a:ext uri="{FF2B5EF4-FFF2-40B4-BE49-F238E27FC236}">
                <a16:creationId xmlns:a16="http://schemas.microsoft.com/office/drawing/2014/main" id="{F574FDC1-98CF-4357-915A-81ED5B6FEE0B}"/>
              </a:ext>
            </a:extLst>
          </p:cNvPr>
          <p:cNvSpPr>
            <a:spLocks xmlns:a="http://schemas.openxmlformats.org/drawingml/2006/main" noGrp="1"/>
          </p:cNvSpPr>
          <p:nvPr/>
        </p:nvSpPr>
        <p:spPr>
          <a:xfrm xmlns:a="http://schemas.openxmlformats.org/drawingml/2006/main">
            <a:off x="6276975" y="3314700"/>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Relation-specific metapaths</a:t>
            </a:r>
          </a:p>
        </p:txBody>
      </p:sp>
      <p:sp>
        <p:nvSpPr>
          <p:cNvPr id="32" name="">
            <a:extLst xmlns:a="http://schemas.openxmlformats.org/drawingml/2006/main">
              <a:ext uri="{FF2B5EF4-FFF2-40B4-BE49-F238E27FC236}">
                <a16:creationId xmlns:a16="http://schemas.microsoft.com/office/drawing/2014/main" id="{72C3C6F6-6DCF-4D43-9473-F975F92A7C9A}"/>
              </a:ext>
            </a:extLst>
          </p:cNvPr>
          <p:cNvSpPr>
            <a:spLocks xmlns:a="http://schemas.openxmlformats.org/drawingml/2006/main" noGrp="1"/>
          </p:cNvSpPr>
          <p:nvPr/>
        </p:nvSpPr>
        <p:spPr>
          <a:xfrm xmlns:a="http://schemas.openxmlformats.org/drawingml/2006/main">
            <a:off x="6276975" y="3724275"/>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S–I: listed-item context. S–I–C: category context.</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S–L: location context. S–R: rating context.</a:t>
            </a:r>
          </a:p>
        </p:txBody>
      </p:sp>
      <p:sp>
        <p:nvSpPr>
          <p:cNvPr id="33" name="">
            <a:extLst xmlns:a="http://schemas.openxmlformats.org/drawingml/2006/main">
              <a:ext uri="{FF2B5EF4-FFF2-40B4-BE49-F238E27FC236}">
                <a16:creationId xmlns:a16="http://schemas.microsoft.com/office/drawing/2014/main" id="{10DB1711-F410-43EC-B6E4-5A8E3C4F98AF}"/>
              </a:ext>
            </a:extLst>
          </p:cNvPr>
          <p:cNvSpPr>
            <a:spLocks xmlns:a="http://schemas.openxmlformats.org/drawingml/2006/main" noGrp="1"/>
          </p:cNvSpPr>
          <p:nvPr/>
        </p:nvSpPr>
        <p:spPr>
          <a:xfrm xmlns:a="http://schemas.openxmlformats.org/drawingml/2006/main">
            <a:off x="6276975" y="475297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Relational patterns across sellers</a:t>
            </a:r>
          </a:p>
        </p:txBody>
      </p:sp>
      <p:sp>
        <p:nvSpPr>
          <p:cNvPr id="34" name="">
            <a:extLst xmlns:a="http://schemas.openxmlformats.org/drawingml/2006/main">
              <a:ext uri="{FF2B5EF4-FFF2-40B4-BE49-F238E27FC236}">
                <a16:creationId xmlns:a16="http://schemas.microsoft.com/office/drawing/2014/main" id="{FC68BFAC-E753-48E4-AA4B-C3D0F2A85CE7}"/>
              </a:ext>
            </a:extLst>
          </p:cNvPr>
          <p:cNvSpPr>
            <a:spLocks xmlns:a="http://schemas.openxmlformats.org/drawingml/2006/main" noGrp="1"/>
          </p:cNvSpPr>
          <p:nvPr/>
        </p:nvSpPr>
        <p:spPr>
          <a:xfrm xmlns:a="http://schemas.openxmlformats.org/drawingml/2006/main">
            <a:off x="6276975" y="516255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S–I–S: sellers listing the same canonical item.</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Requires other sellers and reliable entity resolution.</a:t>
            </a:r>
          </a:p>
        </p:txBody>
      </p:sp>
      <p:sp>
        <p:nvSpPr>
          <p:cNvPr id="35" name="">
            <a:extLst xmlns:a="http://schemas.openxmlformats.org/drawingml/2006/main">
              <a:ext uri="{FF2B5EF4-FFF2-40B4-BE49-F238E27FC236}">
                <a16:creationId xmlns:a16="http://schemas.microsoft.com/office/drawing/2014/main" id="{9942F098-E300-4E61-A2EB-8289604594C1}"/>
              </a:ext>
            </a:extLst>
          </p:cNvPr>
          <p:cNvSpPr>
            <a:spLocks xmlns:a="http://schemas.openxmlformats.org/drawingml/2006/main" noGrp="1"/>
          </p:cNvSpPr>
          <p:nvPr/>
        </p:nvSpPr>
        <p:spPr>
          <a:xfrm xmlns:a="http://schemas.openxmlformats.org/drawingml/2006/main">
            <a:off x="552450" y="62769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087E83"/>
                </a:solidFill>
                <a:latin typeface="DejaVu Sans"/>
                <a:ea typeface="DejaVu Sans"/>
                <a:cs typeface="DejaVu Sans"/>
              </a:defRPr>
            </a:defPPr>
            <a:lvl1pPr>
              <a:defRPr sz="1650" b="1">
                <a:solidFill>
                  <a:srgbClr val="087E83"/>
                </a:solidFill>
                <a:latin typeface="DejaVu Sans"/>
                <a:ea typeface="DejaVu Sans"/>
                <a:cs typeface="DejaVu Sans"/>
              </a:defRPr>
            </a:lvl1pPr>
            <a:lvl2pPr>
              <a:defRPr sz="1650" b="1">
                <a:solidFill>
                  <a:srgbClr val="087E83"/>
                </a:solidFill>
                <a:latin typeface="DejaVu Sans"/>
                <a:ea typeface="DejaVu Sans"/>
                <a:cs typeface="DejaVu Sans"/>
              </a:defRPr>
            </a:lvl2pPr>
            <a:lvl3pPr>
              <a:defRPr sz="1650" b="1">
                <a:solidFill>
                  <a:srgbClr val="087E83"/>
                </a:solidFill>
                <a:latin typeface="DejaVu Sans"/>
                <a:ea typeface="DejaVu Sans"/>
                <a:cs typeface="DejaVu Sans"/>
              </a:defRPr>
            </a:lvl3pPr>
            <a:lvl4pPr>
              <a:defRPr sz="1650" b="1">
                <a:solidFill>
                  <a:srgbClr val="087E83"/>
                </a:solidFill>
                <a:latin typeface="DejaVu Sans"/>
                <a:ea typeface="DejaVu Sans"/>
                <a:cs typeface="DejaVu Sans"/>
              </a:defRPr>
            </a:lvl4pPr>
            <a:lvl5pPr>
              <a:defRPr sz="1650" b="1">
                <a:solidFill>
                  <a:srgbClr val="087E83"/>
                </a:solidFill>
                <a:latin typeface="DejaVu Sans"/>
                <a:ea typeface="DejaVu Sans"/>
                <a:cs typeface="DejaVu Sans"/>
              </a:defRPr>
            </a:lvl5pPr>
            <a:lvl6pPr>
              <a:defRPr sz="1650" b="1">
                <a:solidFill>
                  <a:srgbClr val="087E83"/>
                </a:solidFill>
                <a:latin typeface="DejaVu Sans"/>
                <a:ea typeface="DejaVu Sans"/>
                <a:cs typeface="DejaVu Sans"/>
              </a:defRPr>
            </a:lvl6pPr>
            <a:lvl7pPr>
              <a:defRPr sz="1650" b="1">
                <a:solidFill>
                  <a:srgbClr val="087E83"/>
                </a:solidFill>
                <a:latin typeface="DejaVu Sans"/>
                <a:ea typeface="DejaVu Sans"/>
                <a:cs typeface="DejaVu Sans"/>
              </a:defRPr>
            </a:lvl7pPr>
            <a:lvl8pPr>
              <a:defRPr sz="1650" b="1">
                <a:solidFill>
                  <a:srgbClr val="087E83"/>
                </a:solidFill>
                <a:latin typeface="DejaVu Sans"/>
                <a:ea typeface="DejaVu Sans"/>
                <a:cs typeface="DejaVu Sans"/>
              </a:defRPr>
            </a:lvl8pPr>
            <a:lvl9pPr>
              <a:defRPr sz="1650" b="1">
                <a:solidFill>
                  <a:srgbClr val="087E83"/>
                </a:solidFill>
                <a:latin typeface="DejaVu Sans"/>
                <a:ea typeface="DejaVu Sans"/>
                <a:cs typeface="DejaVu Sans"/>
              </a:defRPr>
            </a:lvl9pPr>
          </a:lstStyle>
          <a:p xmlns:a="http://schemas.openxmlformats.org/drawingml/2006/main">
            <a:pPr>
              <a:defRPr sz="1650" b="1">
                <a:solidFill>
                  <a:srgbClr val="087E83"/>
                </a:solidFill>
                <a:latin typeface="DejaVu Sans"/>
                <a:ea typeface="DejaVu Sans"/>
                <a:cs typeface="DejaVu Sans"/>
              </a:defRPr>
            </a:pPr>
            <a:r>
              <a:rPr sz="1650" b="1">
                <a:solidFill>
                  <a:srgbClr val="087E83"/>
                </a:solidFill>
                <a:latin typeface="DejaVu Sans"/>
                <a:ea typeface="DejaVu Sans"/>
                <a:cs typeface="DejaVu Sans"/>
              </a:rPr>
              <a:t>S = seller   I = item   C = category   L = location   R = rating</a:t>
            </a:r>
          </a:p>
        </p:txBody>
      </p:sp>
    </p:spTree>
    <p:extLst>
      <p:ext uri="{BB962C8B-B14F-4D97-AF65-F5344CB8AC3E}">
        <p14:creationId xmlns:p14="http://schemas.microsoft.com/office/powerpoint/2010/main" val="1343509255"/>
      </p:ext>
    </p:extLst>
  </p:cSld>
</p:sld>
</file>

<file path=ppt/slides/slide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E52A1B27-B9DF-4DA5-966D-814F10FD9408}"/>
              </a:ext>
            </a:extLst>
          </p:cNvPr>
          <p:cNvCxnSpPr>
            <a:stCxn xmlns:a="http://schemas.openxmlformats.org/drawingml/2006/main" id="9" idx="3"/>
            <a:endCxn xmlns:a="http://schemas.openxmlformats.org/drawingml/2006/main" id="11" idx="1"/>
          </p:cNvCxnSpPr>
          <p:nvPr/>
        </p:nvCxnSpPr>
        <p:spPr>
          <a:xfrm xmlns:a="http://schemas.openxmlformats.org/drawingml/2006/main">
            <a:off x="8696325" y="2857500"/>
            <a:ext cx="504825" cy="0"/>
          </a:xfrm>
          <a:prstGeom xmlns:a="http://schemas.openxmlformats.org/drawingml/2006/main" prst="straightConnector1">
            <a:avLst/>
          </a:prstGeom>
          <a:ln xmlns:a="http://schemas.openxmlformats.org/drawingml/2006/main" w="19050">
            <a:solidFill>
              <a:srgbClr val="087E83"/>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C97B52A0-7504-4595-A787-445489B18A87}"/>
              </a:ext>
            </a:extLst>
          </p:cNvPr>
          <p:cNvCxnSpPr>
            <a:stCxn xmlns:a="http://schemas.openxmlformats.org/drawingml/2006/main" id="7" idx="3"/>
            <a:endCxn xmlns:a="http://schemas.openxmlformats.org/drawingml/2006/main" id="9" idx="1"/>
          </p:cNvCxnSpPr>
          <p:nvPr/>
        </p:nvCxnSpPr>
        <p:spPr>
          <a:xfrm xmlns:a="http://schemas.openxmlformats.org/drawingml/2006/main">
            <a:off x="5857875" y="2857500"/>
            <a:ext cx="504825" cy="0"/>
          </a:xfrm>
          <a:prstGeom xmlns:a="http://schemas.openxmlformats.org/drawingml/2006/main" prst="straightConnector1">
            <a:avLst/>
          </a:prstGeom>
          <a:ln xmlns:a="http://schemas.openxmlformats.org/drawingml/2006/main" w="19050">
            <a:solidFill>
              <a:srgbClr val="087E83"/>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1F9DBE56-3658-41EF-BD26-C7D01FACE0FD}"/>
              </a:ext>
            </a:extLst>
          </p:cNvPr>
          <p:cNvCxnSpPr>
            <a:stCxn xmlns:a="http://schemas.openxmlformats.org/drawingml/2006/main" id="5" idx="3"/>
            <a:endCxn xmlns:a="http://schemas.openxmlformats.org/drawingml/2006/main" id="7" idx="1"/>
          </p:cNvCxnSpPr>
          <p:nvPr/>
        </p:nvCxnSpPr>
        <p:spPr>
          <a:xfrm xmlns:a="http://schemas.openxmlformats.org/drawingml/2006/main">
            <a:off x="3028950" y="2857500"/>
            <a:ext cx="495300" cy="0"/>
          </a:xfrm>
          <a:prstGeom xmlns:a="http://schemas.openxmlformats.org/drawingml/2006/main" prst="straightConnector1">
            <a:avLst/>
          </a:prstGeom>
          <a:ln xmlns:a="http://schemas.openxmlformats.org/drawingml/2006/main" w="19050">
            <a:solidFill>
              <a:srgbClr val="087E83"/>
            </a:solidFill>
            <a:prstDash val="solid"/>
            <a:tailEnd type="arrow" w="med" len="med"/>
          </a:ln>
        </p:spPr>
      </p:cxnSp>
      <p:sp>
        <p:nvSpPr>
          <p:cNvPr id="23" name="">
            <a:extLst xmlns:a="http://schemas.openxmlformats.org/drawingml/2006/main">
              <a:ext uri="{FF2B5EF4-FFF2-40B4-BE49-F238E27FC236}">
                <a16:creationId xmlns:a16="http://schemas.microsoft.com/office/drawing/2014/main" id="{0862ACDF-0D25-499C-9A8A-66EA354745FB}"/>
              </a:ext>
            </a:extLst>
          </p:cNvPr>
          <p:cNvSpPr>
            <a:spLocks xmlns:a="http://schemas.openxmlformats.org/drawingml/2006/main" noGrp="1"/>
          </p:cNvSpPr>
          <p:nvPr/>
        </p:nvSpPr>
        <p:spPr>
          <a:xfrm xmlns:a="http://schemas.openxmlformats.org/drawingml/2006/main">
            <a:off x="533400" y="361950"/>
            <a:ext cx="1114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32A35"/>
                </a:solidFill>
                <a:latin typeface="DejaVu Sans"/>
                <a:ea typeface="DejaVu Sans"/>
                <a:cs typeface="DejaVu Sans"/>
              </a:defRPr>
            </a:defPPr>
            <a:lvl1pPr>
              <a:defRPr sz="3150" b="1">
                <a:solidFill>
                  <a:srgbClr val="132A35"/>
                </a:solidFill>
                <a:latin typeface="DejaVu Sans"/>
                <a:ea typeface="DejaVu Sans"/>
                <a:cs typeface="DejaVu Sans"/>
              </a:defRPr>
            </a:lvl1pPr>
            <a:lvl2pPr>
              <a:defRPr sz="3150" b="1">
                <a:solidFill>
                  <a:srgbClr val="132A35"/>
                </a:solidFill>
                <a:latin typeface="DejaVu Sans"/>
                <a:ea typeface="DejaVu Sans"/>
                <a:cs typeface="DejaVu Sans"/>
              </a:defRPr>
            </a:lvl2pPr>
            <a:lvl3pPr>
              <a:defRPr sz="3150" b="1">
                <a:solidFill>
                  <a:srgbClr val="132A35"/>
                </a:solidFill>
                <a:latin typeface="DejaVu Sans"/>
                <a:ea typeface="DejaVu Sans"/>
                <a:cs typeface="DejaVu Sans"/>
              </a:defRPr>
            </a:lvl3pPr>
            <a:lvl4pPr>
              <a:defRPr sz="3150" b="1">
                <a:solidFill>
                  <a:srgbClr val="132A35"/>
                </a:solidFill>
                <a:latin typeface="DejaVu Sans"/>
                <a:ea typeface="DejaVu Sans"/>
                <a:cs typeface="DejaVu Sans"/>
              </a:defRPr>
            </a:lvl4pPr>
            <a:lvl5pPr>
              <a:defRPr sz="3150" b="1">
                <a:solidFill>
                  <a:srgbClr val="132A35"/>
                </a:solidFill>
                <a:latin typeface="DejaVu Sans"/>
                <a:ea typeface="DejaVu Sans"/>
                <a:cs typeface="DejaVu Sans"/>
              </a:defRPr>
            </a:lvl5pPr>
            <a:lvl6pPr>
              <a:defRPr sz="3150" b="1">
                <a:solidFill>
                  <a:srgbClr val="132A35"/>
                </a:solidFill>
                <a:latin typeface="DejaVu Sans"/>
                <a:ea typeface="DejaVu Sans"/>
                <a:cs typeface="DejaVu Sans"/>
              </a:defRPr>
            </a:lvl6pPr>
            <a:lvl7pPr>
              <a:defRPr sz="3150" b="1">
                <a:solidFill>
                  <a:srgbClr val="132A35"/>
                </a:solidFill>
                <a:latin typeface="DejaVu Sans"/>
                <a:ea typeface="DejaVu Sans"/>
                <a:cs typeface="DejaVu Sans"/>
              </a:defRPr>
            </a:lvl7pPr>
            <a:lvl8pPr>
              <a:defRPr sz="3150" b="1">
                <a:solidFill>
                  <a:srgbClr val="132A35"/>
                </a:solidFill>
                <a:latin typeface="DejaVu Sans"/>
                <a:ea typeface="DejaVu Sans"/>
                <a:cs typeface="DejaVu Sans"/>
              </a:defRPr>
            </a:lvl8pPr>
            <a:lvl9pPr>
              <a:defRPr sz="3150" b="1">
                <a:solidFill>
                  <a:srgbClr val="132A35"/>
                </a:solidFill>
                <a:latin typeface="DejaVu Sans"/>
                <a:ea typeface="DejaVu Sans"/>
                <a:cs typeface="DejaVu Sans"/>
              </a:defRPr>
            </a:lvl9pPr>
          </a:lstStyle>
          <a:p xmlns:a="http://schemas.openxmlformats.org/drawingml/2006/main">
            <a:pPr>
              <a:defRPr sz="3150" b="1">
                <a:solidFill>
                  <a:srgbClr val="132A35"/>
                </a:solidFill>
                <a:latin typeface="DejaVu Sans"/>
                <a:ea typeface="DejaVu Sans"/>
                <a:cs typeface="DejaVu Sans"/>
              </a:defRPr>
            </a:pPr>
            <a:r>
              <a:rPr sz="3150" b="1">
                <a:solidFill>
                  <a:srgbClr val="132A35"/>
                </a:solidFill>
                <a:latin typeface="DejaVu Sans"/>
                <a:ea typeface="DejaVu Sans"/>
                <a:cs typeface="DejaVu Sans"/>
              </a:rPr>
              <a:t>SeHGNN architecture for seller fraud</a:t>
            </a:r>
          </a:p>
        </p:txBody>
      </p:sp>
      <p:sp>
        <p:nvSpPr>
          <p:cNvPr id="2" name="">
            <a:extLst xmlns:a="http://schemas.openxmlformats.org/drawingml/2006/main">
              <a:ext uri="{FF2B5EF4-FFF2-40B4-BE49-F238E27FC236}">
                <a16:creationId xmlns:a16="http://schemas.microsoft.com/office/drawing/2014/main" id="{F9C3CF04-0031-43C1-B5D9-52F4B61DBD12}"/>
              </a:ext>
            </a:extLst>
          </p:cNvPr>
          <p:cNvSpPr>
            <a:spLocks xmlns:a="http://schemas.openxmlformats.org/drawingml/2006/main" noGrp="1"/>
          </p:cNvSpPr>
          <p:nvPr/>
        </p:nvSpPr>
        <p:spPr>
          <a:xfrm xmlns:a="http://schemas.openxmlformats.org/drawingml/2006/main">
            <a:off x="552450" y="105727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Precompute graph context, then learn which relationship patterns matter</a:t>
            </a:r>
          </a:p>
        </p:txBody>
      </p:sp>
      <p:sp>
        <p:nvSpPr>
          <p:cNvPr id="3" name="">
            <a:extLst xmlns:a="http://schemas.openxmlformats.org/drawingml/2006/main">
              <a:ext uri="{FF2B5EF4-FFF2-40B4-BE49-F238E27FC236}">
                <a16:creationId xmlns:a16="http://schemas.microsoft.com/office/drawing/2014/main" id="{53AF1635-6FDE-4940-8C34-C30E1F1D7DB4}"/>
              </a:ext>
            </a:extLst>
          </p:cNvPr>
          <p:cNvSpPr>
            <a:spLocks xmlns:a="http://schemas.openxmlformats.org/drawingml/2006/main" noGrp="1"/>
          </p:cNvSpPr>
          <p:nvPr/>
        </p:nvSpPr>
        <p:spPr>
          <a:xfrm xmlns:a="http://schemas.openxmlformats.org/drawingml/2006/main">
            <a:off x="552450" y="17907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087E83"/>
                </a:solidFill>
                <a:latin typeface="DejaVu Sans"/>
                <a:ea typeface="DejaVu Sans"/>
                <a:cs typeface="DejaVu Sans"/>
              </a:defRPr>
            </a:defPPr>
            <a:lvl1pPr>
              <a:defRPr sz="1350" b="1">
                <a:solidFill>
                  <a:srgbClr val="087E83"/>
                </a:solidFill>
                <a:latin typeface="DejaVu Sans"/>
                <a:ea typeface="DejaVu Sans"/>
                <a:cs typeface="DejaVu Sans"/>
              </a:defRPr>
            </a:lvl1pPr>
            <a:lvl2pPr>
              <a:defRPr sz="1350" b="1">
                <a:solidFill>
                  <a:srgbClr val="087E83"/>
                </a:solidFill>
                <a:latin typeface="DejaVu Sans"/>
                <a:ea typeface="DejaVu Sans"/>
                <a:cs typeface="DejaVu Sans"/>
              </a:defRPr>
            </a:lvl2pPr>
            <a:lvl3pPr>
              <a:defRPr sz="1350" b="1">
                <a:solidFill>
                  <a:srgbClr val="087E83"/>
                </a:solidFill>
                <a:latin typeface="DejaVu Sans"/>
                <a:ea typeface="DejaVu Sans"/>
                <a:cs typeface="DejaVu Sans"/>
              </a:defRPr>
            </a:lvl3pPr>
            <a:lvl4pPr>
              <a:defRPr sz="1350" b="1">
                <a:solidFill>
                  <a:srgbClr val="087E83"/>
                </a:solidFill>
                <a:latin typeface="DejaVu Sans"/>
                <a:ea typeface="DejaVu Sans"/>
                <a:cs typeface="DejaVu Sans"/>
              </a:defRPr>
            </a:lvl4pPr>
            <a:lvl5pPr>
              <a:defRPr sz="1350" b="1">
                <a:solidFill>
                  <a:srgbClr val="087E83"/>
                </a:solidFill>
                <a:latin typeface="DejaVu Sans"/>
                <a:ea typeface="DejaVu Sans"/>
                <a:cs typeface="DejaVu Sans"/>
              </a:defRPr>
            </a:lvl5pPr>
            <a:lvl6pPr>
              <a:defRPr sz="1350" b="1">
                <a:solidFill>
                  <a:srgbClr val="087E83"/>
                </a:solidFill>
                <a:latin typeface="DejaVu Sans"/>
                <a:ea typeface="DejaVu Sans"/>
                <a:cs typeface="DejaVu Sans"/>
              </a:defRPr>
            </a:lvl6pPr>
            <a:lvl7pPr>
              <a:defRPr sz="1350" b="1">
                <a:solidFill>
                  <a:srgbClr val="087E83"/>
                </a:solidFill>
                <a:latin typeface="DejaVu Sans"/>
                <a:ea typeface="DejaVu Sans"/>
                <a:cs typeface="DejaVu Sans"/>
              </a:defRPr>
            </a:lvl7pPr>
            <a:lvl8pPr>
              <a:defRPr sz="1350" b="1">
                <a:solidFill>
                  <a:srgbClr val="087E83"/>
                </a:solidFill>
                <a:latin typeface="DejaVu Sans"/>
                <a:ea typeface="DejaVu Sans"/>
                <a:cs typeface="DejaVu Sans"/>
              </a:defRPr>
            </a:lvl8pPr>
            <a:lvl9pPr>
              <a:defRPr sz="1350" b="1">
                <a:solidFill>
                  <a:srgbClr val="087E83"/>
                </a:solidFill>
                <a:latin typeface="DejaVu Sans"/>
                <a:ea typeface="DejaVu Sans"/>
                <a:cs typeface="DejaVu Sans"/>
              </a:defRPr>
            </a:lvl9pPr>
          </a:lstStyle>
          <a:p xmlns:a="http://schemas.openxmlformats.org/drawingml/2006/main">
            <a:pPr>
              <a:defRPr sz="1350" b="1">
                <a:solidFill>
                  <a:srgbClr val="087E83"/>
                </a:solidFill>
                <a:latin typeface="DejaVu Sans"/>
                <a:ea typeface="DejaVu Sans"/>
                <a:cs typeface="DejaVu Sans"/>
              </a:defRPr>
            </a:pPr>
            <a:r>
              <a:rPr sz="1350" b="1">
                <a:solidFill>
                  <a:srgbClr val="087E83"/>
                </a:solidFill>
                <a:latin typeface="DejaVu Sans"/>
                <a:ea typeface="DejaVu Sans"/>
                <a:cs typeface="DejaVu Sans"/>
              </a:rPr>
              <a:t>OFFLINE GRAPH SNAPSHOT</a:t>
            </a:r>
          </a:p>
        </p:txBody>
      </p:sp>
      <p:sp>
        <p:nvSpPr>
          <p:cNvPr id="4" name="">
            <a:extLst xmlns:a="http://schemas.openxmlformats.org/drawingml/2006/main">
              <a:ext uri="{FF2B5EF4-FFF2-40B4-BE49-F238E27FC236}">
                <a16:creationId xmlns:a16="http://schemas.microsoft.com/office/drawing/2014/main" id="{2486CB00-6B12-4ADA-B339-5FEA36719205}"/>
              </a:ext>
            </a:extLst>
          </p:cNvPr>
          <p:cNvSpPr>
            <a:spLocks xmlns:a="http://schemas.openxmlformats.org/drawingml/2006/main" noGrp="1"/>
          </p:cNvSpPr>
          <p:nvPr/>
        </p:nvSpPr>
        <p:spPr>
          <a:xfrm xmlns:a="http://schemas.openxmlformats.org/drawingml/2006/main">
            <a:off x="3724275" y="17907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087E83"/>
                </a:solidFill>
                <a:latin typeface="DejaVu Sans"/>
                <a:ea typeface="DejaVu Sans"/>
                <a:cs typeface="DejaVu Sans"/>
              </a:defRPr>
            </a:defPPr>
            <a:lvl1pPr>
              <a:defRPr sz="1350" b="1">
                <a:solidFill>
                  <a:srgbClr val="087E83"/>
                </a:solidFill>
                <a:latin typeface="DejaVu Sans"/>
                <a:ea typeface="DejaVu Sans"/>
                <a:cs typeface="DejaVu Sans"/>
              </a:defRPr>
            </a:lvl1pPr>
            <a:lvl2pPr>
              <a:defRPr sz="1350" b="1">
                <a:solidFill>
                  <a:srgbClr val="087E83"/>
                </a:solidFill>
                <a:latin typeface="DejaVu Sans"/>
                <a:ea typeface="DejaVu Sans"/>
                <a:cs typeface="DejaVu Sans"/>
              </a:defRPr>
            </a:lvl2pPr>
            <a:lvl3pPr>
              <a:defRPr sz="1350" b="1">
                <a:solidFill>
                  <a:srgbClr val="087E83"/>
                </a:solidFill>
                <a:latin typeface="DejaVu Sans"/>
                <a:ea typeface="DejaVu Sans"/>
                <a:cs typeface="DejaVu Sans"/>
              </a:defRPr>
            </a:lvl3pPr>
            <a:lvl4pPr>
              <a:defRPr sz="1350" b="1">
                <a:solidFill>
                  <a:srgbClr val="087E83"/>
                </a:solidFill>
                <a:latin typeface="DejaVu Sans"/>
                <a:ea typeface="DejaVu Sans"/>
                <a:cs typeface="DejaVu Sans"/>
              </a:defRPr>
            </a:lvl4pPr>
            <a:lvl5pPr>
              <a:defRPr sz="1350" b="1">
                <a:solidFill>
                  <a:srgbClr val="087E83"/>
                </a:solidFill>
                <a:latin typeface="DejaVu Sans"/>
                <a:ea typeface="DejaVu Sans"/>
                <a:cs typeface="DejaVu Sans"/>
              </a:defRPr>
            </a:lvl5pPr>
            <a:lvl6pPr>
              <a:defRPr sz="1350" b="1">
                <a:solidFill>
                  <a:srgbClr val="087E83"/>
                </a:solidFill>
                <a:latin typeface="DejaVu Sans"/>
                <a:ea typeface="DejaVu Sans"/>
                <a:cs typeface="DejaVu Sans"/>
              </a:defRPr>
            </a:lvl6pPr>
            <a:lvl7pPr>
              <a:defRPr sz="1350" b="1">
                <a:solidFill>
                  <a:srgbClr val="087E83"/>
                </a:solidFill>
                <a:latin typeface="DejaVu Sans"/>
                <a:ea typeface="DejaVu Sans"/>
                <a:cs typeface="DejaVu Sans"/>
              </a:defRPr>
            </a:lvl7pPr>
            <a:lvl8pPr>
              <a:defRPr sz="1350" b="1">
                <a:solidFill>
                  <a:srgbClr val="087E83"/>
                </a:solidFill>
                <a:latin typeface="DejaVu Sans"/>
                <a:ea typeface="DejaVu Sans"/>
                <a:cs typeface="DejaVu Sans"/>
              </a:defRPr>
            </a:lvl8pPr>
            <a:lvl9pPr>
              <a:defRPr sz="1350" b="1">
                <a:solidFill>
                  <a:srgbClr val="087E83"/>
                </a:solidFill>
                <a:latin typeface="DejaVu Sans"/>
                <a:ea typeface="DejaVu Sans"/>
                <a:cs typeface="DejaVu Sans"/>
              </a:defRPr>
            </a:lvl9pPr>
          </a:lstStyle>
          <a:p xmlns:a="http://schemas.openxmlformats.org/drawingml/2006/main">
            <a:pPr>
              <a:defRPr sz="1350" b="1">
                <a:solidFill>
                  <a:srgbClr val="087E83"/>
                </a:solidFill>
                <a:latin typeface="DejaVu Sans"/>
                <a:ea typeface="DejaVu Sans"/>
                <a:cs typeface="DejaVu Sans"/>
              </a:defRPr>
            </a:pPr>
            <a:r>
              <a:rPr sz="1350" b="1">
                <a:solidFill>
                  <a:srgbClr val="087E83"/>
                </a:solidFill>
                <a:latin typeface="DejaVu Sans"/>
                <a:ea typeface="DejaVu Sans"/>
                <a:cs typeface="DejaVu Sans"/>
              </a:rPr>
              <a:t>TRAINABLE NETWORK</a:t>
            </a:r>
          </a:p>
        </p:txBody>
      </p:sp>
      <p:sp>
        <p:nvSpPr>
          <p:cNvPr id="5" name="">
            <a:extLst xmlns:a="http://schemas.openxmlformats.org/drawingml/2006/main">
              <a:ext uri="{FF2B5EF4-FFF2-40B4-BE49-F238E27FC236}">
                <a16:creationId xmlns:a16="http://schemas.microsoft.com/office/drawing/2014/main" id="{803B95EA-8674-4EAF-9215-E1C2E433B882}"/>
              </a:ext>
            </a:extLst>
          </p:cNvPr>
          <p:cNvSpPr>
            <a:spLocks xmlns:a="http://schemas.openxmlformats.org/drawingml/2006/main" noGrp="1"/>
          </p:cNvSpPr>
          <p:nvPr/>
        </p:nvSpPr>
        <p:spPr>
          <a:xfrm xmlns:a="http://schemas.openxmlformats.org/drawingml/2006/main">
            <a:off x="552450" y="2381250"/>
            <a:ext cx="2476500" cy="952500"/>
          </a:xfrm>
          <a:prstGeom xmlns:a="http://schemas.openxmlformats.org/drawingml/2006/main" prst="rect">
            <a:avLst/>
          </a:prstGeom>
          <a:solidFill xmlns:a="http://schemas.openxmlformats.org/drawingml/2006/main">
            <a:srgbClr val="DDEDE7"/>
          </a:solidFill>
          <a:ln xmlns:a="http://schemas.openxmlformats.org/drawingml/2006/main" w="9525">
            <a:solidFill>
              <a:srgbClr val="087E83"/>
            </a:solidFill>
            <a:prstDash val="solid"/>
          </a:ln>
        </p:spPr>
      </p:sp>
      <p:sp>
        <p:nvSpPr>
          <p:cNvPr id="6" name="">
            <a:extLst xmlns:a="http://schemas.openxmlformats.org/drawingml/2006/main">
              <a:ext uri="{FF2B5EF4-FFF2-40B4-BE49-F238E27FC236}">
                <a16:creationId xmlns:a16="http://schemas.microsoft.com/office/drawing/2014/main" id="{7969C7B3-1500-4D0F-B401-14D428311F45}"/>
              </a:ext>
            </a:extLst>
          </p:cNvPr>
          <p:cNvSpPr>
            <a:spLocks xmlns:a="http://schemas.openxmlformats.org/drawingml/2006/main" noGrp="1"/>
          </p:cNvSpPr>
          <p:nvPr/>
        </p:nvSpPr>
        <p:spPr>
          <a:xfrm xmlns:a="http://schemas.openxmlformats.org/drawingml/2006/main">
            <a:off x="666750" y="2505075"/>
            <a:ext cx="2247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650" b="1">
                <a:solidFill>
                  <a:srgbClr val="132A35"/>
                </a:solidFill>
                <a:latin typeface="DejaVu Sans"/>
                <a:ea typeface="DejaVu Sans"/>
                <a:cs typeface="DejaVu Sans"/>
              </a:defRPr>
            </a:defPPr>
            <a:lvl1pPr algn="ctr">
              <a:defRPr sz="1650" b="1">
                <a:solidFill>
                  <a:srgbClr val="132A35"/>
                </a:solidFill>
                <a:latin typeface="DejaVu Sans"/>
                <a:ea typeface="DejaVu Sans"/>
                <a:cs typeface="DejaVu Sans"/>
              </a:defRPr>
            </a:lvl1pPr>
            <a:lvl2pPr algn="ctr">
              <a:defRPr sz="1650" b="1">
                <a:solidFill>
                  <a:srgbClr val="132A35"/>
                </a:solidFill>
                <a:latin typeface="DejaVu Sans"/>
                <a:ea typeface="DejaVu Sans"/>
                <a:cs typeface="DejaVu Sans"/>
              </a:defRPr>
            </a:lvl2pPr>
            <a:lvl3pPr algn="ctr">
              <a:defRPr sz="1650" b="1">
                <a:solidFill>
                  <a:srgbClr val="132A35"/>
                </a:solidFill>
                <a:latin typeface="DejaVu Sans"/>
                <a:ea typeface="DejaVu Sans"/>
                <a:cs typeface="DejaVu Sans"/>
              </a:defRPr>
            </a:lvl3pPr>
            <a:lvl4pPr algn="ctr">
              <a:defRPr sz="1650" b="1">
                <a:solidFill>
                  <a:srgbClr val="132A35"/>
                </a:solidFill>
                <a:latin typeface="DejaVu Sans"/>
                <a:ea typeface="DejaVu Sans"/>
                <a:cs typeface="DejaVu Sans"/>
              </a:defRPr>
            </a:lvl4pPr>
            <a:lvl5pPr algn="ctr">
              <a:defRPr sz="1650" b="1">
                <a:solidFill>
                  <a:srgbClr val="132A35"/>
                </a:solidFill>
                <a:latin typeface="DejaVu Sans"/>
                <a:ea typeface="DejaVu Sans"/>
                <a:cs typeface="DejaVu Sans"/>
              </a:defRPr>
            </a:lvl5pPr>
            <a:lvl6pPr algn="ctr">
              <a:defRPr sz="1650" b="1">
                <a:solidFill>
                  <a:srgbClr val="132A35"/>
                </a:solidFill>
                <a:latin typeface="DejaVu Sans"/>
                <a:ea typeface="DejaVu Sans"/>
                <a:cs typeface="DejaVu Sans"/>
              </a:defRPr>
            </a:lvl6pPr>
            <a:lvl7pPr algn="ctr">
              <a:defRPr sz="1650" b="1">
                <a:solidFill>
                  <a:srgbClr val="132A35"/>
                </a:solidFill>
                <a:latin typeface="DejaVu Sans"/>
                <a:ea typeface="DejaVu Sans"/>
                <a:cs typeface="DejaVu Sans"/>
              </a:defRPr>
            </a:lvl7pPr>
            <a:lvl8pPr algn="ctr">
              <a:defRPr sz="1650" b="1">
                <a:solidFill>
                  <a:srgbClr val="132A35"/>
                </a:solidFill>
                <a:latin typeface="DejaVu Sans"/>
                <a:ea typeface="DejaVu Sans"/>
                <a:cs typeface="DejaVu Sans"/>
              </a:defRPr>
            </a:lvl8pPr>
            <a:lvl9pPr algn="ctr">
              <a:defRPr sz="1650" b="1">
                <a:solidFill>
                  <a:srgbClr val="132A35"/>
                </a:solidFill>
                <a:latin typeface="DejaVu Sans"/>
                <a:ea typeface="DejaVu Sans"/>
                <a:cs typeface="DejaVu Sans"/>
              </a:defRPr>
            </a:lvl9pPr>
          </a:lstStyle>
          <a:p xmlns:a="http://schemas.openxmlformats.org/drawingml/2006/main">
            <a:pPr algn="ctr">
              <a:defRPr sz="1650" b="1">
                <a:solidFill>
                  <a:srgbClr val="132A35"/>
                </a:solidFill>
                <a:latin typeface="DejaVu Sans"/>
                <a:ea typeface="DejaVu Sans"/>
                <a:cs typeface="DejaVu Sans"/>
              </a:defRPr>
            </a:pPr>
            <a:r>
              <a:rPr sz="1650" b="1">
                <a:solidFill>
                  <a:srgbClr val="132A35"/>
                </a:solidFill>
                <a:latin typeface="DejaVu Sans"/>
                <a:ea typeface="DejaVu Sans"/>
                <a:cs typeface="DejaVu Sans"/>
              </a:rPr>
              <a:t>Mean aggregation</a:t>
            </a:r>
          </a:p>
          <a:p xmlns:a="http://schemas.openxmlformats.org/drawingml/2006/main">
            <a:pPr algn="ctr">
              <a:defRPr sz="1650" b="1">
                <a:solidFill>
                  <a:srgbClr val="132A35"/>
                </a:solidFill>
                <a:latin typeface="DejaVu Sans"/>
                <a:ea typeface="DejaVu Sans"/>
                <a:cs typeface="DejaVu Sans"/>
              </a:defRPr>
            </a:pPr>
            <a:r>
              <a:rPr sz="1650" b="1">
                <a:solidFill>
                  <a:srgbClr val="132A35"/>
                </a:solidFill>
                <a:latin typeface="DejaVu Sans"/>
                <a:ea typeface="DejaVu Sans"/>
                <a:cs typeface="DejaVu Sans"/>
              </a:rPr>
              <a:t>by metapath</a:t>
            </a:r>
          </a:p>
        </p:txBody>
      </p:sp>
      <p:sp>
        <p:nvSpPr>
          <p:cNvPr id="7" name="">
            <a:extLst xmlns:a="http://schemas.openxmlformats.org/drawingml/2006/main">
              <a:ext uri="{FF2B5EF4-FFF2-40B4-BE49-F238E27FC236}">
                <a16:creationId xmlns:a16="http://schemas.microsoft.com/office/drawing/2014/main" id="{C9AC7CDA-05F3-413E-B29E-B36C5DA229F6}"/>
              </a:ext>
            </a:extLst>
          </p:cNvPr>
          <p:cNvSpPr>
            <a:spLocks xmlns:a="http://schemas.openxmlformats.org/drawingml/2006/main" noGrp="1"/>
          </p:cNvSpPr>
          <p:nvPr/>
        </p:nvSpPr>
        <p:spPr>
          <a:xfrm xmlns:a="http://schemas.openxmlformats.org/drawingml/2006/main">
            <a:off x="3524250" y="2381250"/>
            <a:ext cx="2333625" cy="952500"/>
          </a:xfrm>
          <a:prstGeom xmlns:a="http://schemas.openxmlformats.org/drawingml/2006/main" prst="rect">
            <a:avLst/>
          </a:prstGeom>
          <a:solidFill xmlns:a="http://schemas.openxmlformats.org/drawingml/2006/main">
            <a:srgbClr val="E4EBEF"/>
          </a:solidFill>
          <a:ln xmlns:a="http://schemas.openxmlformats.org/drawingml/2006/main" w="9525">
            <a:solidFill>
              <a:srgbClr val="087E83"/>
            </a:solidFill>
            <a:prstDash val="solid"/>
          </a:ln>
        </p:spPr>
      </p:sp>
      <p:sp>
        <p:nvSpPr>
          <p:cNvPr id="8" name="">
            <a:extLst xmlns:a="http://schemas.openxmlformats.org/drawingml/2006/main">
              <a:ext uri="{FF2B5EF4-FFF2-40B4-BE49-F238E27FC236}">
                <a16:creationId xmlns:a16="http://schemas.microsoft.com/office/drawing/2014/main" id="{A3146A91-0E54-49B3-BC46-3A02B943114E}"/>
              </a:ext>
            </a:extLst>
          </p:cNvPr>
          <p:cNvSpPr>
            <a:spLocks xmlns:a="http://schemas.openxmlformats.org/drawingml/2006/main" noGrp="1"/>
          </p:cNvSpPr>
          <p:nvPr/>
        </p:nvSpPr>
        <p:spPr>
          <a:xfrm xmlns:a="http://schemas.openxmlformats.org/drawingml/2006/main">
            <a:off x="3638550" y="2505075"/>
            <a:ext cx="21050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650" b="1">
                <a:solidFill>
                  <a:srgbClr val="132A35"/>
                </a:solidFill>
                <a:latin typeface="DejaVu Sans"/>
                <a:ea typeface="DejaVu Sans"/>
                <a:cs typeface="DejaVu Sans"/>
              </a:defRPr>
            </a:defPPr>
            <a:lvl1pPr algn="ctr">
              <a:defRPr sz="1650" b="1">
                <a:solidFill>
                  <a:srgbClr val="132A35"/>
                </a:solidFill>
                <a:latin typeface="DejaVu Sans"/>
                <a:ea typeface="DejaVu Sans"/>
                <a:cs typeface="DejaVu Sans"/>
              </a:defRPr>
            </a:lvl1pPr>
            <a:lvl2pPr algn="ctr">
              <a:defRPr sz="1650" b="1">
                <a:solidFill>
                  <a:srgbClr val="132A35"/>
                </a:solidFill>
                <a:latin typeface="DejaVu Sans"/>
                <a:ea typeface="DejaVu Sans"/>
                <a:cs typeface="DejaVu Sans"/>
              </a:defRPr>
            </a:lvl2pPr>
            <a:lvl3pPr algn="ctr">
              <a:defRPr sz="1650" b="1">
                <a:solidFill>
                  <a:srgbClr val="132A35"/>
                </a:solidFill>
                <a:latin typeface="DejaVu Sans"/>
                <a:ea typeface="DejaVu Sans"/>
                <a:cs typeface="DejaVu Sans"/>
              </a:defRPr>
            </a:lvl3pPr>
            <a:lvl4pPr algn="ctr">
              <a:defRPr sz="1650" b="1">
                <a:solidFill>
                  <a:srgbClr val="132A35"/>
                </a:solidFill>
                <a:latin typeface="DejaVu Sans"/>
                <a:ea typeface="DejaVu Sans"/>
                <a:cs typeface="DejaVu Sans"/>
              </a:defRPr>
            </a:lvl4pPr>
            <a:lvl5pPr algn="ctr">
              <a:defRPr sz="1650" b="1">
                <a:solidFill>
                  <a:srgbClr val="132A35"/>
                </a:solidFill>
                <a:latin typeface="DejaVu Sans"/>
                <a:ea typeface="DejaVu Sans"/>
                <a:cs typeface="DejaVu Sans"/>
              </a:defRPr>
            </a:lvl5pPr>
            <a:lvl6pPr algn="ctr">
              <a:defRPr sz="1650" b="1">
                <a:solidFill>
                  <a:srgbClr val="132A35"/>
                </a:solidFill>
                <a:latin typeface="DejaVu Sans"/>
                <a:ea typeface="DejaVu Sans"/>
                <a:cs typeface="DejaVu Sans"/>
              </a:defRPr>
            </a:lvl6pPr>
            <a:lvl7pPr algn="ctr">
              <a:defRPr sz="1650" b="1">
                <a:solidFill>
                  <a:srgbClr val="132A35"/>
                </a:solidFill>
                <a:latin typeface="DejaVu Sans"/>
                <a:ea typeface="DejaVu Sans"/>
                <a:cs typeface="DejaVu Sans"/>
              </a:defRPr>
            </a:lvl7pPr>
            <a:lvl8pPr algn="ctr">
              <a:defRPr sz="1650" b="1">
                <a:solidFill>
                  <a:srgbClr val="132A35"/>
                </a:solidFill>
                <a:latin typeface="DejaVu Sans"/>
                <a:ea typeface="DejaVu Sans"/>
                <a:cs typeface="DejaVu Sans"/>
              </a:defRPr>
            </a:lvl8pPr>
            <a:lvl9pPr algn="ctr">
              <a:defRPr sz="1650" b="1">
                <a:solidFill>
                  <a:srgbClr val="132A35"/>
                </a:solidFill>
                <a:latin typeface="DejaVu Sans"/>
                <a:ea typeface="DejaVu Sans"/>
                <a:cs typeface="DejaVu Sans"/>
              </a:defRPr>
            </a:lvl9pPr>
          </a:lstStyle>
          <a:p xmlns:a="http://schemas.openxmlformats.org/drawingml/2006/main">
            <a:pPr algn="ctr">
              <a:defRPr sz="1650" b="1">
                <a:solidFill>
                  <a:srgbClr val="132A35"/>
                </a:solidFill>
                <a:latin typeface="DejaVu Sans"/>
                <a:ea typeface="DejaVu Sans"/>
                <a:cs typeface="DejaVu Sans"/>
              </a:defRPr>
            </a:pPr>
            <a:r>
              <a:rPr sz="1650" b="1">
                <a:solidFill>
                  <a:srgbClr val="132A35"/>
                </a:solidFill>
                <a:latin typeface="DejaVu Sans"/>
                <a:ea typeface="DejaVu Sans"/>
                <a:cs typeface="DejaVu Sans"/>
              </a:rPr>
              <a:t>Per-path MLPs</a:t>
            </a:r>
          </a:p>
          <a:p xmlns:a="http://schemas.openxmlformats.org/drawingml/2006/main">
            <a:pPr algn="ctr">
              <a:defRPr sz="1650" b="1">
                <a:solidFill>
                  <a:srgbClr val="132A35"/>
                </a:solidFill>
                <a:latin typeface="DejaVu Sans"/>
                <a:ea typeface="DejaVu Sans"/>
                <a:cs typeface="DejaVu Sans"/>
              </a:defRPr>
            </a:pPr>
            <a:r>
              <a:rPr sz="1650" b="1">
                <a:solidFill>
                  <a:srgbClr val="132A35"/>
                </a:solidFill>
                <a:latin typeface="DejaVu Sans"/>
                <a:ea typeface="DejaVu Sans"/>
                <a:cs typeface="DejaVu Sans"/>
              </a:rPr>
              <a:t>Common dimension d</a:t>
            </a:r>
          </a:p>
        </p:txBody>
      </p:sp>
      <p:sp>
        <p:nvSpPr>
          <p:cNvPr id="9" name="">
            <a:extLst xmlns:a="http://schemas.openxmlformats.org/drawingml/2006/main">
              <a:ext uri="{FF2B5EF4-FFF2-40B4-BE49-F238E27FC236}">
                <a16:creationId xmlns:a16="http://schemas.microsoft.com/office/drawing/2014/main" id="{B33AD89A-4ECE-4873-B2E1-D5E0C8FCC266}"/>
              </a:ext>
            </a:extLst>
          </p:cNvPr>
          <p:cNvSpPr>
            <a:spLocks xmlns:a="http://schemas.openxmlformats.org/drawingml/2006/main" noGrp="1"/>
          </p:cNvSpPr>
          <p:nvPr/>
        </p:nvSpPr>
        <p:spPr>
          <a:xfrm xmlns:a="http://schemas.openxmlformats.org/drawingml/2006/main">
            <a:off x="6362700" y="2381250"/>
            <a:ext cx="2333625" cy="952500"/>
          </a:xfrm>
          <a:prstGeom xmlns:a="http://schemas.openxmlformats.org/drawingml/2006/main" prst="rect">
            <a:avLst/>
          </a:prstGeom>
          <a:solidFill xmlns:a="http://schemas.openxmlformats.org/drawingml/2006/main">
            <a:srgbClr val="E9E0F1"/>
          </a:solidFill>
          <a:ln xmlns:a="http://schemas.openxmlformats.org/drawingml/2006/main" w="9525">
            <a:solidFill>
              <a:srgbClr val="087E83"/>
            </a:solidFill>
            <a:prstDash val="solid"/>
          </a:ln>
        </p:spPr>
      </p:sp>
      <p:sp>
        <p:nvSpPr>
          <p:cNvPr id="10" name="">
            <a:extLst xmlns:a="http://schemas.openxmlformats.org/drawingml/2006/main">
              <a:ext uri="{FF2B5EF4-FFF2-40B4-BE49-F238E27FC236}">
                <a16:creationId xmlns:a16="http://schemas.microsoft.com/office/drawing/2014/main" id="{F3425C29-D05F-40E3-974E-A91318367610}"/>
              </a:ext>
            </a:extLst>
          </p:cNvPr>
          <p:cNvSpPr>
            <a:spLocks xmlns:a="http://schemas.openxmlformats.org/drawingml/2006/main" noGrp="1"/>
          </p:cNvSpPr>
          <p:nvPr/>
        </p:nvSpPr>
        <p:spPr>
          <a:xfrm xmlns:a="http://schemas.openxmlformats.org/drawingml/2006/main">
            <a:off x="6477000" y="2505075"/>
            <a:ext cx="21050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650" b="1">
                <a:solidFill>
                  <a:srgbClr val="132A35"/>
                </a:solidFill>
                <a:latin typeface="DejaVu Sans"/>
                <a:ea typeface="DejaVu Sans"/>
                <a:cs typeface="DejaVu Sans"/>
              </a:defRPr>
            </a:defPPr>
            <a:lvl1pPr algn="ctr">
              <a:defRPr sz="1650" b="1">
                <a:solidFill>
                  <a:srgbClr val="132A35"/>
                </a:solidFill>
                <a:latin typeface="DejaVu Sans"/>
                <a:ea typeface="DejaVu Sans"/>
                <a:cs typeface="DejaVu Sans"/>
              </a:defRPr>
            </a:lvl1pPr>
            <a:lvl2pPr algn="ctr">
              <a:defRPr sz="1650" b="1">
                <a:solidFill>
                  <a:srgbClr val="132A35"/>
                </a:solidFill>
                <a:latin typeface="DejaVu Sans"/>
                <a:ea typeface="DejaVu Sans"/>
                <a:cs typeface="DejaVu Sans"/>
              </a:defRPr>
            </a:lvl2pPr>
            <a:lvl3pPr algn="ctr">
              <a:defRPr sz="1650" b="1">
                <a:solidFill>
                  <a:srgbClr val="132A35"/>
                </a:solidFill>
                <a:latin typeface="DejaVu Sans"/>
                <a:ea typeface="DejaVu Sans"/>
                <a:cs typeface="DejaVu Sans"/>
              </a:defRPr>
            </a:lvl3pPr>
            <a:lvl4pPr algn="ctr">
              <a:defRPr sz="1650" b="1">
                <a:solidFill>
                  <a:srgbClr val="132A35"/>
                </a:solidFill>
                <a:latin typeface="DejaVu Sans"/>
                <a:ea typeface="DejaVu Sans"/>
                <a:cs typeface="DejaVu Sans"/>
              </a:defRPr>
            </a:lvl4pPr>
            <a:lvl5pPr algn="ctr">
              <a:defRPr sz="1650" b="1">
                <a:solidFill>
                  <a:srgbClr val="132A35"/>
                </a:solidFill>
                <a:latin typeface="DejaVu Sans"/>
                <a:ea typeface="DejaVu Sans"/>
                <a:cs typeface="DejaVu Sans"/>
              </a:defRPr>
            </a:lvl5pPr>
            <a:lvl6pPr algn="ctr">
              <a:defRPr sz="1650" b="1">
                <a:solidFill>
                  <a:srgbClr val="132A35"/>
                </a:solidFill>
                <a:latin typeface="DejaVu Sans"/>
                <a:ea typeface="DejaVu Sans"/>
                <a:cs typeface="DejaVu Sans"/>
              </a:defRPr>
            </a:lvl6pPr>
            <a:lvl7pPr algn="ctr">
              <a:defRPr sz="1650" b="1">
                <a:solidFill>
                  <a:srgbClr val="132A35"/>
                </a:solidFill>
                <a:latin typeface="DejaVu Sans"/>
                <a:ea typeface="DejaVu Sans"/>
                <a:cs typeface="DejaVu Sans"/>
              </a:defRPr>
            </a:lvl7pPr>
            <a:lvl8pPr algn="ctr">
              <a:defRPr sz="1650" b="1">
                <a:solidFill>
                  <a:srgbClr val="132A35"/>
                </a:solidFill>
                <a:latin typeface="DejaVu Sans"/>
                <a:ea typeface="DejaVu Sans"/>
                <a:cs typeface="DejaVu Sans"/>
              </a:defRPr>
            </a:lvl8pPr>
            <a:lvl9pPr algn="ctr">
              <a:defRPr sz="1650" b="1">
                <a:solidFill>
                  <a:srgbClr val="132A35"/>
                </a:solidFill>
                <a:latin typeface="DejaVu Sans"/>
                <a:ea typeface="DejaVu Sans"/>
                <a:cs typeface="DejaVu Sans"/>
              </a:defRPr>
            </a:lvl9pPr>
          </a:lstStyle>
          <a:p xmlns:a="http://schemas.openxmlformats.org/drawingml/2006/main">
            <a:pPr algn="ctr">
              <a:defRPr sz="1650" b="1">
                <a:solidFill>
                  <a:srgbClr val="132A35"/>
                </a:solidFill>
                <a:latin typeface="DejaVu Sans"/>
                <a:ea typeface="DejaVu Sans"/>
                <a:cs typeface="DejaVu Sans"/>
              </a:defRPr>
            </a:pPr>
            <a:r>
              <a:rPr sz="1650" b="1">
                <a:solidFill>
                  <a:srgbClr val="132A35"/>
                </a:solidFill>
                <a:latin typeface="DejaVu Sans"/>
                <a:ea typeface="DejaVu Sans"/>
                <a:cs typeface="DejaVu Sans"/>
              </a:rPr>
              <a:t>Semantic fusion</a:t>
            </a:r>
          </a:p>
          <a:p xmlns:a="http://schemas.openxmlformats.org/drawingml/2006/main">
            <a:pPr algn="ctr">
              <a:defRPr sz="1650" b="1">
                <a:solidFill>
                  <a:srgbClr val="132A35"/>
                </a:solidFill>
                <a:latin typeface="DejaVu Sans"/>
                <a:ea typeface="DejaVu Sans"/>
                <a:cs typeface="DejaVu Sans"/>
              </a:defRPr>
            </a:pPr>
            <a:r>
              <a:rPr sz="1650" b="1">
                <a:solidFill>
                  <a:srgbClr val="132A35"/>
                </a:solidFill>
                <a:latin typeface="DejaVu Sans"/>
                <a:ea typeface="DejaVu Sans"/>
                <a:cs typeface="DejaVu Sans"/>
              </a:rPr>
              <a:t>Q / K / V attention</a:t>
            </a:r>
          </a:p>
        </p:txBody>
      </p:sp>
      <p:sp>
        <p:nvSpPr>
          <p:cNvPr id="11" name="">
            <a:extLst xmlns:a="http://schemas.openxmlformats.org/drawingml/2006/main">
              <a:ext uri="{FF2B5EF4-FFF2-40B4-BE49-F238E27FC236}">
                <a16:creationId xmlns:a16="http://schemas.microsoft.com/office/drawing/2014/main" id="{9B6EAB6E-A74A-4F1E-9370-ACCCDBDDF3AE}"/>
              </a:ext>
            </a:extLst>
          </p:cNvPr>
          <p:cNvSpPr>
            <a:spLocks xmlns:a="http://schemas.openxmlformats.org/drawingml/2006/main" noGrp="1"/>
          </p:cNvSpPr>
          <p:nvPr/>
        </p:nvSpPr>
        <p:spPr>
          <a:xfrm xmlns:a="http://schemas.openxmlformats.org/drawingml/2006/main">
            <a:off x="9201150" y="2381250"/>
            <a:ext cx="2381250" cy="952500"/>
          </a:xfrm>
          <a:prstGeom xmlns:a="http://schemas.openxmlformats.org/drawingml/2006/main" prst="rect">
            <a:avLst/>
          </a:prstGeom>
          <a:solidFill xmlns:a="http://schemas.openxmlformats.org/drawingml/2006/main">
            <a:srgbClr val="F5DEC2"/>
          </a:solidFill>
          <a:ln xmlns:a="http://schemas.openxmlformats.org/drawingml/2006/main" w="9525">
            <a:solidFill>
              <a:srgbClr val="087E83"/>
            </a:solidFill>
            <a:prstDash val="solid"/>
          </a:ln>
        </p:spPr>
      </p:sp>
      <p:sp>
        <p:nvSpPr>
          <p:cNvPr id="12" name="">
            <a:extLst xmlns:a="http://schemas.openxmlformats.org/drawingml/2006/main">
              <a:ext uri="{FF2B5EF4-FFF2-40B4-BE49-F238E27FC236}">
                <a16:creationId xmlns:a16="http://schemas.microsoft.com/office/drawing/2014/main" id="{55A9DA1B-CB5D-49FE-8D5A-317992A5EAC7}"/>
              </a:ext>
            </a:extLst>
          </p:cNvPr>
          <p:cNvSpPr>
            <a:spLocks xmlns:a="http://schemas.openxmlformats.org/drawingml/2006/main" noGrp="1"/>
          </p:cNvSpPr>
          <p:nvPr/>
        </p:nvSpPr>
        <p:spPr>
          <a:xfrm xmlns:a="http://schemas.openxmlformats.org/drawingml/2006/main">
            <a:off x="9315450" y="2505075"/>
            <a:ext cx="2152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650" b="1">
                <a:solidFill>
                  <a:srgbClr val="132A35"/>
                </a:solidFill>
                <a:latin typeface="DejaVu Sans"/>
                <a:ea typeface="DejaVu Sans"/>
                <a:cs typeface="DejaVu Sans"/>
              </a:defRPr>
            </a:defPPr>
            <a:lvl1pPr algn="ctr">
              <a:defRPr sz="1650" b="1">
                <a:solidFill>
                  <a:srgbClr val="132A35"/>
                </a:solidFill>
                <a:latin typeface="DejaVu Sans"/>
                <a:ea typeface="DejaVu Sans"/>
                <a:cs typeface="DejaVu Sans"/>
              </a:defRPr>
            </a:lvl1pPr>
            <a:lvl2pPr algn="ctr">
              <a:defRPr sz="1650" b="1">
                <a:solidFill>
                  <a:srgbClr val="132A35"/>
                </a:solidFill>
                <a:latin typeface="DejaVu Sans"/>
                <a:ea typeface="DejaVu Sans"/>
                <a:cs typeface="DejaVu Sans"/>
              </a:defRPr>
            </a:lvl2pPr>
            <a:lvl3pPr algn="ctr">
              <a:defRPr sz="1650" b="1">
                <a:solidFill>
                  <a:srgbClr val="132A35"/>
                </a:solidFill>
                <a:latin typeface="DejaVu Sans"/>
                <a:ea typeface="DejaVu Sans"/>
                <a:cs typeface="DejaVu Sans"/>
              </a:defRPr>
            </a:lvl3pPr>
            <a:lvl4pPr algn="ctr">
              <a:defRPr sz="1650" b="1">
                <a:solidFill>
                  <a:srgbClr val="132A35"/>
                </a:solidFill>
                <a:latin typeface="DejaVu Sans"/>
                <a:ea typeface="DejaVu Sans"/>
                <a:cs typeface="DejaVu Sans"/>
              </a:defRPr>
            </a:lvl4pPr>
            <a:lvl5pPr algn="ctr">
              <a:defRPr sz="1650" b="1">
                <a:solidFill>
                  <a:srgbClr val="132A35"/>
                </a:solidFill>
                <a:latin typeface="DejaVu Sans"/>
                <a:ea typeface="DejaVu Sans"/>
                <a:cs typeface="DejaVu Sans"/>
              </a:defRPr>
            </a:lvl5pPr>
            <a:lvl6pPr algn="ctr">
              <a:defRPr sz="1650" b="1">
                <a:solidFill>
                  <a:srgbClr val="132A35"/>
                </a:solidFill>
                <a:latin typeface="DejaVu Sans"/>
                <a:ea typeface="DejaVu Sans"/>
                <a:cs typeface="DejaVu Sans"/>
              </a:defRPr>
            </a:lvl6pPr>
            <a:lvl7pPr algn="ctr">
              <a:defRPr sz="1650" b="1">
                <a:solidFill>
                  <a:srgbClr val="132A35"/>
                </a:solidFill>
                <a:latin typeface="DejaVu Sans"/>
                <a:ea typeface="DejaVu Sans"/>
                <a:cs typeface="DejaVu Sans"/>
              </a:defRPr>
            </a:lvl7pPr>
            <a:lvl8pPr algn="ctr">
              <a:defRPr sz="1650" b="1">
                <a:solidFill>
                  <a:srgbClr val="132A35"/>
                </a:solidFill>
                <a:latin typeface="DejaVu Sans"/>
                <a:ea typeface="DejaVu Sans"/>
                <a:cs typeface="DejaVu Sans"/>
              </a:defRPr>
            </a:lvl8pPr>
            <a:lvl9pPr algn="ctr">
              <a:defRPr sz="1650" b="1">
                <a:solidFill>
                  <a:srgbClr val="132A35"/>
                </a:solidFill>
                <a:latin typeface="DejaVu Sans"/>
                <a:ea typeface="DejaVu Sans"/>
                <a:cs typeface="DejaVu Sans"/>
              </a:defRPr>
            </a:lvl9pPr>
          </a:lstStyle>
          <a:p xmlns:a="http://schemas.openxmlformats.org/drawingml/2006/main">
            <a:pPr algn="ctr">
              <a:defRPr sz="1650" b="1">
                <a:solidFill>
                  <a:srgbClr val="132A35"/>
                </a:solidFill>
                <a:latin typeface="DejaVu Sans"/>
                <a:ea typeface="DejaVu Sans"/>
                <a:cs typeface="DejaVu Sans"/>
              </a:defRPr>
            </a:pPr>
            <a:r>
              <a:rPr sz="1650" b="1">
                <a:solidFill>
                  <a:srgbClr val="132A35"/>
                </a:solidFill>
                <a:latin typeface="DejaVu Sans"/>
                <a:ea typeface="DejaVu Sans"/>
                <a:cs typeface="DejaVu Sans"/>
              </a:rPr>
              <a:t>Concatenate</a:t>
            </a:r>
          </a:p>
          <a:p xmlns:a="http://schemas.openxmlformats.org/drawingml/2006/main">
            <a:pPr algn="ctr">
              <a:defRPr sz="1650" b="1">
                <a:solidFill>
                  <a:srgbClr val="132A35"/>
                </a:solidFill>
                <a:latin typeface="DejaVu Sans"/>
                <a:ea typeface="DejaVu Sans"/>
                <a:cs typeface="DejaVu Sans"/>
              </a:defRPr>
            </a:pPr>
            <a:r>
              <a:rPr sz="1650" b="1">
                <a:solidFill>
                  <a:srgbClr val="132A35"/>
                </a:solidFill>
                <a:latin typeface="DejaVu Sans"/>
                <a:ea typeface="DejaVu Sans"/>
                <a:cs typeface="DejaVu Sans"/>
              </a:rPr>
              <a:t>MLP + sigmoid</a:t>
            </a:r>
          </a:p>
        </p:txBody>
      </p:sp>
      <p:sp>
        <p:nvSpPr>
          <p:cNvPr id="16" name="">
            <a:extLst xmlns:a="http://schemas.openxmlformats.org/drawingml/2006/main">
              <a:ext uri="{FF2B5EF4-FFF2-40B4-BE49-F238E27FC236}">
                <a16:creationId xmlns:a16="http://schemas.microsoft.com/office/drawing/2014/main" id="{AC471C52-E377-459E-BA74-E8969BFFE892}"/>
              </a:ext>
            </a:extLst>
          </p:cNvPr>
          <p:cNvSpPr>
            <a:spLocks xmlns:a="http://schemas.openxmlformats.org/drawingml/2006/main" noGrp="1"/>
          </p:cNvSpPr>
          <p:nvPr/>
        </p:nvSpPr>
        <p:spPr>
          <a:xfrm xmlns:a="http://schemas.openxmlformats.org/drawingml/2006/main">
            <a:off x="552450" y="3648075"/>
            <a:ext cx="2571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53676D"/>
                </a:solidFill>
                <a:latin typeface="DejaVu Sans"/>
                <a:ea typeface="DejaVu Sans"/>
                <a:cs typeface="DejaVu Sans"/>
              </a:defRPr>
            </a:defPPr>
            <a:lvl1pPr>
              <a:defRPr sz="1650" b="0">
                <a:solidFill>
                  <a:srgbClr val="53676D"/>
                </a:solidFill>
                <a:latin typeface="DejaVu Sans"/>
                <a:ea typeface="DejaVu Sans"/>
                <a:cs typeface="DejaVu Sans"/>
              </a:defRPr>
            </a:lvl1pPr>
            <a:lvl2pPr>
              <a:defRPr sz="1650" b="0">
                <a:solidFill>
                  <a:srgbClr val="53676D"/>
                </a:solidFill>
                <a:latin typeface="DejaVu Sans"/>
                <a:ea typeface="DejaVu Sans"/>
                <a:cs typeface="DejaVu Sans"/>
              </a:defRPr>
            </a:lvl2pPr>
            <a:lvl3pPr>
              <a:defRPr sz="1650" b="0">
                <a:solidFill>
                  <a:srgbClr val="53676D"/>
                </a:solidFill>
                <a:latin typeface="DejaVu Sans"/>
                <a:ea typeface="DejaVu Sans"/>
                <a:cs typeface="DejaVu Sans"/>
              </a:defRPr>
            </a:lvl3pPr>
            <a:lvl4pPr>
              <a:defRPr sz="1650" b="0">
                <a:solidFill>
                  <a:srgbClr val="53676D"/>
                </a:solidFill>
                <a:latin typeface="DejaVu Sans"/>
                <a:ea typeface="DejaVu Sans"/>
                <a:cs typeface="DejaVu Sans"/>
              </a:defRPr>
            </a:lvl4pPr>
            <a:lvl5pPr>
              <a:defRPr sz="1650" b="0">
                <a:solidFill>
                  <a:srgbClr val="53676D"/>
                </a:solidFill>
                <a:latin typeface="DejaVu Sans"/>
                <a:ea typeface="DejaVu Sans"/>
                <a:cs typeface="DejaVu Sans"/>
              </a:defRPr>
            </a:lvl5pPr>
            <a:lvl6pPr>
              <a:defRPr sz="1650" b="0">
                <a:solidFill>
                  <a:srgbClr val="53676D"/>
                </a:solidFill>
                <a:latin typeface="DejaVu Sans"/>
                <a:ea typeface="DejaVu Sans"/>
                <a:cs typeface="DejaVu Sans"/>
              </a:defRPr>
            </a:lvl6pPr>
            <a:lvl7pPr>
              <a:defRPr sz="1650" b="0">
                <a:solidFill>
                  <a:srgbClr val="53676D"/>
                </a:solidFill>
                <a:latin typeface="DejaVu Sans"/>
                <a:ea typeface="DejaVu Sans"/>
                <a:cs typeface="DejaVu Sans"/>
              </a:defRPr>
            </a:lvl7pPr>
            <a:lvl8pPr>
              <a:defRPr sz="1650" b="0">
                <a:solidFill>
                  <a:srgbClr val="53676D"/>
                </a:solidFill>
                <a:latin typeface="DejaVu Sans"/>
                <a:ea typeface="DejaVu Sans"/>
                <a:cs typeface="DejaVu Sans"/>
              </a:defRPr>
            </a:lvl8pPr>
            <a:lvl9pPr>
              <a:defRPr sz="1650" b="0">
                <a:solidFill>
                  <a:srgbClr val="53676D"/>
                </a:solidFill>
                <a:latin typeface="DejaVu Sans"/>
                <a:ea typeface="DejaVu Sans"/>
                <a:cs typeface="DejaVu Sans"/>
              </a:defRPr>
            </a:lvl9pPr>
          </a:lstStyle>
          <a:p xmlns:a="http://schemas.openxmlformats.org/drawingml/2006/main">
            <a:pP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S, S–I, S–I–C, S–R, S–L</a:t>
            </a:r>
          </a:p>
          <a:p xmlns:a="http://schemas.openxmlformats.org/drawingml/2006/main">
            <a:pP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Cache each seller’s vectors</a:t>
            </a:r>
          </a:p>
          <a:p xmlns:a="http://schemas.openxmlformats.org/drawingml/2006/main">
            <a:pP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Reuse across epochs</a:t>
            </a:r>
          </a:p>
        </p:txBody>
      </p:sp>
      <p:sp>
        <p:nvSpPr>
          <p:cNvPr id="17" name="">
            <a:extLst xmlns:a="http://schemas.openxmlformats.org/drawingml/2006/main">
              <a:ext uri="{FF2B5EF4-FFF2-40B4-BE49-F238E27FC236}">
                <a16:creationId xmlns:a16="http://schemas.microsoft.com/office/drawing/2014/main" id="{360E663F-7037-4F0C-A332-AAD067D37900}"/>
              </a:ext>
            </a:extLst>
          </p:cNvPr>
          <p:cNvSpPr>
            <a:spLocks xmlns:a="http://schemas.openxmlformats.org/drawingml/2006/main" noGrp="1"/>
          </p:cNvSpPr>
          <p:nvPr/>
        </p:nvSpPr>
        <p:spPr>
          <a:xfrm xmlns:a="http://schemas.openxmlformats.org/drawingml/2006/main">
            <a:off x="3524250" y="3648075"/>
            <a:ext cx="2381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53676D"/>
                </a:solidFill>
                <a:latin typeface="DejaVu Sans"/>
                <a:ea typeface="DejaVu Sans"/>
                <a:cs typeface="DejaVu Sans"/>
              </a:defRPr>
            </a:defPPr>
            <a:lvl1pPr>
              <a:defRPr sz="1650" b="0">
                <a:solidFill>
                  <a:srgbClr val="53676D"/>
                </a:solidFill>
                <a:latin typeface="DejaVu Sans"/>
                <a:ea typeface="DejaVu Sans"/>
                <a:cs typeface="DejaVu Sans"/>
              </a:defRPr>
            </a:lvl1pPr>
            <a:lvl2pPr>
              <a:defRPr sz="1650" b="0">
                <a:solidFill>
                  <a:srgbClr val="53676D"/>
                </a:solidFill>
                <a:latin typeface="DejaVu Sans"/>
                <a:ea typeface="DejaVu Sans"/>
                <a:cs typeface="DejaVu Sans"/>
              </a:defRPr>
            </a:lvl2pPr>
            <a:lvl3pPr>
              <a:defRPr sz="1650" b="0">
                <a:solidFill>
                  <a:srgbClr val="53676D"/>
                </a:solidFill>
                <a:latin typeface="DejaVu Sans"/>
                <a:ea typeface="DejaVu Sans"/>
                <a:cs typeface="DejaVu Sans"/>
              </a:defRPr>
            </a:lvl3pPr>
            <a:lvl4pPr>
              <a:defRPr sz="1650" b="0">
                <a:solidFill>
                  <a:srgbClr val="53676D"/>
                </a:solidFill>
                <a:latin typeface="DejaVu Sans"/>
                <a:ea typeface="DejaVu Sans"/>
                <a:cs typeface="DejaVu Sans"/>
              </a:defRPr>
            </a:lvl4pPr>
            <a:lvl5pPr>
              <a:defRPr sz="1650" b="0">
                <a:solidFill>
                  <a:srgbClr val="53676D"/>
                </a:solidFill>
                <a:latin typeface="DejaVu Sans"/>
                <a:ea typeface="DejaVu Sans"/>
                <a:cs typeface="DejaVu Sans"/>
              </a:defRPr>
            </a:lvl5pPr>
            <a:lvl6pPr>
              <a:defRPr sz="1650" b="0">
                <a:solidFill>
                  <a:srgbClr val="53676D"/>
                </a:solidFill>
                <a:latin typeface="DejaVu Sans"/>
                <a:ea typeface="DejaVu Sans"/>
                <a:cs typeface="DejaVu Sans"/>
              </a:defRPr>
            </a:lvl6pPr>
            <a:lvl7pPr>
              <a:defRPr sz="1650" b="0">
                <a:solidFill>
                  <a:srgbClr val="53676D"/>
                </a:solidFill>
                <a:latin typeface="DejaVu Sans"/>
                <a:ea typeface="DejaVu Sans"/>
                <a:cs typeface="DejaVu Sans"/>
              </a:defRPr>
            </a:lvl7pPr>
            <a:lvl8pPr>
              <a:defRPr sz="1650" b="0">
                <a:solidFill>
                  <a:srgbClr val="53676D"/>
                </a:solidFill>
                <a:latin typeface="DejaVu Sans"/>
                <a:ea typeface="DejaVu Sans"/>
                <a:cs typeface="DejaVu Sans"/>
              </a:defRPr>
            </a:lvl8pPr>
            <a:lvl9pPr>
              <a:defRPr sz="1650" b="0">
                <a:solidFill>
                  <a:srgbClr val="53676D"/>
                </a:solidFill>
                <a:latin typeface="DejaVu Sans"/>
                <a:ea typeface="DejaVu Sans"/>
                <a:cs typeface="DejaVu Sans"/>
              </a:defRPr>
            </a:lvl9pPr>
          </a:lstStyle>
          <a:p xmlns:a="http://schemas.openxmlformats.org/drawingml/2006/main">
            <a:pP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One projection per path</a:t>
            </a:r>
          </a:p>
          <a:p xmlns:a="http://schemas.openxmlformats.org/drawingml/2006/main">
            <a:pP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Stack K channels</a:t>
            </a:r>
          </a:p>
          <a:p xmlns:a="http://schemas.openxmlformats.org/drawingml/2006/main">
            <a:pP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Tensor: B × K × d</a:t>
            </a:r>
          </a:p>
        </p:txBody>
      </p:sp>
      <p:sp>
        <p:nvSpPr>
          <p:cNvPr id="18" name="">
            <a:extLst xmlns:a="http://schemas.openxmlformats.org/drawingml/2006/main">
              <a:ext uri="{FF2B5EF4-FFF2-40B4-BE49-F238E27FC236}">
                <a16:creationId xmlns:a16="http://schemas.microsoft.com/office/drawing/2014/main" id="{E9AF6DD9-40F8-47FB-9978-C8F3594D4F1B}"/>
              </a:ext>
            </a:extLst>
          </p:cNvPr>
          <p:cNvSpPr>
            <a:spLocks xmlns:a="http://schemas.openxmlformats.org/drawingml/2006/main" noGrp="1"/>
          </p:cNvSpPr>
          <p:nvPr/>
        </p:nvSpPr>
        <p:spPr>
          <a:xfrm xmlns:a="http://schemas.openxmlformats.org/drawingml/2006/main">
            <a:off x="6362700" y="3648075"/>
            <a:ext cx="2381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53676D"/>
                </a:solidFill>
                <a:latin typeface="DejaVu Sans"/>
                <a:ea typeface="DejaVu Sans"/>
                <a:cs typeface="DejaVu Sans"/>
              </a:defRPr>
            </a:defPPr>
            <a:lvl1pPr>
              <a:defRPr sz="1650" b="0">
                <a:solidFill>
                  <a:srgbClr val="53676D"/>
                </a:solidFill>
                <a:latin typeface="DejaVu Sans"/>
                <a:ea typeface="DejaVu Sans"/>
                <a:cs typeface="DejaVu Sans"/>
              </a:defRPr>
            </a:lvl1pPr>
            <a:lvl2pPr>
              <a:defRPr sz="1650" b="0">
                <a:solidFill>
                  <a:srgbClr val="53676D"/>
                </a:solidFill>
                <a:latin typeface="DejaVu Sans"/>
                <a:ea typeface="DejaVu Sans"/>
                <a:cs typeface="DejaVu Sans"/>
              </a:defRPr>
            </a:lvl2pPr>
            <a:lvl3pPr>
              <a:defRPr sz="1650" b="0">
                <a:solidFill>
                  <a:srgbClr val="53676D"/>
                </a:solidFill>
                <a:latin typeface="DejaVu Sans"/>
                <a:ea typeface="DejaVu Sans"/>
                <a:cs typeface="DejaVu Sans"/>
              </a:defRPr>
            </a:lvl3pPr>
            <a:lvl4pPr>
              <a:defRPr sz="1650" b="0">
                <a:solidFill>
                  <a:srgbClr val="53676D"/>
                </a:solidFill>
                <a:latin typeface="DejaVu Sans"/>
                <a:ea typeface="DejaVu Sans"/>
                <a:cs typeface="DejaVu Sans"/>
              </a:defRPr>
            </a:lvl4pPr>
            <a:lvl5pPr>
              <a:defRPr sz="1650" b="0">
                <a:solidFill>
                  <a:srgbClr val="53676D"/>
                </a:solidFill>
                <a:latin typeface="DejaVu Sans"/>
                <a:ea typeface="DejaVu Sans"/>
                <a:cs typeface="DejaVu Sans"/>
              </a:defRPr>
            </a:lvl5pPr>
            <a:lvl6pPr>
              <a:defRPr sz="1650" b="0">
                <a:solidFill>
                  <a:srgbClr val="53676D"/>
                </a:solidFill>
                <a:latin typeface="DejaVu Sans"/>
                <a:ea typeface="DejaVu Sans"/>
                <a:cs typeface="DejaVu Sans"/>
              </a:defRPr>
            </a:lvl6pPr>
            <a:lvl7pPr>
              <a:defRPr sz="1650" b="0">
                <a:solidFill>
                  <a:srgbClr val="53676D"/>
                </a:solidFill>
                <a:latin typeface="DejaVu Sans"/>
                <a:ea typeface="DejaVu Sans"/>
                <a:cs typeface="DejaVu Sans"/>
              </a:defRPr>
            </a:lvl7pPr>
            <a:lvl8pPr>
              <a:defRPr sz="1650" b="0">
                <a:solidFill>
                  <a:srgbClr val="53676D"/>
                </a:solidFill>
                <a:latin typeface="DejaVu Sans"/>
                <a:ea typeface="DejaVu Sans"/>
                <a:cs typeface="DejaVu Sans"/>
              </a:defRPr>
            </a:lvl8pPr>
            <a:lvl9pPr>
              <a:defRPr sz="1650" b="0">
                <a:solidFill>
                  <a:srgbClr val="53676D"/>
                </a:solidFill>
                <a:latin typeface="DejaVu Sans"/>
                <a:ea typeface="DejaVu Sans"/>
                <a:cs typeface="DejaVu Sans"/>
              </a:defRPr>
            </a:lvl9pPr>
          </a:lstStyle>
          <a:p xmlns:a="http://schemas.openxmlformats.org/drawingml/2006/main">
            <a:pP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Attention across paths</a:t>
            </a:r>
          </a:p>
          <a:p xmlns:a="http://schemas.openxmlformats.org/drawingml/2006/main">
            <a:pP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Residual connection</a:t>
            </a:r>
          </a:p>
          <a:p xmlns:a="http://schemas.openxmlformats.org/drawingml/2006/main">
            <a:pP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Fused seller embedding</a:t>
            </a:r>
          </a:p>
        </p:txBody>
      </p:sp>
      <p:sp>
        <p:nvSpPr>
          <p:cNvPr id="19" name="">
            <a:extLst xmlns:a="http://schemas.openxmlformats.org/drawingml/2006/main">
              <a:ext uri="{FF2B5EF4-FFF2-40B4-BE49-F238E27FC236}">
                <a16:creationId xmlns:a16="http://schemas.microsoft.com/office/drawing/2014/main" id="{36ECE9B4-A720-4C96-9092-9BBC4C63E80E}"/>
              </a:ext>
            </a:extLst>
          </p:cNvPr>
          <p:cNvSpPr>
            <a:spLocks xmlns:a="http://schemas.openxmlformats.org/drawingml/2006/main" noGrp="1"/>
          </p:cNvSpPr>
          <p:nvPr/>
        </p:nvSpPr>
        <p:spPr>
          <a:xfrm xmlns:a="http://schemas.openxmlformats.org/drawingml/2006/main">
            <a:off x="9201150" y="3648075"/>
            <a:ext cx="2476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53676D"/>
                </a:solidFill>
                <a:latin typeface="DejaVu Sans"/>
                <a:ea typeface="DejaVu Sans"/>
                <a:cs typeface="DejaVu Sans"/>
              </a:defRPr>
            </a:defPPr>
            <a:lvl1pPr>
              <a:defRPr sz="1650" b="0">
                <a:solidFill>
                  <a:srgbClr val="53676D"/>
                </a:solidFill>
                <a:latin typeface="DejaVu Sans"/>
                <a:ea typeface="DejaVu Sans"/>
                <a:cs typeface="DejaVu Sans"/>
              </a:defRPr>
            </a:lvl1pPr>
            <a:lvl2pPr>
              <a:defRPr sz="1650" b="0">
                <a:solidFill>
                  <a:srgbClr val="53676D"/>
                </a:solidFill>
                <a:latin typeface="DejaVu Sans"/>
                <a:ea typeface="DejaVu Sans"/>
                <a:cs typeface="DejaVu Sans"/>
              </a:defRPr>
            </a:lvl2pPr>
            <a:lvl3pPr>
              <a:defRPr sz="1650" b="0">
                <a:solidFill>
                  <a:srgbClr val="53676D"/>
                </a:solidFill>
                <a:latin typeface="DejaVu Sans"/>
                <a:ea typeface="DejaVu Sans"/>
                <a:cs typeface="DejaVu Sans"/>
              </a:defRPr>
            </a:lvl3pPr>
            <a:lvl4pPr>
              <a:defRPr sz="1650" b="0">
                <a:solidFill>
                  <a:srgbClr val="53676D"/>
                </a:solidFill>
                <a:latin typeface="DejaVu Sans"/>
                <a:ea typeface="DejaVu Sans"/>
                <a:cs typeface="DejaVu Sans"/>
              </a:defRPr>
            </a:lvl4pPr>
            <a:lvl5pPr>
              <a:defRPr sz="1650" b="0">
                <a:solidFill>
                  <a:srgbClr val="53676D"/>
                </a:solidFill>
                <a:latin typeface="DejaVu Sans"/>
                <a:ea typeface="DejaVu Sans"/>
                <a:cs typeface="DejaVu Sans"/>
              </a:defRPr>
            </a:lvl5pPr>
            <a:lvl6pPr>
              <a:defRPr sz="1650" b="0">
                <a:solidFill>
                  <a:srgbClr val="53676D"/>
                </a:solidFill>
                <a:latin typeface="DejaVu Sans"/>
                <a:ea typeface="DejaVu Sans"/>
                <a:cs typeface="DejaVu Sans"/>
              </a:defRPr>
            </a:lvl6pPr>
            <a:lvl7pPr>
              <a:defRPr sz="1650" b="0">
                <a:solidFill>
                  <a:srgbClr val="53676D"/>
                </a:solidFill>
                <a:latin typeface="DejaVu Sans"/>
                <a:ea typeface="DejaVu Sans"/>
                <a:cs typeface="DejaVu Sans"/>
              </a:defRPr>
            </a:lvl7pPr>
            <a:lvl8pPr>
              <a:defRPr sz="1650" b="0">
                <a:solidFill>
                  <a:srgbClr val="53676D"/>
                </a:solidFill>
                <a:latin typeface="DejaVu Sans"/>
                <a:ea typeface="DejaVu Sans"/>
                <a:cs typeface="DejaVu Sans"/>
              </a:defRPr>
            </a:lvl8pPr>
            <a:lvl9pPr>
              <a:defRPr sz="1650" b="0">
                <a:solidFill>
                  <a:srgbClr val="53676D"/>
                </a:solidFill>
                <a:latin typeface="DejaVu Sans"/>
                <a:ea typeface="DejaVu Sans"/>
                <a:cs typeface="DejaVu Sans"/>
              </a:defRPr>
            </a:lvl9pPr>
          </a:lstStyle>
          <a:p xmlns:a="http://schemas.openxmlformats.org/drawingml/2006/main">
            <a:pP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p(fraud | graph, features)</a:t>
            </a:r>
          </a:p>
          <a:p xmlns:a="http://schemas.openxmlformats.org/drawingml/2006/main">
            <a:pP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Calibrate on validation</a:t>
            </a:r>
          </a:p>
          <a:p xmlns:a="http://schemas.openxmlformats.org/drawingml/2006/main">
            <a:pP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Rank for analyst review</a:t>
            </a:r>
          </a:p>
        </p:txBody>
      </p:sp>
      <p:sp>
        <p:nvSpPr>
          <p:cNvPr id="20" name="">
            <a:extLst xmlns:a="http://schemas.openxmlformats.org/drawingml/2006/main">
              <a:ext uri="{FF2B5EF4-FFF2-40B4-BE49-F238E27FC236}">
                <a16:creationId xmlns:a16="http://schemas.microsoft.com/office/drawing/2014/main" id="{3FEE9C58-AC47-4155-A6EE-F8C19F918664}"/>
              </a:ext>
            </a:extLst>
          </p:cNvPr>
          <p:cNvSpPr>
            <a:spLocks xmlns:a="http://schemas.openxmlformats.org/drawingml/2006/main" noGrp="1"/>
          </p:cNvSpPr>
          <p:nvPr/>
        </p:nvSpPr>
        <p:spPr>
          <a:xfrm xmlns:a="http://schemas.openxmlformats.org/drawingml/2006/main">
            <a:off x="552450" y="5095875"/>
            <a:ext cx="10810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87E83"/>
                </a:solidFill>
                <a:latin typeface="DejaVu Sans"/>
                <a:ea typeface="DejaVu Sans"/>
                <a:cs typeface="DejaVu Sans"/>
              </a:defRPr>
            </a:defPPr>
            <a:lvl1pPr>
              <a:defRPr sz="2100" b="1">
                <a:solidFill>
                  <a:srgbClr val="087E83"/>
                </a:solidFill>
                <a:latin typeface="DejaVu Sans"/>
                <a:ea typeface="DejaVu Sans"/>
                <a:cs typeface="DejaVu Sans"/>
              </a:defRPr>
            </a:lvl1pPr>
            <a:lvl2pPr>
              <a:defRPr sz="2100" b="1">
                <a:solidFill>
                  <a:srgbClr val="087E83"/>
                </a:solidFill>
                <a:latin typeface="DejaVu Sans"/>
                <a:ea typeface="DejaVu Sans"/>
                <a:cs typeface="DejaVu Sans"/>
              </a:defRPr>
            </a:lvl2pPr>
            <a:lvl3pPr>
              <a:defRPr sz="2100" b="1">
                <a:solidFill>
                  <a:srgbClr val="087E83"/>
                </a:solidFill>
                <a:latin typeface="DejaVu Sans"/>
                <a:ea typeface="DejaVu Sans"/>
                <a:cs typeface="DejaVu Sans"/>
              </a:defRPr>
            </a:lvl3pPr>
            <a:lvl4pPr>
              <a:defRPr sz="2100" b="1">
                <a:solidFill>
                  <a:srgbClr val="087E83"/>
                </a:solidFill>
                <a:latin typeface="DejaVu Sans"/>
                <a:ea typeface="DejaVu Sans"/>
                <a:cs typeface="DejaVu Sans"/>
              </a:defRPr>
            </a:lvl4pPr>
            <a:lvl5pPr>
              <a:defRPr sz="2100" b="1">
                <a:solidFill>
                  <a:srgbClr val="087E83"/>
                </a:solidFill>
                <a:latin typeface="DejaVu Sans"/>
                <a:ea typeface="DejaVu Sans"/>
                <a:cs typeface="DejaVu Sans"/>
              </a:defRPr>
            </a:lvl5pPr>
            <a:lvl6pPr>
              <a:defRPr sz="2100" b="1">
                <a:solidFill>
                  <a:srgbClr val="087E83"/>
                </a:solidFill>
                <a:latin typeface="DejaVu Sans"/>
                <a:ea typeface="DejaVu Sans"/>
                <a:cs typeface="DejaVu Sans"/>
              </a:defRPr>
            </a:lvl6pPr>
            <a:lvl7pPr>
              <a:defRPr sz="2100" b="1">
                <a:solidFill>
                  <a:srgbClr val="087E83"/>
                </a:solidFill>
                <a:latin typeface="DejaVu Sans"/>
                <a:ea typeface="DejaVu Sans"/>
                <a:cs typeface="DejaVu Sans"/>
              </a:defRPr>
            </a:lvl7pPr>
            <a:lvl8pPr>
              <a:defRPr sz="2100" b="1">
                <a:solidFill>
                  <a:srgbClr val="087E83"/>
                </a:solidFill>
                <a:latin typeface="DejaVu Sans"/>
                <a:ea typeface="DejaVu Sans"/>
                <a:cs typeface="DejaVu Sans"/>
              </a:defRPr>
            </a:lvl8pPr>
            <a:lvl9pPr>
              <a:defRPr sz="2100" b="1">
                <a:solidFill>
                  <a:srgbClr val="087E83"/>
                </a:solidFill>
                <a:latin typeface="DejaVu Sans"/>
                <a:ea typeface="DejaVu Sans"/>
                <a:cs typeface="DejaVu Sans"/>
              </a:defRPr>
            </a:lvl9pPr>
          </a:lstStyle>
          <a:p xmlns:a="http://schemas.openxmlformats.org/drawingml/2006/main">
            <a:pPr>
              <a:defRPr sz="2100" b="1">
                <a:solidFill>
                  <a:srgbClr val="087E83"/>
                </a:solidFill>
                <a:latin typeface="DejaVu Sans"/>
                <a:ea typeface="DejaVu Sans"/>
                <a:cs typeface="DejaVu Sans"/>
              </a:defRPr>
            </a:pPr>
            <a:r>
              <a:rPr sz="2100" b="1">
                <a:solidFill>
                  <a:srgbClr val="087E83"/>
                </a:solidFill>
                <a:latin typeface="DejaVu Sans"/>
                <a:ea typeface="DejaVu Sans"/>
                <a:cs typeface="DejaVu Sans"/>
              </a:rPr>
              <a:t>Xₚ = Â₁ ··· Âₗ Xtype      hₚ = MLPₚ(Xₚ)</a:t>
            </a:r>
          </a:p>
        </p:txBody>
      </p:sp>
      <p:sp>
        <p:nvSpPr>
          <p:cNvPr id="21" name="">
            <a:extLst xmlns:a="http://schemas.openxmlformats.org/drawingml/2006/main">
              <a:ext uri="{FF2B5EF4-FFF2-40B4-BE49-F238E27FC236}">
                <a16:creationId xmlns:a16="http://schemas.microsoft.com/office/drawing/2014/main" id="{F31E2340-8162-4400-88E1-6262546FC26A}"/>
              </a:ext>
            </a:extLst>
          </p:cNvPr>
          <p:cNvSpPr>
            <a:spLocks xmlns:a="http://schemas.openxmlformats.org/drawingml/2006/main" noGrp="1"/>
          </p:cNvSpPr>
          <p:nvPr/>
        </p:nvSpPr>
        <p:spPr>
          <a:xfrm xmlns:a="http://schemas.openxmlformats.org/drawingml/2006/main">
            <a:off x="552450" y="559117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3676D"/>
                </a:solidFill>
                <a:latin typeface="DejaVu Sans"/>
                <a:ea typeface="DejaVu Sans"/>
                <a:cs typeface="DejaVu Sans"/>
              </a:defRPr>
            </a:defPPr>
            <a:lvl1pPr>
              <a:defRPr sz="1500" b="0">
                <a:solidFill>
                  <a:srgbClr val="53676D"/>
                </a:solidFill>
                <a:latin typeface="DejaVu Sans"/>
                <a:ea typeface="DejaVu Sans"/>
                <a:cs typeface="DejaVu Sans"/>
              </a:defRPr>
            </a:lvl1pPr>
            <a:lvl2pPr>
              <a:defRPr sz="1500" b="0">
                <a:solidFill>
                  <a:srgbClr val="53676D"/>
                </a:solidFill>
                <a:latin typeface="DejaVu Sans"/>
                <a:ea typeface="DejaVu Sans"/>
                <a:cs typeface="DejaVu Sans"/>
              </a:defRPr>
            </a:lvl2pPr>
            <a:lvl3pPr>
              <a:defRPr sz="1500" b="0">
                <a:solidFill>
                  <a:srgbClr val="53676D"/>
                </a:solidFill>
                <a:latin typeface="DejaVu Sans"/>
                <a:ea typeface="DejaVu Sans"/>
                <a:cs typeface="DejaVu Sans"/>
              </a:defRPr>
            </a:lvl3pPr>
            <a:lvl4pPr>
              <a:defRPr sz="1500" b="0">
                <a:solidFill>
                  <a:srgbClr val="53676D"/>
                </a:solidFill>
                <a:latin typeface="DejaVu Sans"/>
                <a:ea typeface="DejaVu Sans"/>
                <a:cs typeface="DejaVu Sans"/>
              </a:defRPr>
            </a:lvl4pPr>
            <a:lvl5pPr>
              <a:defRPr sz="1500" b="0">
                <a:solidFill>
                  <a:srgbClr val="53676D"/>
                </a:solidFill>
                <a:latin typeface="DejaVu Sans"/>
                <a:ea typeface="DejaVu Sans"/>
                <a:cs typeface="DejaVu Sans"/>
              </a:defRPr>
            </a:lvl5pPr>
            <a:lvl6pPr>
              <a:defRPr sz="1500" b="0">
                <a:solidFill>
                  <a:srgbClr val="53676D"/>
                </a:solidFill>
                <a:latin typeface="DejaVu Sans"/>
                <a:ea typeface="DejaVu Sans"/>
                <a:cs typeface="DejaVu Sans"/>
              </a:defRPr>
            </a:lvl6pPr>
            <a:lvl7pPr>
              <a:defRPr sz="1500" b="0">
                <a:solidFill>
                  <a:srgbClr val="53676D"/>
                </a:solidFill>
                <a:latin typeface="DejaVu Sans"/>
                <a:ea typeface="DejaVu Sans"/>
                <a:cs typeface="DejaVu Sans"/>
              </a:defRPr>
            </a:lvl7pPr>
            <a:lvl8pPr>
              <a:defRPr sz="1500" b="0">
                <a:solidFill>
                  <a:srgbClr val="53676D"/>
                </a:solidFill>
                <a:latin typeface="DejaVu Sans"/>
                <a:ea typeface="DejaVu Sans"/>
                <a:cs typeface="DejaVu Sans"/>
              </a:defRPr>
            </a:lvl8pPr>
            <a:lvl9pPr>
              <a:defRPr sz="1500" b="0">
                <a:solidFill>
                  <a:srgbClr val="53676D"/>
                </a:solidFill>
                <a:latin typeface="DejaVu Sans"/>
                <a:ea typeface="DejaVu Sans"/>
                <a:cs typeface="DejaVu Sans"/>
              </a:defRPr>
            </a:lvl9pPr>
          </a:lstStyle>
          <a:p xmlns:a="http://schemas.openxmlformats.org/drawingml/2006/main">
            <a:pPr>
              <a:defRPr sz="1500" b="0">
                <a:solidFill>
                  <a:srgbClr val="53676D"/>
                </a:solidFill>
                <a:latin typeface="DejaVu Sans"/>
                <a:ea typeface="DejaVu Sans"/>
                <a:cs typeface="DejaVu Sans"/>
              </a:defRPr>
            </a:pPr>
            <a:r>
              <a:rPr sz="1500" b="0">
                <a:solidFill>
                  <a:srgbClr val="53676D"/>
                </a:solidFill>
                <a:latin typeface="DejaVu Sans"/>
                <a:ea typeface="DejaVu Sans"/>
                <a:cs typeface="DejaVu Sans"/>
              </a:rPr>
              <a:t>B: sellers per batch     K: metapath channels     d: hidden width     Â: row-normalized adjacency</a:t>
            </a:r>
          </a:p>
        </p:txBody>
      </p:sp>
      <p:sp>
        <p:nvSpPr>
          <p:cNvPr id="22" name="">
            <a:extLst xmlns:a="http://schemas.openxmlformats.org/drawingml/2006/main">
              <a:ext uri="{FF2B5EF4-FFF2-40B4-BE49-F238E27FC236}">
                <a16:creationId xmlns:a16="http://schemas.microsoft.com/office/drawing/2014/main" id="{B0428F32-15C5-4F10-9336-3BCA7F9632A4}"/>
              </a:ext>
            </a:extLst>
          </p:cNvPr>
          <p:cNvSpPr>
            <a:spLocks xmlns:a="http://schemas.openxmlformats.org/drawingml/2006/main" noGrp="1"/>
          </p:cNvSpPr>
          <p:nvPr/>
        </p:nvSpPr>
        <p:spPr>
          <a:xfrm xmlns:a="http://schemas.openxmlformats.org/drawingml/2006/main">
            <a:off x="552450" y="6296025"/>
            <a:ext cx="1104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3676D"/>
                </a:solidFill>
                <a:latin typeface="DejaVu Sans"/>
                <a:ea typeface="DejaVu Sans"/>
                <a:cs typeface="DejaVu Sans"/>
              </a:defRPr>
            </a:defPPr>
            <a:lvl1pPr>
              <a:defRPr sz="1350" b="0">
                <a:solidFill>
                  <a:srgbClr val="53676D"/>
                </a:solidFill>
                <a:latin typeface="DejaVu Sans"/>
                <a:ea typeface="DejaVu Sans"/>
                <a:cs typeface="DejaVu Sans"/>
              </a:defRPr>
            </a:lvl1pPr>
            <a:lvl2pPr>
              <a:defRPr sz="1350" b="0">
                <a:solidFill>
                  <a:srgbClr val="53676D"/>
                </a:solidFill>
                <a:latin typeface="DejaVu Sans"/>
                <a:ea typeface="DejaVu Sans"/>
                <a:cs typeface="DejaVu Sans"/>
              </a:defRPr>
            </a:lvl2pPr>
            <a:lvl3pPr>
              <a:defRPr sz="1350" b="0">
                <a:solidFill>
                  <a:srgbClr val="53676D"/>
                </a:solidFill>
                <a:latin typeface="DejaVu Sans"/>
                <a:ea typeface="DejaVu Sans"/>
                <a:cs typeface="DejaVu Sans"/>
              </a:defRPr>
            </a:lvl3pPr>
            <a:lvl4pPr>
              <a:defRPr sz="1350" b="0">
                <a:solidFill>
                  <a:srgbClr val="53676D"/>
                </a:solidFill>
                <a:latin typeface="DejaVu Sans"/>
                <a:ea typeface="DejaVu Sans"/>
                <a:cs typeface="DejaVu Sans"/>
              </a:defRPr>
            </a:lvl4pPr>
            <a:lvl5pPr>
              <a:defRPr sz="1350" b="0">
                <a:solidFill>
                  <a:srgbClr val="53676D"/>
                </a:solidFill>
                <a:latin typeface="DejaVu Sans"/>
                <a:ea typeface="DejaVu Sans"/>
                <a:cs typeface="DejaVu Sans"/>
              </a:defRPr>
            </a:lvl5pPr>
            <a:lvl6pPr>
              <a:defRPr sz="1350" b="0">
                <a:solidFill>
                  <a:srgbClr val="53676D"/>
                </a:solidFill>
                <a:latin typeface="DejaVu Sans"/>
                <a:ea typeface="DejaVu Sans"/>
                <a:cs typeface="DejaVu Sans"/>
              </a:defRPr>
            </a:lvl6pPr>
            <a:lvl7pPr>
              <a:defRPr sz="1350" b="0">
                <a:solidFill>
                  <a:srgbClr val="53676D"/>
                </a:solidFill>
                <a:latin typeface="DejaVu Sans"/>
                <a:ea typeface="DejaVu Sans"/>
                <a:cs typeface="DejaVu Sans"/>
              </a:defRPr>
            </a:lvl7pPr>
            <a:lvl8pPr>
              <a:defRPr sz="1350" b="0">
                <a:solidFill>
                  <a:srgbClr val="53676D"/>
                </a:solidFill>
                <a:latin typeface="DejaVu Sans"/>
                <a:ea typeface="DejaVu Sans"/>
                <a:cs typeface="DejaVu Sans"/>
              </a:defRPr>
            </a:lvl8pPr>
            <a:lvl9pPr>
              <a:defRPr sz="1350" b="0">
                <a:solidFill>
                  <a:srgbClr val="53676D"/>
                </a:solidFill>
                <a:latin typeface="DejaVu Sans"/>
                <a:ea typeface="DejaVu Sans"/>
                <a:cs typeface="DejaVu Sans"/>
              </a:defRPr>
            </a:lvl9pPr>
          </a:lstStyle>
          <a:p xmlns:a="http://schemas.openxmlformats.org/drawingml/2006/main">
            <a:pPr>
              <a:defRPr sz="1350" b="0">
                <a:solidFill>
                  <a:srgbClr val="53676D"/>
                </a:solidFill>
                <a:latin typeface="DejaVu Sans"/>
                <a:ea typeface="DejaVu Sans"/>
                <a:cs typeface="DejaVu Sans"/>
              </a:defRPr>
            </a:pPr>
            <a:r>
              <a:rPr sz="1350" b="0">
                <a:solidFill>
                  <a:srgbClr val="53676D"/>
                </a:solidFill>
                <a:latin typeface="DejaVu Sans"/>
                <a:ea typeface="DejaVu Sans"/>
                <a:cs typeface="DejaVu Sans"/>
              </a:rPr>
              <a:t>SeHGNN reference architecture with a proposed binary fraud head. Yang et al., AAAI 2023.</a:t>
            </a:r>
          </a:p>
        </p:txBody>
      </p:sp>
    </p:spTree>
    <p:extLst>
      <p:ext uri="{BB962C8B-B14F-4D97-AF65-F5344CB8AC3E}">
        <p14:creationId xmlns:p14="http://schemas.microsoft.com/office/powerpoint/2010/main" val="1007025627"/>
      </p:ext>
    </p:extLst>
  </p:cSld>
</p:sld>
</file>

<file path=ppt/slides/slide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C4DAE7-01C0-468C-8C2E-C006609201AE}"/>
              </a:ext>
            </a:extLst>
          </p:cNvPr>
          <p:cNvSpPr>
            <a:spLocks xmlns:a="http://schemas.openxmlformats.org/drawingml/2006/main" noGrp="1"/>
          </p:cNvSpPr>
          <p:nvPr/>
        </p:nvSpPr>
        <p:spPr>
          <a:xfrm xmlns:a="http://schemas.openxmlformats.org/drawingml/2006/main">
            <a:off x="533400" y="361950"/>
            <a:ext cx="1114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32A35"/>
                </a:solidFill>
                <a:latin typeface="DejaVu Sans"/>
                <a:ea typeface="DejaVu Sans"/>
                <a:cs typeface="DejaVu Sans"/>
              </a:defRPr>
            </a:defPPr>
            <a:lvl1pPr>
              <a:defRPr sz="3150" b="1">
                <a:solidFill>
                  <a:srgbClr val="132A35"/>
                </a:solidFill>
                <a:latin typeface="DejaVu Sans"/>
                <a:ea typeface="DejaVu Sans"/>
                <a:cs typeface="DejaVu Sans"/>
              </a:defRPr>
            </a:lvl1pPr>
            <a:lvl2pPr>
              <a:defRPr sz="3150" b="1">
                <a:solidFill>
                  <a:srgbClr val="132A35"/>
                </a:solidFill>
                <a:latin typeface="DejaVu Sans"/>
                <a:ea typeface="DejaVu Sans"/>
                <a:cs typeface="DejaVu Sans"/>
              </a:defRPr>
            </a:lvl2pPr>
            <a:lvl3pPr>
              <a:defRPr sz="3150" b="1">
                <a:solidFill>
                  <a:srgbClr val="132A35"/>
                </a:solidFill>
                <a:latin typeface="DejaVu Sans"/>
                <a:ea typeface="DejaVu Sans"/>
                <a:cs typeface="DejaVu Sans"/>
              </a:defRPr>
            </a:lvl3pPr>
            <a:lvl4pPr>
              <a:defRPr sz="3150" b="1">
                <a:solidFill>
                  <a:srgbClr val="132A35"/>
                </a:solidFill>
                <a:latin typeface="DejaVu Sans"/>
                <a:ea typeface="DejaVu Sans"/>
                <a:cs typeface="DejaVu Sans"/>
              </a:defRPr>
            </a:lvl4pPr>
            <a:lvl5pPr>
              <a:defRPr sz="3150" b="1">
                <a:solidFill>
                  <a:srgbClr val="132A35"/>
                </a:solidFill>
                <a:latin typeface="DejaVu Sans"/>
                <a:ea typeface="DejaVu Sans"/>
                <a:cs typeface="DejaVu Sans"/>
              </a:defRPr>
            </a:lvl5pPr>
            <a:lvl6pPr>
              <a:defRPr sz="3150" b="1">
                <a:solidFill>
                  <a:srgbClr val="132A35"/>
                </a:solidFill>
                <a:latin typeface="DejaVu Sans"/>
                <a:ea typeface="DejaVu Sans"/>
                <a:cs typeface="DejaVu Sans"/>
              </a:defRPr>
            </a:lvl6pPr>
            <a:lvl7pPr>
              <a:defRPr sz="3150" b="1">
                <a:solidFill>
                  <a:srgbClr val="132A35"/>
                </a:solidFill>
                <a:latin typeface="DejaVu Sans"/>
                <a:ea typeface="DejaVu Sans"/>
                <a:cs typeface="DejaVu Sans"/>
              </a:defRPr>
            </a:lvl7pPr>
            <a:lvl8pPr>
              <a:defRPr sz="3150" b="1">
                <a:solidFill>
                  <a:srgbClr val="132A35"/>
                </a:solidFill>
                <a:latin typeface="DejaVu Sans"/>
                <a:ea typeface="DejaVu Sans"/>
                <a:cs typeface="DejaVu Sans"/>
              </a:defRPr>
            </a:lvl8pPr>
            <a:lvl9pPr>
              <a:defRPr sz="3150" b="1">
                <a:solidFill>
                  <a:srgbClr val="132A35"/>
                </a:solidFill>
                <a:latin typeface="DejaVu Sans"/>
                <a:ea typeface="DejaVu Sans"/>
                <a:cs typeface="DejaVu Sans"/>
              </a:defRPr>
            </a:lvl9pPr>
          </a:lstStyle>
          <a:p xmlns:a="http://schemas.openxmlformats.org/drawingml/2006/main">
            <a:pPr>
              <a:defRPr sz="3150" b="1">
                <a:solidFill>
                  <a:srgbClr val="132A35"/>
                </a:solidFill>
                <a:latin typeface="DejaVu Sans"/>
                <a:ea typeface="DejaVu Sans"/>
                <a:cs typeface="DejaVu Sans"/>
              </a:defRPr>
            </a:pPr>
            <a:r>
              <a:rPr sz="3150" b="1">
                <a:solidFill>
                  <a:srgbClr val="132A35"/>
                </a:solidFill>
                <a:latin typeface="DejaVu Sans"/>
                <a:ea typeface="DejaVu Sans"/>
                <a:cs typeface="DejaVu Sans"/>
              </a:rPr>
              <a:t>Seller fraud: training and evaluation</a:t>
            </a:r>
          </a:p>
        </p:txBody>
      </p:sp>
      <p:sp>
        <p:nvSpPr>
          <p:cNvPr id="2" name="">
            <a:extLst xmlns:a="http://schemas.openxmlformats.org/drawingml/2006/main">
              <a:ext uri="{FF2B5EF4-FFF2-40B4-BE49-F238E27FC236}">
                <a16:creationId xmlns:a16="http://schemas.microsoft.com/office/drawing/2014/main" id="{FCFAF28A-3104-4A26-BEF0-562BAF71B738}"/>
              </a:ext>
            </a:extLst>
          </p:cNvPr>
          <p:cNvSpPr>
            <a:spLocks xmlns:a="http://schemas.openxmlformats.org/drawingml/2006/main" noGrp="1"/>
          </p:cNvSpPr>
          <p:nvPr/>
        </p:nvSpPr>
        <p:spPr>
          <a:xfrm xmlns:a="http://schemas.openxmlformats.org/drawingml/2006/main">
            <a:off x="552450" y="105727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Proposed workflow for an imbalanced, time-dependent classification task</a:t>
            </a:r>
          </a:p>
        </p:txBody>
      </p:sp>
      <p:sp>
        <p:nvSpPr>
          <p:cNvPr id="3" name="">
            <a:extLst xmlns:a="http://schemas.openxmlformats.org/drawingml/2006/main">
              <a:ext uri="{FF2B5EF4-FFF2-40B4-BE49-F238E27FC236}">
                <a16:creationId xmlns:a16="http://schemas.microsoft.com/office/drawing/2014/main" id="{65CE1272-D48D-4FE4-A205-BFA68AF28509}"/>
              </a:ext>
            </a:extLst>
          </p:cNvPr>
          <p:cNvSpPr>
            <a:spLocks xmlns:a="http://schemas.openxmlformats.org/drawingml/2006/main" noGrp="1"/>
          </p:cNvSpPr>
          <p:nvPr/>
        </p:nvSpPr>
        <p:spPr>
          <a:xfrm xmlns:a="http://schemas.openxmlformats.org/drawingml/2006/main">
            <a:off x="552450" y="18669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32A35"/>
                </a:solidFill>
                <a:latin typeface="DejaVu Sans"/>
                <a:ea typeface="DejaVu Sans"/>
                <a:cs typeface="DejaVu Sans"/>
              </a:defRPr>
            </a:defPPr>
            <a:lvl1pPr>
              <a:defRPr sz="2100" b="1">
                <a:solidFill>
                  <a:srgbClr val="132A35"/>
                </a:solidFill>
                <a:latin typeface="DejaVu Sans"/>
                <a:ea typeface="DejaVu Sans"/>
                <a:cs typeface="DejaVu Sans"/>
              </a:defRPr>
            </a:lvl1pPr>
            <a:lvl2pPr>
              <a:defRPr sz="2100" b="1">
                <a:solidFill>
                  <a:srgbClr val="132A35"/>
                </a:solidFill>
                <a:latin typeface="DejaVu Sans"/>
                <a:ea typeface="DejaVu Sans"/>
                <a:cs typeface="DejaVu Sans"/>
              </a:defRPr>
            </a:lvl2pPr>
            <a:lvl3pPr>
              <a:defRPr sz="2100" b="1">
                <a:solidFill>
                  <a:srgbClr val="132A35"/>
                </a:solidFill>
                <a:latin typeface="DejaVu Sans"/>
                <a:ea typeface="DejaVu Sans"/>
                <a:cs typeface="DejaVu Sans"/>
              </a:defRPr>
            </a:lvl3pPr>
            <a:lvl4pPr>
              <a:defRPr sz="2100" b="1">
                <a:solidFill>
                  <a:srgbClr val="132A35"/>
                </a:solidFill>
                <a:latin typeface="DejaVu Sans"/>
                <a:ea typeface="DejaVu Sans"/>
                <a:cs typeface="DejaVu Sans"/>
              </a:defRPr>
            </a:lvl4pPr>
            <a:lvl5pPr>
              <a:defRPr sz="2100" b="1">
                <a:solidFill>
                  <a:srgbClr val="132A35"/>
                </a:solidFill>
                <a:latin typeface="DejaVu Sans"/>
                <a:ea typeface="DejaVu Sans"/>
                <a:cs typeface="DejaVu Sans"/>
              </a:defRPr>
            </a:lvl5pPr>
            <a:lvl6pPr>
              <a:defRPr sz="2100" b="1">
                <a:solidFill>
                  <a:srgbClr val="132A35"/>
                </a:solidFill>
                <a:latin typeface="DejaVu Sans"/>
                <a:ea typeface="DejaVu Sans"/>
                <a:cs typeface="DejaVu Sans"/>
              </a:defRPr>
            </a:lvl6pPr>
            <a:lvl7pPr>
              <a:defRPr sz="2100" b="1">
                <a:solidFill>
                  <a:srgbClr val="132A35"/>
                </a:solidFill>
                <a:latin typeface="DejaVu Sans"/>
                <a:ea typeface="DejaVu Sans"/>
                <a:cs typeface="DejaVu Sans"/>
              </a:defRPr>
            </a:lvl7pPr>
            <a:lvl8pPr>
              <a:defRPr sz="2100" b="1">
                <a:solidFill>
                  <a:srgbClr val="132A35"/>
                </a:solidFill>
                <a:latin typeface="DejaVu Sans"/>
                <a:ea typeface="DejaVu Sans"/>
                <a:cs typeface="DejaVu Sans"/>
              </a:defRPr>
            </a:lvl8pPr>
            <a:lvl9pPr>
              <a:defRPr sz="2100" b="1">
                <a:solidFill>
                  <a:srgbClr val="132A35"/>
                </a:solidFill>
                <a:latin typeface="DejaVu Sans"/>
                <a:ea typeface="DejaVu Sans"/>
                <a:cs typeface="DejaVu Sans"/>
              </a:defRPr>
            </a:lvl9pPr>
          </a:lstStyle>
          <a:p xmlns:a="http://schemas.openxmlformats.org/drawingml/2006/main">
            <a:pPr>
              <a:defRPr sz="2100" b="1">
                <a:solidFill>
                  <a:srgbClr val="132A35"/>
                </a:solidFill>
                <a:latin typeface="DejaVu Sans"/>
                <a:ea typeface="DejaVu Sans"/>
                <a:cs typeface="DejaVu Sans"/>
              </a:defRPr>
            </a:pPr>
            <a:r>
              <a:rPr sz="2100" b="1">
                <a:solidFill>
                  <a:srgbClr val="132A35"/>
                </a:solidFill>
                <a:latin typeface="DejaVu Sans"/>
                <a:ea typeface="DejaVu Sans"/>
                <a:cs typeface="DejaVu Sans"/>
              </a:rPr>
              <a:t>01  Training data</a:t>
            </a:r>
          </a:p>
        </p:txBody>
      </p:sp>
      <p:sp>
        <p:nvSpPr>
          <p:cNvPr id="4" name="">
            <a:extLst xmlns:a="http://schemas.openxmlformats.org/drawingml/2006/main">
              <a:ext uri="{FF2B5EF4-FFF2-40B4-BE49-F238E27FC236}">
                <a16:creationId xmlns:a16="http://schemas.microsoft.com/office/drawing/2014/main" id="{D9193642-5D21-40FB-8DF6-12E9741A10B6}"/>
              </a:ext>
            </a:extLst>
          </p:cNvPr>
          <p:cNvSpPr>
            <a:spLocks xmlns:a="http://schemas.openxmlformats.org/drawingml/2006/main" noGrp="1"/>
          </p:cNvSpPr>
          <p:nvPr/>
        </p:nvSpPr>
        <p:spPr>
          <a:xfrm xmlns:a="http://schemas.openxmlformats.org/drawingml/2006/main">
            <a:off x="552450" y="2324100"/>
            <a:ext cx="5238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Use features available at scoring time.</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Use reviewed labels after outcomes mature.</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Separate unknown outcomes from negatives.</a:t>
            </a:r>
          </a:p>
        </p:txBody>
      </p:sp>
      <p:sp>
        <p:nvSpPr>
          <p:cNvPr id="5" name="">
            <a:extLst xmlns:a="http://schemas.openxmlformats.org/drawingml/2006/main">
              <a:ext uri="{FF2B5EF4-FFF2-40B4-BE49-F238E27FC236}">
                <a16:creationId xmlns:a16="http://schemas.microsoft.com/office/drawing/2014/main" id="{D175CFB6-A7ED-4ECF-89DA-0A435A8AFBA4}"/>
              </a:ext>
            </a:extLst>
          </p:cNvPr>
          <p:cNvSpPr>
            <a:spLocks xmlns:a="http://schemas.openxmlformats.org/drawingml/2006/main" noGrp="1"/>
          </p:cNvSpPr>
          <p:nvPr/>
        </p:nvSpPr>
        <p:spPr>
          <a:xfrm xmlns:a="http://schemas.openxmlformats.org/drawingml/2006/main">
            <a:off x="6362700" y="18669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32A35"/>
                </a:solidFill>
                <a:latin typeface="DejaVu Sans"/>
                <a:ea typeface="DejaVu Sans"/>
                <a:cs typeface="DejaVu Sans"/>
              </a:defRPr>
            </a:defPPr>
            <a:lvl1pPr>
              <a:defRPr sz="2100" b="1">
                <a:solidFill>
                  <a:srgbClr val="132A35"/>
                </a:solidFill>
                <a:latin typeface="DejaVu Sans"/>
                <a:ea typeface="DejaVu Sans"/>
                <a:cs typeface="DejaVu Sans"/>
              </a:defRPr>
            </a:lvl1pPr>
            <a:lvl2pPr>
              <a:defRPr sz="2100" b="1">
                <a:solidFill>
                  <a:srgbClr val="132A35"/>
                </a:solidFill>
                <a:latin typeface="DejaVu Sans"/>
                <a:ea typeface="DejaVu Sans"/>
                <a:cs typeface="DejaVu Sans"/>
              </a:defRPr>
            </a:lvl2pPr>
            <a:lvl3pPr>
              <a:defRPr sz="2100" b="1">
                <a:solidFill>
                  <a:srgbClr val="132A35"/>
                </a:solidFill>
                <a:latin typeface="DejaVu Sans"/>
                <a:ea typeface="DejaVu Sans"/>
                <a:cs typeface="DejaVu Sans"/>
              </a:defRPr>
            </a:lvl3pPr>
            <a:lvl4pPr>
              <a:defRPr sz="2100" b="1">
                <a:solidFill>
                  <a:srgbClr val="132A35"/>
                </a:solidFill>
                <a:latin typeface="DejaVu Sans"/>
                <a:ea typeface="DejaVu Sans"/>
                <a:cs typeface="DejaVu Sans"/>
              </a:defRPr>
            </a:lvl4pPr>
            <a:lvl5pPr>
              <a:defRPr sz="2100" b="1">
                <a:solidFill>
                  <a:srgbClr val="132A35"/>
                </a:solidFill>
                <a:latin typeface="DejaVu Sans"/>
                <a:ea typeface="DejaVu Sans"/>
                <a:cs typeface="DejaVu Sans"/>
              </a:defRPr>
            </a:lvl5pPr>
            <a:lvl6pPr>
              <a:defRPr sz="2100" b="1">
                <a:solidFill>
                  <a:srgbClr val="132A35"/>
                </a:solidFill>
                <a:latin typeface="DejaVu Sans"/>
                <a:ea typeface="DejaVu Sans"/>
                <a:cs typeface="DejaVu Sans"/>
              </a:defRPr>
            </a:lvl6pPr>
            <a:lvl7pPr>
              <a:defRPr sz="2100" b="1">
                <a:solidFill>
                  <a:srgbClr val="132A35"/>
                </a:solidFill>
                <a:latin typeface="DejaVu Sans"/>
                <a:ea typeface="DejaVu Sans"/>
                <a:cs typeface="DejaVu Sans"/>
              </a:defRPr>
            </a:lvl7pPr>
            <a:lvl8pPr>
              <a:defRPr sz="2100" b="1">
                <a:solidFill>
                  <a:srgbClr val="132A35"/>
                </a:solidFill>
                <a:latin typeface="DejaVu Sans"/>
                <a:ea typeface="DejaVu Sans"/>
                <a:cs typeface="DejaVu Sans"/>
              </a:defRPr>
            </a:lvl8pPr>
            <a:lvl9pPr>
              <a:defRPr sz="2100" b="1">
                <a:solidFill>
                  <a:srgbClr val="132A35"/>
                </a:solidFill>
                <a:latin typeface="DejaVu Sans"/>
                <a:ea typeface="DejaVu Sans"/>
                <a:cs typeface="DejaVu Sans"/>
              </a:defRPr>
            </a:lvl9pPr>
          </a:lstStyle>
          <a:p xmlns:a="http://schemas.openxmlformats.org/drawingml/2006/main">
            <a:pPr>
              <a:defRPr sz="2100" b="1">
                <a:solidFill>
                  <a:srgbClr val="132A35"/>
                </a:solidFill>
                <a:latin typeface="DejaVu Sans"/>
                <a:ea typeface="DejaVu Sans"/>
                <a:cs typeface="DejaVu Sans"/>
              </a:defRPr>
            </a:pPr>
            <a:r>
              <a:rPr sz="2100" b="1">
                <a:solidFill>
                  <a:srgbClr val="132A35"/>
                </a:solidFill>
                <a:latin typeface="DejaVu Sans"/>
                <a:ea typeface="DejaVu Sans"/>
                <a:cs typeface="DejaVu Sans"/>
              </a:rPr>
              <a:t>02  Objective and tuning</a:t>
            </a:r>
          </a:p>
        </p:txBody>
      </p:sp>
      <p:sp>
        <p:nvSpPr>
          <p:cNvPr id="6" name="">
            <a:extLst xmlns:a="http://schemas.openxmlformats.org/drawingml/2006/main">
              <a:ext uri="{FF2B5EF4-FFF2-40B4-BE49-F238E27FC236}">
                <a16:creationId xmlns:a16="http://schemas.microsoft.com/office/drawing/2014/main" id="{0F6C0599-D28A-455F-A827-26D1503B5488}"/>
              </a:ext>
            </a:extLst>
          </p:cNvPr>
          <p:cNvSpPr>
            <a:spLocks xmlns:a="http://schemas.openxmlformats.org/drawingml/2006/main" noGrp="1"/>
          </p:cNvSpPr>
          <p:nvPr/>
        </p:nvSpPr>
        <p:spPr>
          <a:xfrm xmlns:a="http://schemas.openxmlformats.org/drawingml/2006/main">
            <a:off x="6362700" y="2324100"/>
            <a:ext cx="5238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Loss: weighted binary cross-entropy.</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Tune hop limit, path set, width d and dropout.</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Test label channels after feature baselines.</a:t>
            </a:r>
          </a:p>
        </p:txBody>
      </p:sp>
      <p:sp>
        <p:nvSpPr>
          <p:cNvPr id="7" name="">
            <a:extLst xmlns:a="http://schemas.openxmlformats.org/drawingml/2006/main">
              <a:ext uri="{FF2B5EF4-FFF2-40B4-BE49-F238E27FC236}">
                <a16:creationId xmlns:a16="http://schemas.microsoft.com/office/drawing/2014/main" id="{D833D983-D28D-401C-8966-F5233DD9BA8A}"/>
              </a:ext>
            </a:extLst>
          </p:cNvPr>
          <p:cNvSpPr>
            <a:spLocks xmlns:a="http://schemas.openxmlformats.org/drawingml/2006/main" noGrp="1"/>
          </p:cNvSpPr>
          <p:nvPr/>
        </p:nvSpPr>
        <p:spPr>
          <a:xfrm xmlns:a="http://schemas.openxmlformats.org/drawingml/2006/main">
            <a:off x="552450" y="3914775"/>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32A35"/>
                </a:solidFill>
                <a:latin typeface="DejaVu Sans"/>
                <a:ea typeface="DejaVu Sans"/>
                <a:cs typeface="DejaVu Sans"/>
              </a:defRPr>
            </a:defPPr>
            <a:lvl1pPr>
              <a:defRPr sz="2100" b="1">
                <a:solidFill>
                  <a:srgbClr val="132A35"/>
                </a:solidFill>
                <a:latin typeface="DejaVu Sans"/>
                <a:ea typeface="DejaVu Sans"/>
                <a:cs typeface="DejaVu Sans"/>
              </a:defRPr>
            </a:lvl1pPr>
            <a:lvl2pPr>
              <a:defRPr sz="2100" b="1">
                <a:solidFill>
                  <a:srgbClr val="132A35"/>
                </a:solidFill>
                <a:latin typeface="DejaVu Sans"/>
                <a:ea typeface="DejaVu Sans"/>
                <a:cs typeface="DejaVu Sans"/>
              </a:defRPr>
            </a:lvl2pPr>
            <a:lvl3pPr>
              <a:defRPr sz="2100" b="1">
                <a:solidFill>
                  <a:srgbClr val="132A35"/>
                </a:solidFill>
                <a:latin typeface="DejaVu Sans"/>
                <a:ea typeface="DejaVu Sans"/>
                <a:cs typeface="DejaVu Sans"/>
              </a:defRPr>
            </a:lvl3pPr>
            <a:lvl4pPr>
              <a:defRPr sz="2100" b="1">
                <a:solidFill>
                  <a:srgbClr val="132A35"/>
                </a:solidFill>
                <a:latin typeface="DejaVu Sans"/>
                <a:ea typeface="DejaVu Sans"/>
                <a:cs typeface="DejaVu Sans"/>
              </a:defRPr>
            </a:lvl4pPr>
            <a:lvl5pPr>
              <a:defRPr sz="2100" b="1">
                <a:solidFill>
                  <a:srgbClr val="132A35"/>
                </a:solidFill>
                <a:latin typeface="DejaVu Sans"/>
                <a:ea typeface="DejaVu Sans"/>
                <a:cs typeface="DejaVu Sans"/>
              </a:defRPr>
            </a:lvl5pPr>
            <a:lvl6pPr>
              <a:defRPr sz="2100" b="1">
                <a:solidFill>
                  <a:srgbClr val="132A35"/>
                </a:solidFill>
                <a:latin typeface="DejaVu Sans"/>
                <a:ea typeface="DejaVu Sans"/>
                <a:cs typeface="DejaVu Sans"/>
              </a:defRPr>
            </a:lvl6pPr>
            <a:lvl7pPr>
              <a:defRPr sz="2100" b="1">
                <a:solidFill>
                  <a:srgbClr val="132A35"/>
                </a:solidFill>
                <a:latin typeface="DejaVu Sans"/>
                <a:ea typeface="DejaVu Sans"/>
                <a:cs typeface="DejaVu Sans"/>
              </a:defRPr>
            </a:lvl7pPr>
            <a:lvl8pPr>
              <a:defRPr sz="2100" b="1">
                <a:solidFill>
                  <a:srgbClr val="132A35"/>
                </a:solidFill>
                <a:latin typeface="DejaVu Sans"/>
                <a:ea typeface="DejaVu Sans"/>
                <a:cs typeface="DejaVu Sans"/>
              </a:defRPr>
            </a:lvl8pPr>
            <a:lvl9pPr>
              <a:defRPr sz="2100" b="1">
                <a:solidFill>
                  <a:srgbClr val="132A35"/>
                </a:solidFill>
                <a:latin typeface="DejaVu Sans"/>
                <a:ea typeface="DejaVu Sans"/>
                <a:cs typeface="DejaVu Sans"/>
              </a:defRPr>
            </a:lvl9pPr>
          </a:lstStyle>
          <a:p xmlns:a="http://schemas.openxmlformats.org/drawingml/2006/main">
            <a:pPr>
              <a:defRPr sz="2100" b="1">
                <a:solidFill>
                  <a:srgbClr val="132A35"/>
                </a:solidFill>
                <a:latin typeface="DejaVu Sans"/>
                <a:ea typeface="DejaVu Sans"/>
                <a:cs typeface="DejaVu Sans"/>
              </a:defRPr>
            </a:pPr>
            <a:r>
              <a:rPr sz="2100" b="1">
                <a:solidFill>
                  <a:srgbClr val="132A35"/>
                </a:solidFill>
                <a:latin typeface="DejaVu Sans"/>
                <a:ea typeface="DejaVu Sans"/>
                <a:cs typeface="DejaVu Sans"/>
              </a:rPr>
              <a:t>03  Temporal validation</a:t>
            </a:r>
          </a:p>
        </p:txBody>
      </p:sp>
      <p:sp>
        <p:nvSpPr>
          <p:cNvPr id="8" name="">
            <a:extLst xmlns:a="http://schemas.openxmlformats.org/drawingml/2006/main">
              <a:ext uri="{FF2B5EF4-FFF2-40B4-BE49-F238E27FC236}">
                <a16:creationId xmlns:a16="http://schemas.microsoft.com/office/drawing/2014/main" id="{29EBE02D-CE78-4496-AA5A-8BA1F51D19EE}"/>
              </a:ext>
            </a:extLst>
          </p:cNvPr>
          <p:cNvSpPr>
            <a:spLocks xmlns:a="http://schemas.openxmlformats.org/drawingml/2006/main" noGrp="1"/>
          </p:cNvSpPr>
          <p:nvPr/>
        </p:nvSpPr>
        <p:spPr>
          <a:xfrm xmlns:a="http://schemas.openxmlformats.org/drawingml/2006/main">
            <a:off x="552450" y="4371975"/>
            <a:ext cx="5238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Train on earlier periods, test on later sellers.</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Measure PR-AUC and precision at review capacity.</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Check recall, calibration and new-seller cohorts.</a:t>
            </a:r>
          </a:p>
        </p:txBody>
      </p:sp>
      <p:sp>
        <p:nvSpPr>
          <p:cNvPr id="9" name="">
            <a:extLst xmlns:a="http://schemas.openxmlformats.org/drawingml/2006/main">
              <a:ext uri="{FF2B5EF4-FFF2-40B4-BE49-F238E27FC236}">
                <a16:creationId xmlns:a16="http://schemas.microsoft.com/office/drawing/2014/main" id="{5FDE1D99-1AAB-4B8A-904E-8F7D340BC23F}"/>
              </a:ext>
            </a:extLst>
          </p:cNvPr>
          <p:cNvSpPr>
            <a:spLocks xmlns:a="http://schemas.openxmlformats.org/drawingml/2006/main" noGrp="1"/>
          </p:cNvSpPr>
          <p:nvPr/>
        </p:nvSpPr>
        <p:spPr>
          <a:xfrm xmlns:a="http://schemas.openxmlformats.org/drawingml/2006/main">
            <a:off x="6362700" y="3914775"/>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32A35"/>
                </a:solidFill>
                <a:latin typeface="DejaVu Sans"/>
                <a:ea typeface="DejaVu Sans"/>
                <a:cs typeface="DejaVu Sans"/>
              </a:defRPr>
            </a:defPPr>
            <a:lvl1pPr>
              <a:defRPr sz="2100" b="1">
                <a:solidFill>
                  <a:srgbClr val="132A35"/>
                </a:solidFill>
                <a:latin typeface="DejaVu Sans"/>
                <a:ea typeface="DejaVu Sans"/>
                <a:cs typeface="DejaVu Sans"/>
              </a:defRPr>
            </a:lvl1pPr>
            <a:lvl2pPr>
              <a:defRPr sz="2100" b="1">
                <a:solidFill>
                  <a:srgbClr val="132A35"/>
                </a:solidFill>
                <a:latin typeface="DejaVu Sans"/>
                <a:ea typeface="DejaVu Sans"/>
                <a:cs typeface="DejaVu Sans"/>
              </a:defRPr>
            </a:lvl2pPr>
            <a:lvl3pPr>
              <a:defRPr sz="2100" b="1">
                <a:solidFill>
                  <a:srgbClr val="132A35"/>
                </a:solidFill>
                <a:latin typeface="DejaVu Sans"/>
                <a:ea typeface="DejaVu Sans"/>
                <a:cs typeface="DejaVu Sans"/>
              </a:defRPr>
            </a:lvl3pPr>
            <a:lvl4pPr>
              <a:defRPr sz="2100" b="1">
                <a:solidFill>
                  <a:srgbClr val="132A35"/>
                </a:solidFill>
                <a:latin typeface="DejaVu Sans"/>
                <a:ea typeface="DejaVu Sans"/>
                <a:cs typeface="DejaVu Sans"/>
              </a:defRPr>
            </a:lvl4pPr>
            <a:lvl5pPr>
              <a:defRPr sz="2100" b="1">
                <a:solidFill>
                  <a:srgbClr val="132A35"/>
                </a:solidFill>
                <a:latin typeface="DejaVu Sans"/>
                <a:ea typeface="DejaVu Sans"/>
                <a:cs typeface="DejaVu Sans"/>
              </a:defRPr>
            </a:lvl5pPr>
            <a:lvl6pPr>
              <a:defRPr sz="2100" b="1">
                <a:solidFill>
                  <a:srgbClr val="132A35"/>
                </a:solidFill>
                <a:latin typeface="DejaVu Sans"/>
                <a:ea typeface="DejaVu Sans"/>
                <a:cs typeface="DejaVu Sans"/>
              </a:defRPr>
            </a:lvl6pPr>
            <a:lvl7pPr>
              <a:defRPr sz="2100" b="1">
                <a:solidFill>
                  <a:srgbClr val="132A35"/>
                </a:solidFill>
                <a:latin typeface="DejaVu Sans"/>
                <a:ea typeface="DejaVu Sans"/>
                <a:cs typeface="DejaVu Sans"/>
              </a:defRPr>
            </a:lvl7pPr>
            <a:lvl8pPr>
              <a:defRPr sz="2100" b="1">
                <a:solidFill>
                  <a:srgbClr val="132A35"/>
                </a:solidFill>
                <a:latin typeface="DejaVu Sans"/>
                <a:ea typeface="DejaVu Sans"/>
                <a:cs typeface="DejaVu Sans"/>
              </a:defRPr>
            </a:lvl8pPr>
            <a:lvl9pPr>
              <a:defRPr sz="2100" b="1">
                <a:solidFill>
                  <a:srgbClr val="132A35"/>
                </a:solidFill>
                <a:latin typeface="DejaVu Sans"/>
                <a:ea typeface="DejaVu Sans"/>
                <a:cs typeface="DejaVu Sans"/>
              </a:defRPr>
            </a:lvl9pPr>
          </a:lstStyle>
          <a:p xmlns:a="http://schemas.openxmlformats.org/drawingml/2006/main">
            <a:pPr>
              <a:defRPr sz="2100" b="1">
                <a:solidFill>
                  <a:srgbClr val="132A35"/>
                </a:solidFill>
                <a:latin typeface="DejaVu Sans"/>
                <a:ea typeface="DejaVu Sans"/>
                <a:cs typeface="DejaVu Sans"/>
              </a:defRPr>
            </a:pPr>
            <a:r>
              <a:rPr sz="2100" b="1">
                <a:solidFill>
                  <a:srgbClr val="132A35"/>
                </a:solidFill>
                <a:latin typeface="DejaVu Sans"/>
                <a:ea typeface="DejaVu Sans"/>
                <a:cs typeface="DejaVu Sans"/>
              </a:rPr>
              <a:t>04  Evidence and operations</a:t>
            </a:r>
          </a:p>
        </p:txBody>
      </p:sp>
      <p:sp>
        <p:nvSpPr>
          <p:cNvPr id="10" name="">
            <a:extLst xmlns:a="http://schemas.openxmlformats.org/drawingml/2006/main">
              <a:ext uri="{FF2B5EF4-FFF2-40B4-BE49-F238E27FC236}">
                <a16:creationId xmlns:a16="http://schemas.microsoft.com/office/drawing/2014/main" id="{21ADD84E-233C-45F3-AF60-62BB54EB9B1F}"/>
              </a:ext>
            </a:extLst>
          </p:cNvPr>
          <p:cNvSpPr>
            <a:spLocks xmlns:a="http://schemas.openxmlformats.org/drawingml/2006/main" noGrp="1"/>
          </p:cNvSpPr>
          <p:nvPr/>
        </p:nvSpPr>
        <p:spPr>
          <a:xfrm xmlns:a="http://schemas.openxmlformats.org/drawingml/2006/main">
            <a:off x="6362700" y="4371975"/>
            <a:ext cx="5238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Compare with feature-only MLP / boosted trees.</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Ablate relation channels to measure added value.</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Monitor drift, cache freshness and review outcomes.</a:t>
            </a:r>
          </a:p>
        </p:txBody>
      </p:sp>
      <p:sp>
        <p:nvSpPr>
          <p:cNvPr id="11" name="">
            <a:extLst xmlns:a="http://schemas.openxmlformats.org/drawingml/2006/main">
              <a:ext uri="{FF2B5EF4-FFF2-40B4-BE49-F238E27FC236}">
                <a16:creationId xmlns:a16="http://schemas.microsoft.com/office/drawing/2014/main" id="{91437087-D04A-41CE-9E90-D4AB7C761921}"/>
              </a:ext>
            </a:extLst>
          </p:cNvPr>
          <p:cNvSpPr>
            <a:spLocks xmlns:a="http://schemas.openxmlformats.org/drawingml/2006/main" noGrp="1"/>
          </p:cNvSpPr>
          <p:nvPr/>
        </p:nvSpPr>
        <p:spPr>
          <a:xfrm xmlns:a="http://schemas.openxmlformats.org/drawingml/2006/main">
            <a:off x="552450" y="62769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087E83"/>
                </a:solidFill>
                <a:latin typeface="DejaVu Sans"/>
                <a:ea typeface="DejaVu Sans"/>
                <a:cs typeface="DejaVu Sans"/>
              </a:defRPr>
            </a:defPPr>
            <a:lvl1pPr>
              <a:defRPr sz="1650" b="1">
                <a:solidFill>
                  <a:srgbClr val="087E83"/>
                </a:solidFill>
                <a:latin typeface="DejaVu Sans"/>
                <a:ea typeface="DejaVu Sans"/>
                <a:cs typeface="DejaVu Sans"/>
              </a:defRPr>
            </a:lvl1pPr>
            <a:lvl2pPr>
              <a:defRPr sz="1650" b="1">
                <a:solidFill>
                  <a:srgbClr val="087E83"/>
                </a:solidFill>
                <a:latin typeface="DejaVu Sans"/>
                <a:ea typeface="DejaVu Sans"/>
                <a:cs typeface="DejaVu Sans"/>
              </a:defRPr>
            </a:lvl2pPr>
            <a:lvl3pPr>
              <a:defRPr sz="1650" b="1">
                <a:solidFill>
                  <a:srgbClr val="087E83"/>
                </a:solidFill>
                <a:latin typeface="DejaVu Sans"/>
                <a:ea typeface="DejaVu Sans"/>
                <a:cs typeface="DejaVu Sans"/>
              </a:defRPr>
            </a:lvl3pPr>
            <a:lvl4pPr>
              <a:defRPr sz="1650" b="1">
                <a:solidFill>
                  <a:srgbClr val="087E83"/>
                </a:solidFill>
                <a:latin typeface="DejaVu Sans"/>
                <a:ea typeface="DejaVu Sans"/>
                <a:cs typeface="DejaVu Sans"/>
              </a:defRPr>
            </a:lvl4pPr>
            <a:lvl5pPr>
              <a:defRPr sz="1650" b="1">
                <a:solidFill>
                  <a:srgbClr val="087E83"/>
                </a:solidFill>
                <a:latin typeface="DejaVu Sans"/>
                <a:ea typeface="DejaVu Sans"/>
                <a:cs typeface="DejaVu Sans"/>
              </a:defRPr>
            </a:lvl5pPr>
            <a:lvl6pPr>
              <a:defRPr sz="1650" b="1">
                <a:solidFill>
                  <a:srgbClr val="087E83"/>
                </a:solidFill>
                <a:latin typeface="DejaVu Sans"/>
                <a:ea typeface="DejaVu Sans"/>
                <a:cs typeface="DejaVu Sans"/>
              </a:defRPr>
            </a:lvl6pPr>
            <a:lvl7pPr>
              <a:defRPr sz="1650" b="1">
                <a:solidFill>
                  <a:srgbClr val="087E83"/>
                </a:solidFill>
                <a:latin typeface="DejaVu Sans"/>
                <a:ea typeface="DejaVu Sans"/>
                <a:cs typeface="DejaVu Sans"/>
              </a:defRPr>
            </a:lvl7pPr>
            <a:lvl8pPr>
              <a:defRPr sz="1650" b="1">
                <a:solidFill>
                  <a:srgbClr val="087E83"/>
                </a:solidFill>
                <a:latin typeface="DejaVu Sans"/>
                <a:ea typeface="DejaVu Sans"/>
                <a:cs typeface="DejaVu Sans"/>
              </a:defRPr>
            </a:lvl8pPr>
            <a:lvl9pPr>
              <a:defRPr sz="1650" b="1">
                <a:solidFill>
                  <a:srgbClr val="087E83"/>
                </a:solidFill>
                <a:latin typeface="DejaVu Sans"/>
                <a:ea typeface="DejaVu Sans"/>
                <a:cs typeface="DejaVu Sans"/>
              </a:defRPr>
            </a:lvl9pPr>
          </a:lstStyle>
          <a:p xmlns:a="http://schemas.openxmlformats.org/drawingml/2006/main">
            <a:pPr>
              <a:defRPr sz="1650" b="1">
                <a:solidFill>
                  <a:srgbClr val="087E83"/>
                </a:solidFill>
                <a:latin typeface="DejaVu Sans"/>
                <a:ea typeface="DejaVu Sans"/>
                <a:cs typeface="DejaVu Sans"/>
              </a:defRPr>
            </a:pPr>
            <a:r>
              <a:rPr sz="1650" b="1">
                <a:solidFill>
                  <a:srgbClr val="087E83"/>
                </a:solidFill>
                <a:latin typeface="DejaVu Sans"/>
                <a:ea typeface="DejaVu Sans"/>
                <a:cs typeface="DejaVu Sans"/>
              </a:rPr>
              <a:t>Fraud scores prioritise investigation. Shared links or attention weights do not prove fraud.</a:t>
            </a:r>
          </a:p>
        </p:txBody>
      </p:sp>
    </p:spTree>
    <p:extLst>
      <p:ext uri="{BB962C8B-B14F-4D97-AF65-F5344CB8AC3E}">
        <p14:creationId xmlns:p14="http://schemas.microsoft.com/office/powerpoint/2010/main" val="1838190594"/>
      </p:ext>
    </p:extLst>
  </p:cSld>
</p:sld>
</file>

<file path=ppt/slides/slide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611A4F6E-D421-49F0-A95E-3F47B73E01D5}"/>
              </a:ext>
            </a:extLst>
          </p:cNvPr>
          <p:cNvCxnSpPr>
            <a:stCxn xmlns:a="http://schemas.openxmlformats.org/drawingml/2006/main" id="11" idx="6"/>
            <a:endCxn xmlns:a="http://schemas.openxmlformats.org/drawingml/2006/main" id="17" idx="2"/>
          </p:cNvCxnSpPr>
          <p:nvPr/>
        </p:nvCxnSpPr>
        <p:spPr>
          <a:xfrm xmlns:a="http://schemas.openxmlformats.org/drawingml/2006/main">
            <a:off x="4105275" y="4362450"/>
            <a:ext cx="933450" cy="447675"/>
          </a:xfrm>
          <a:prstGeom xmlns:a="http://schemas.openxmlformats.org/drawingml/2006/main" prst="straightConnector1">
            <a:avLst/>
          </a:prstGeom>
          <a:ln xmlns:a="http://schemas.openxmlformats.org/drawingml/2006/main" w="15240">
            <a:solidFill>
              <a:srgbClr val="C5CCC7"/>
            </a:solidFill>
            <a:prstDash val="solid"/>
          </a:ln>
        </p:spPr>
      </p:cxnSp>
      <p:cxnSp>
        <p:nvCxnSpPr>
          <p:cNvPr id="25" name="">
            <a:extLst xmlns:a="http://schemas.openxmlformats.org/drawingml/2006/main">
              <a:ext uri="{FF2B5EF4-FFF2-40B4-BE49-F238E27FC236}">
                <a16:creationId xmlns:a16="http://schemas.microsoft.com/office/drawing/2014/main" id="{56C74DA6-A90D-482C-8ECB-5E417A0391F6}"/>
              </a:ext>
            </a:extLst>
          </p:cNvPr>
          <p:cNvCxnSpPr>
            <a:stCxn xmlns:a="http://schemas.openxmlformats.org/drawingml/2006/main" id="9" idx="6"/>
            <a:endCxn xmlns:a="http://schemas.openxmlformats.org/drawingml/2006/main" id="15" idx="2"/>
          </p:cNvCxnSpPr>
          <p:nvPr/>
        </p:nvCxnSpPr>
        <p:spPr>
          <a:xfrm xmlns:a="http://schemas.openxmlformats.org/drawingml/2006/main" flipV="1">
            <a:off x="4105275" y="2238375"/>
            <a:ext cx="933450" cy="428625"/>
          </a:xfrm>
          <a:prstGeom xmlns:a="http://schemas.openxmlformats.org/drawingml/2006/main" prst="straightConnector1">
            <a:avLst/>
          </a:prstGeom>
          <a:ln xmlns:a="http://schemas.openxmlformats.org/drawingml/2006/main" w="15240">
            <a:solidFill>
              <a:srgbClr val="C5CCC7"/>
            </a:solidFill>
            <a:prstDash val="solid"/>
          </a:ln>
        </p:spPr>
      </p:cxnSp>
      <p:cxnSp>
        <p:nvCxnSpPr>
          <p:cNvPr id="24" name="">
            <a:extLst xmlns:a="http://schemas.openxmlformats.org/drawingml/2006/main">
              <a:ext uri="{FF2B5EF4-FFF2-40B4-BE49-F238E27FC236}">
                <a16:creationId xmlns:a16="http://schemas.microsoft.com/office/drawing/2014/main" id="{1517CA2E-8E72-4E9C-B057-E948930F0A6C}"/>
              </a:ext>
            </a:extLst>
          </p:cNvPr>
          <p:cNvCxnSpPr>
            <a:stCxn xmlns:a="http://schemas.openxmlformats.org/drawingml/2006/main" id="11" idx="7"/>
            <a:endCxn xmlns:a="http://schemas.openxmlformats.org/drawingml/2006/main" id="13" idx="3"/>
          </p:cNvCxnSpPr>
          <p:nvPr/>
        </p:nvCxnSpPr>
        <p:spPr>
          <a:xfrm xmlns:a="http://schemas.openxmlformats.org/drawingml/2006/main" flipV="1">
            <a:off x="4046689" y="3627589"/>
            <a:ext cx="1050622" cy="593422"/>
          </a:xfrm>
          <a:prstGeom xmlns:a="http://schemas.openxmlformats.org/drawingml/2006/main" prst="straightConnector1">
            <a:avLst/>
          </a:prstGeom>
          <a:ln xmlns:a="http://schemas.openxmlformats.org/drawingml/2006/main" w="38100">
            <a:solidFill>
              <a:srgbClr val="087E83"/>
            </a:solidFill>
            <a:prstDash val="solid"/>
          </a:ln>
        </p:spPr>
      </p:cxnSp>
      <p:cxnSp>
        <p:nvCxnSpPr>
          <p:cNvPr id="23" name="">
            <a:extLst xmlns:a="http://schemas.openxmlformats.org/drawingml/2006/main">
              <a:ext uri="{FF2B5EF4-FFF2-40B4-BE49-F238E27FC236}">
                <a16:creationId xmlns:a16="http://schemas.microsoft.com/office/drawing/2014/main" id="{9A101C4B-2F4F-4458-841B-32B6CA6AB7CD}"/>
              </a:ext>
            </a:extLst>
          </p:cNvPr>
          <p:cNvCxnSpPr>
            <a:stCxn xmlns:a="http://schemas.openxmlformats.org/drawingml/2006/main" id="9" idx="5"/>
            <a:endCxn xmlns:a="http://schemas.openxmlformats.org/drawingml/2006/main" id="13" idx="1"/>
          </p:cNvCxnSpPr>
          <p:nvPr/>
        </p:nvCxnSpPr>
        <p:spPr>
          <a:xfrm xmlns:a="http://schemas.openxmlformats.org/drawingml/2006/main">
            <a:off x="4046689" y="2808439"/>
            <a:ext cx="1050622" cy="536272"/>
          </a:xfrm>
          <a:prstGeom xmlns:a="http://schemas.openxmlformats.org/drawingml/2006/main" prst="straightConnector1">
            <a:avLst/>
          </a:prstGeom>
          <a:ln xmlns:a="http://schemas.openxmlformats.org/drawingml/2006/main" w="38100">
            <a:solidFill>
              <a:srgbClr val="087E83"/>
            </a:solidFill>
            <a:prstDash val="solid"/>
          </a:ln>
        </p:spPr>
      </p:cxnSp>
      <p:cxnSp>
        <p:nvCxnSpPr>
          <p:cNvPr id="22" name="">
            <a:extLst xmlns:a="http://schemas.openxmlformats.org/drawingml/2006/main">
              <a:ext uri="{FF2B5EF4-FFF2-40B4-BE49-F238E27FC236}">
                <a16:creationId xmlns:a16="http://schemas.microsoft.com/office/drawing/2014/main" id="{66911BB1-6CB4-42EC-9A6A-65EAAF339CDF}"/>
              </a:ext>
            </a:extLst>
          </p:cNvPr>
          <p:cNvCxnSpPr>
            <a:stCxn xmlns:a="http://schemas.openxmlformats.org/drawingml/2006/main" id="5" idx="5"/>
            <a:endCxn xmlns:a="http://schemas.openxmlformats.org/drawingml/2006/main" id="11" idx="1"/>
          </p:cNvCxnSpPr>
          <p:nvPr/>
        </p:nvCxnSpPr>
        <p:spPr>
          <a:xfrm xmlns:a="http://schemas.openxmlformats.org/drawingml/2006/main">
            <a:off x="2709343" y="3690418"/>
            <a:ext cx="1054468" cy="530593"/>
          </a:xfrm>
          <a:prstGeom xmlns:a="http://schemas.openxmlformats.org/drawingml/2006/main" prst="straightConnector1">
            <a:avLst/>
          </a:prstGeom>
          <a:ln xmlns:a="http://schemas.openxmlformats.org/drawingml/2006/main" w="15240">
            <a:solidFill>
              <a:srgbClr val="C5CCC7"/>
            </a:solidFill>
            <a:prstDash val="solid"/>
          </a:ln>
        </p:spPr>
      </p:cxnSp>
      <p:cxnSp>
        <p:nvCxnSpPr>
          <p:cNvPr id="21" name="">
            <a:extLst xmlns:a="http://schemas.openxmlformats.org/drawingml/2006/main">
              <a:ext uri="{FF2B5EF4-FFF2-40B4-BE49-F238E27FC236}">
                <a16:creationId xmlns:a16="http://schemas.microsoft.com/office/drawing/2014/main" id="{81AABA18-BC9E-4166-8156-3E714875B5F7}"/>
              </a:ext>
            </a:extLst>
          </p:cNvPr>
          <p:cNvCxnSpPr>
            <a:stCxn xmlns:a="http://schemas.openxmlformats.org/drawingml/2006/main" id="5" idx="7"/>
            <a:endCxn xmlns:a="http://schemas.openxmlformats.org/drawingml/2006/main" id="9" idx="3"/>
          </p:cNvCxnSpPr>
          <p:nvPr/>
        </p:nvCxnSpPr>
        <p:spPr>
          <a:xfrm xmlns:a="http://schemas.openxmlformats.org/drawingml/2006/main" flipV="1">
            <a:off x="2709343" y="2808439"/>
            <a:ext cx="1054468" cy="511544"/>
          </a:xfrm>
          <a:prstGeom xmlns:a="http://schemas.openxmlformats.org/drawingml/2006/main" prst="straightConnector1">
            <a:avLst/>
          </a:prstGeom>
          <a:ln xmlns:a="http://schemas.openxmlformats.org/drawingml/2006/main" w="15240">
            <a:solidFill>
              <a:srgbClr val="C5CCC7"/>
            </a:solidFill>
            <a:prstDash val="solid"/>
          </a:ln>
        </p:spPr>
      </p:cxnSp>
      <p:cxnSp>
        <p:nvCxnSpPr>
          <p:cNvPr id="20" name="">
            <a:extLst xmlns:a="http://schemas.openxmlformats.org/drawingml/2006/main">
              <a:ext uri="{FF2B5EF4-FFF2-40B4-BE49-F238E27FC236}">
                <a16:creationId xmlns:a16="http://schemas.microsoft.com/office/drawing/2014/main" id="{61A51D0B-8851-42CD-ABFC-64BA56F0F978}"/>
              </a:ext>
            </a:extLst>
          </p:cNvPr>
          <p:cNvCxnSpPr>
            <a:stCxn xmlns:a="http://schemas.openxmlformats.org/drawingml/2006/main" id="7" idx="7"/>
            <a:endCxn xmlns:a="http://schemas.openxmlformats.org/drawingml/2006/main" id="5" idx="3"/>
          </p:cNvCxnSpPr>
          <p:nvPr/>
        </p:nvCxnSpPr>
        <p:spPr>
          <a:xfrm xmlns:a="http://schemas.openxmlformats.org/drawingml/2006/main" flipV="1">
            <a:off x="1265389" y="3690418"/>
            <a:ext cx="1073519" cy="663943"/>
          </a:xfrm>
          <a:prstGeom xmlns:a="http://schemas.openxmlformats.org/drawingml/2006/main" prst="straightConnector1">
            <a:avLst/>
          </a:prstGeom>
          <a:ln xmlns:a="http://schemas.openxmlformats.org/drawingml/2006/main" w="15240">
            <a:solidFill>
              <a:srgbClr val="C5CCC7"/>
            </a:solidFill>
            <a:prstDash val="solid"/>
          </a:ln>
        </p:spPr>
      </p:cxnSp>
      <p:cxnSp>
        <p:nvCxnSpPr>
          <p:cNvPr id="19" name="">
            <a:extLst xmlns:a="http://schemas.openxmlformats.org/drawingml/2006/main">
              <a:ext uri="{FF2B5EF4-FFF2-40B4-BE49-F238E27FC236}">
                <a16:creationId xmlns:a16="http://schemas.microsoft.com/office/drawing/2014/main" id="{AF261A2B-269E-412C-A7C2-359F1A9F30F6}"/>
              </a:ext>
            </a:extLst>
          </p:cNvPr>
          <p:cNvCxnSpPr>
            <a:stCxn xmlns:a="http://schemas.openxmlformats.org/drawingml/2006/main" id="3" idx="5"/>
            <a:endCxn xmlns:a="http://schemas.openxmlformats.org/drawingml/2006/main" id="5" idx="1"/>
          </p:cNvCxnSpPr>
          <p:nvPr/>
        </p:nvCxnSpPr>
        <p:spPr>
          <a:xfrm xmlns:a="http://schemas.openxmlformats.org/drawingml/2006/main">
            <a:off x="1322539" y="2713189"/>
            <a:ext cx="1016369" cy="606794"/>
          </a:xfrm>
          <a:prstGeom xmlns:a="http://schemas.openxmlformats.org/drawingml/2006/main" prst="straightConnector1">
            <a:avLst/>
          </a:prstGeom>
          <a:ln xmlns:a="http://schemas.openxmlformats.org/drawingml/2006/main" w="15240">
            <a:solidFill>
              <a:srgbClr val="C5CCC7"/>
            </a:solidFill>
            <a:prstDash val="solid"/>
          </a:ln>
        </p:spPr>
      </p:cxnSp>
      <p:sp>
        <p:nvSpPr>
          <p:cNvPr id="36" name="">
            <a:extLst xmlns:a="http://schemas.openxmlformats.org/drawingml/2006/main">
              <a:ext uri="{FF2B5EF4-FFF2-40B4-BE49-F238E27FC236}">
                <a16:creationId xmlns:a16="http://schemas.microsoft.com/office/drawing/2014/main" id="{155B3C30-65BF-4C5D-B3A0-3937A7A94933}"/>
              </a:ext>
            </a:extLst>
          </p:cNvPr>
          <p:cNvSpPr>
            <a:spLocks xmlns:a="http://schemas.openxmlformats.org/drawingml/2006/main" noGrp="1"/>
          </p:cNvSpPr>
          <p:nvPr/>
        </p:nvSpPr>
        <p:spPr>
          <a:xfrm xmlns:a="http://schemas.openxmlformats.org/drawingml/2006/main">
            <a:off x="533400" y="361950"/>
            <a:ext cx="1114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32A35"/>
                </a:solidFill>
                <a:latin typeface="DejaVu Sans"/>
                <a:ea typeface="DejaVu Sans"/>
                <a:cs typeface="DejaVu Sans"/>
              </a:defRPr>
            </a:defPPr>
            <a:lvl1pPr>
              <a:defRPr sz="3150" b="1">
                <a:solidFill>
                  <a:srgbClr val="132A35"/>
                </a:solidFill>
                <a:latin typeface="DejaVu Sans"/>
                <a:ea typeface="DejaVu Sans"/>
                <a:cs typeface="DejaVu Sans"/>
              </a:defRPr>
            </a:lvl1pPr>
            <a:lvl2pPr>
              <a:defRPr sz="3150" b="1">
                <a:solidFill>
                  <a:srgbClr val="132A35"/>
                </a:solidFill>
                <a:latin typeface="DejaVu Sans"/>
                <a:ea typeface="DejaVu Sans"/>
                <a:cs typeface="DejaVu Sans"/>
              </a:defRPr>
            </a:lvl2pPr>
            <a:lvl3pPr>
              <a:defRPr sz="3150" b="1">
                <a:solidFill>
                  <a:srgbClr val="132A35"/>
                </a:solidFill>
                <a:latin typeface="DejaVu Sans"/>
                <a:ea typeface="DejaVu Sans"/>
                <a:cs typeface="DejaVu Sans"/>
              </a:defRPr>
            </a:lvl3pPr>
            <a:lvl4pPr>
              <a:defRPr sz="3150" b="1">
                <a:solidFill>
                  <a:srgbClr val="132A35"/>
                </a:solidFill>
                <a:latin typeface="DejaVu Sans"/>
                <a:ea typeface="DejaVu Sans"/>
                <a:cs typeface="DejaVu Sans"/>
              </a:defRPr>
            </a:lvl4pPr>
            <a:lvl5pPr>
              <a:defRPr sz="3150" b="1">
                <a:solidFill>
                  <a:srgbClr val="132A35"/>
                </a:solidFill>
                <a:latin typeface="DejaVu Sans"/>
                <a:ea typeface="DejaVu Sans"/>
                <a:cs typeface="DejaVu Sans"/>
              </a:defRPr>
            </a:lvl5pPr>
            <a:lvl6pPr>
              <a:defRPr sz="3150" b="1">
                <a:solidFill>
                  <a:srgbClr val="132A35"/>
                </a:solidFill>
                <a:latin typeface="DejaVu Sans"/>
                <a:ea typeface="DejaVu Sans"/>
                <a:cs typeface="DejaVu Sans"/>
              </a:defRPr>
            </a:lvl6pPr>
            <a:lvl7pPr>
              <a:defRPr sz="3150" b="1">
                <a:solidFill>
                  <a:srgbClr val="132A35"/>
                </a:solidFill>
                <a:latin typeface="DejaVu Sans"/>
                <a:ea typeface="DejaVu Sans"/>
                <a:cs typeface="DejaVu Sans"/>
              </a:defRPr>
            </a:lvl7pPr>
            <a:lvl8pPr>
              <a:defRPr sz="3150" b="1">
                <a:solidFill>
                  <a:srgbClr val="132A35"/>
                </a:solidFill>
                <a:latin typeface="DejaVu Sans"/>
                <a:ea typeface="DejaVu Sans"/>
                <a:cs typeface="DejaVu Sans"/>
              </a:defRPr>
            </a:lvl8pPr>
            <a:lvl9pPr>
              <a:defRPr sz="3150" b="1">
                <a:solidFill>
                  <a:srgbClr val="132A35"/>
                </a:solidFill>
                <a:latin typeface="DejaVu Sans"/>
                <a:ea typeface="DejaVu Sans"/>
                <a:cs typeface="DejaVu Sans"/>
              </a:defRPr>
            </a:lvl9pPr>
          </a:lstStyle>
          <a:p xmlns:a="http://schemas.openxmlformats.org/drawingml/2006/main">
            <a:pPr>
              <a:defRPr sz="3150" b="1">
                <a:solidFill>
                  <a:srgbClr val="132A35"/>
                </a:solidFill>
                <a:latin typeface="DejaVu Sans"/>
                <a:ea typeface="DejaVu Sans"/>
                <a:cs typeface="DejaVu Sans"/>
              </a:defRPr>
            </a:pPr>
            <a:r>
              <a:rPr sz="3150" b="1">
                <a:solidFill>
                  <a:srgbClr val="132A35"/>
                </a:solidFill>
                <a:latin typeface="DejaVu Sans"/>
                <a:ea typeface="DejaVu Sans"/>
                <a:cs typeface="DejaVu Sans"/>
              </a:rPr>
              <a:t>Graph embeddings for search</a:t>
            </a:r>
          </a:p>
        </p:txBody>
      </p:sp>
      <p:sp>
        <p:nvSpPr>
          <p:cNvPr id="2" name="">
            <a:extLst xmlns:a="http://schemas.openxmlformats.org/drawingml/2006/main">
              <a:ext uri="{FF2B5EF4-FFF2-40B4-BE49-F238E27FC236}">
                <a16:creationId xmlns:a16="http://schemas.microsoft.com/office/drawing/2014/main" id="{1DAFAF42-FCBB-412F-9BBC-1BFFB82EBE86}"/>
              </a:ext>
            </a:extLst>
          </p:cNvPr>
          <p:cNvSpPr>
            <a:spLocks xmlns:a="http://schemas.openxmlformats.org/drawingml/2006/main" noGrp="1"/>
          </p:cNvSpPr>
          <p:nvPr/>
        </p:nvSpPr>
        <p:spPr>
          <a:xfrm xmlns:a="http://schemas.openxmlformats.org/drawingml/2006/main">
            <a:off x="552450" y="1057275"/>
            <a:ext cx="1104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Represent items as vectors that capture relational context</a:t>
            </a:r>
          </a:p>
        </p:txBody>
      </p:sp>
      <p:sp>
        <p:nvSpPr>
          <p:cNvPr id="3" name="location">
            <a:extLst xmlns:a="http://schemas.openxmlformats.org/drawingml/2006/main">
              <a:ext uri="{FF2B5EF4-FFF2-40B4-BE49-F238E27FC236}">
                <a16:creationId xmlns:a16="http://schemas.microsoft.com/office/drawing/2014/main" id="{A1485CEC-3958-431B-8693-3BF11D71F790}"/>
              </a:ext>
            </a:extLst>
          </p:cNvPr>
          <p:cNvSpPr>
            <a:spLocks xmlns:a="http://schemas.openxmlformats.org/drawingml/2006/main" noGrp="1"/>
          </p:cNvSpPr>
          <p:nvPr/>
        </p:nvSpPr>
        <p:spPr>
          <a:xfrm xmlns:a="http://schemas.openxmlformats.org/drawingml/2006/main">
            <a:off x="981075" y="2371725"/>
            <a:ext cx="400050" cy="400050"/>
          </a:xfrm>
          <a:prstGeom xmlns:a="http://schemas.openxmlformats.org/drawingml/2006/main" prst="ellipse">
            <a:avLst/>
          </a:prstGeom>
          <a:solidFill xmlns:a="http://schemas.openxmlformats.org/drawingml/2006/main">
            <a:srgbClr val="A8D9EF"/>
          </a:solidFill>
          <a:ln xmlns:a="http://schemas.openxmlformats.org/drawingml/2006/main" w="19050">
            <a:solidFill>
              <a:srgbClr val="FFFFFF"/>
            </a:solidFill>
            <a:prstDash val="solid"/>
          </a:ln>
        </p:spPr>
      </p:sp>
      <p:sp>
        <p:nvSpPr>
          <p:cNvPr id="4" name="">
            <a:extLst xmlns:a="http://schemas.openxmlformats.org/drawingml/2006/main">
              <a:ext uri="{FF2B5EF4-FFF2-40B4-BE49-F238E27FC236}">
                <a16:creationId xmlns:a16="http://schemas.microsoft.com/office/drawing/2014/main" id="{8F2FA2B6-B03D-4ACB-BFE4-A91D7245224B}"/>
              </a:ext>
            </a:extLst>
          </p:cNvPr>
          <p:cNvSpPr>
            <a:spLocks xmlns:a="http://schemas.openxmlformats.org/drawingml/2006/main" noGrp="1"/>
          </p:cNvSpPr>
          <p:nvPr/>
        </p:nvSpPr>
        <p:spPr>
          <a:xfrm xmlns:a="http://schemas.openxmlformats.org/drawingml/2006/main">
            <a:off x="371475" y="20859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New York</a:t>
            </a:r>
          </a:p>
        </p:txBody>
      </p:sp>
      <p:sp>
        <p:nvSpPr>
          <p:cNvPr id="5" name="seller">
            <a:extLst xmlns:a="http://schemas.openxmlformats.org/drawingml/2006/main">
              <a:ext uri="{FF2B5EF4-FFF2-40B4-BE49-F238E27FC236}">
                <a16:creationId xmlns:a16="http://schemas.microsoft.com/office/drawing/2014/main" id="{ADC8BF61-DF92-417B-A4B9-CEAA6D45DF5A}"/>
              </a:ext>
            </a:extLst>
          </p:cNvPr>
          <p:cNvSpPr>
            <a:spLocks xmlns:a="http://schemas.openxmlformats.org/drawingml/2006/main" noGrp="1"/>
          </p:cNvSpPr>
          <p:nvPr/>
        </p:nvSpPr>
        <p:spPr>
          <a:xfrm xmlns:a="http://schemas.openxmlformats.org/drawingml/2006/main">
            <a:off x="2262188" y="3243263"/>
            <a:ext cx="523875" cy="523875"/>
          </a:xfrm>
          <a:prstGeom xmlns:a="http://schemas.openxmlformats.org/drawingml/2006/main" prst="ellipse">
            <a:avLst/>
          </a:prstGeom>
          <a:solidFill xmlns:a="http://schemas.openxmlformats.org/drawingml/2006/main">
            <a:srgbClr val="1474A0"/>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40D18EDC-6B18-4137-8030-2F5ABBDCC898}"/>
              </a:ext>
            </a:extLst>
          </p:cNvPr>
          <p:cNvSpPr>
            <a:spLocks xmlns:a="http://schemas.openxmlformats.org/drawingml/2006/main" noGrp="1"/>
          </p:cNvSpPr>
          <p:nvPr/>
        </p:nvSpPr>
        <p:spPr>
          <a:xfrm xmlns:a="http://schemas.openxmlformats.org/drawingml/2006/main">
            <a:off x="1714500" y="295751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Seller1</a:t>
            </a:r>
          </a:p>
        </p:txBody>
      </p:sp>
      <p:sp>
        <p:nvSpPr>
          <p:cNvPr id="7" name="rating">
            <a:extLst xmlns:a="http://schemas.openxmlformats.org/drawingml/2006/main">
              <a:ext uri="{FF2B5EF4-FFF2-40B4-BE49-F238E27FC236}">
                <a16:creationId xmlns:a16="http://schemas.microsoft.com/office/drawing/2014/main" id="{DCD4C031-B96A-4A2D-8AEC-FC93A1DC8C43}"/>
              </a:ext>
            </a:extLst>
          </p:cNvPr>
          <p:cNvSpPr>
            <a:spLocks xmlns:a="http://schemas.openxmlformats.org/drawingml/2006/main" noGrp="1"/>
          </p:cNvSpPr>
          <p:nvPr/>
        </p:nvSpPr>
        <p:spPr>
          <a:xfrm xmlns:a="http://schemas.openxmlformats.org/drawingml/2006/main">
            <a:off x="923925" y="4295775"/>
            <a:ext cx="400050" cy="400050"/>
          </a:xfrm>
          <a:prstGeom xmlns:a="http://schemas.openxmlformats.org/drawingml/2006/main" prst="ellipse">
            <a:avLst/>
          </a:prstGeom>
          <a:solidFill xmlns:a="http://schemas.openxmlformats.org/drawingml/2006/main">
            <a:srgbClr val="4C5666"/>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152ECF92-5CE0-4607-A0D9-BA12CE1C8AFB}"/>
              </a:ext>
            </a:extLst>
          </p:cNvPr>
          <p:cNvSpPr>
            <a:spLocks xmlns:a="http://schemas.openxmlformats.org/drawingml/2006/main" noGrp="1"/>
          </p:cNvSpPr>
          <p:nvPr/>
        </p:nvSpPr>
        <p:spPr>
          <a:xfrm xmlns:a="http://schemas.openxmlformats.org/drawingml/2006/main">
            <a:off x="314325" y="40100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1-star rating</a:t>
            </a:r>
          </a:p>
        </p:txBody>
      </p:sp>
      <p:sp>
        <p:nvSpPr>
          <p:cNvPr id="9" name="item1">
            <a:extLst xmlns:a="http://schemas.openxmlformats.org/drawingml/2006/main">
              <a:ext uri="{FF2B5EF4-FFF2-40B4-BE49-F238E27FC236}">
                <a16:creationId xmlns:a16="http://schemas.microsoft.com/office/drawing/2014/main" id="{F23B342A-7D15-4109-A803-923DF78EBCD3}"/>
              </a:ext>
            </a:extLst>
          </p:cNvPr>
          <p:cNvSpPr>
            <a:spLocks xmlns:a="http://schemas.openxmlformats.org/drawingml/2006/main" noGrp="1"/>
          </p:cNvSpPr>
          <p:nvPr/>
        </p:nvSpPr>
        <p:spPr>
          <a:xfrm xmlns:a="http://schemas.openxmlformats.org/drawingml/2006/main">
            <a:off x="3705225" y="246697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0" name="">
            <a:extLst xmlns:a="http://schemas.openxmlformats.org/drawingml/2006/main">
              <a:ext uri="{FF2B5EF4-FFF2-40B4-BE49-F238E27FC236}">
                <a16:creationId xmlns:a16="http://schemas.microsoft.com/office/drawing/2014/main" id="{838E692A-C829-48FE-BA0F-C1DD70AB536C}"/>
              </a:ext>
            </a:extLst>
          </p:cNvPr>
          <p:cNvSpPr>
            <a:spLocks xmlns:a="http://schemas.openxmlformats.org/drawingml/2006/main" noGrp="1"/>
          </p:cNvSpPr>
          <p:nvPr/>
        </p:nvSpPr>
        <p:spPr>
          <a:xfrm xmlns:a="http://schemas.openxmlformats.org/drawingml/2006/main">
            <a:off x="3095625" y="21812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Item1</a:t>
            </a:r>
          </a:p>
        </p:txBody>
      </p:sp>
      <p:sp>
        <p:nvSpPr>
          <p:cNvPr id="11" name="item2">
            <a:extLst xmlns:a="http://schemas.openxmlformats.org/drawingml/2006/main">
              <a:ext uri="{FF2B5EF4-FFF2-40B4-BE49-F238E27FC236}">
                <a16:creationId xmlns:a16="http://schemas.microsoft.com/office/drawing/2014/main" id="{8CCC8B24-FCB8-43E0-84AF-1BAD81122CD6}"/>
              </a:ext>
            </a:extLst>
          </p:cNvPr>
          <p:cNvSpPr>
            <a:spLocks xmlns:a="http://schemas.openxmlformats.org/drawingml/2006/main" noGrp="1"/>
          </p:cNvSpPr>
          <p:nvPr/>
        </p:nvSpPr>
        <p:spPr>
          <a:xfrm xmlns:a="http://schemas.openxmlformats.org/drawingml/2006/main">
            <a:off x="3705225" y="416242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691578AF-4B72-476C-8156-E8290026AB14}"/>
              </a:ext>
            </a:extLst>
          </p:cNvPr>
          <p:cNvSpPr>
            <a:spLocks xmlns:a="http://schemas.openxmlformats.org/drawingml/2006/main" noGrp="1"/>
          </p:cNvSpPr>
          <p:nvPr/>
        </p:nvSpPr>
        <p:spPr>
          <a:xfrm xmlns:a="http://schemas.openxmlformats.org/drawingml/2006/main">
            <a:off x="3095625" y="38766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Item2</a:t>
            </a:r>
          </a:p>
        </p:txBody>
      </p:sp>
      <p:sp>
        <p:nvSpPr>
          <p:cNvPr id="13" name="category">
            <a:extLst xmlns:a="http://schemas.openxmlformats.org/drawingml/2006/main">
              <a:ext uri="{FF2B5EF4-FFF2-40B4-BE49-F238E27FC236}">
                <a16:creationId xmlns:a16="http://schemas.microsoft.com/office/drawing/2014/main" id="{9D1C6637-F9BE-48A0-B35C-FFD07B18F567}"/>
              </a:ext>
            </a:extLst>
          </p:cNvPr>
          <p:cNvSpPr>
            <a:spLocks xmlns:a="http://schemas.openxmlformats.org/drawingml/2006/main" noGrp="1"/>
          </p:cNvSpPr>
          <p:nvPr/>
        </p:nvSpPr>
        <p:spPr>
          <a:xfrm xmlns:a="http://schemas.openxmlformats.org/drawingml/2006/main">
            <a:off x="5038725" y="3286125"/>
            <a:ext cx="400050" cy="400050"/>
          </a:xfrm>
          <a:prstGeom xmlns:a="http://schemas.openxmlformats.org/drawingml/2006/main" prst="ellipse">
            <a:avLst/>
          </a:prstGeom>
          <a:solidFill xmlns:a="http://schemas.openxmlformats.org/drawingml/2006/main">
            <a:srgbClr val="966CC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5E5C13BB-601F-4CAE-BDB1-775E44C48251}"/>
              </a:ext>
            </a:extLst>
          </p:cNvPr>
          <p:cNvSpPr>
            <a:spLocks xmlns:a="http://schemas.openxmlformats.org/drawingml/2006/main" noGrp="1"/>
          </p:cNvSpPr>
          <p:nvPr/>
        </p:nvSpPr>
        <p:spPr>
          <a:xfrm xmlns:a="http://schemas.openxmlformats.org/drawingml/2006/main">
            <a:off x="4429125" y="3000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Holster</a:t>
            </a:r>
          </a:p>
        </p:txBody>
      </p:sp>
      <p:sp>
        <p:nvSpPr>
          <p:cNvPr id="15" name="attribute-out">
            <a:extLst xmlns:a="http://schemas.openxmlformats.org/drawingml/2006/main">
              <a:ext uri="{FF2B5EF4-FFF2-40B4-BE49-F238E27FC236}">
                <a16:creationId xmlns:a16="http://schemas.microsoft.com/office/drawing/2014/main" id="{D6102744-9EE4-479F-9593-42502EAAF818}"/>
              </a:ext>
            </a:extLst>
          </p:cNvPr>
          <p:cNvSpPr>
            <a:spLocks xmlns:a="http://schemas.openxmlformats.org/drawingml/2006/main" noGrp="1"/>
          </p:cNvSpPr>
          <p:nvPr/>
        </p:nvSpPr>
        <p:spPr>
          <a:xfrm xmlns:a="http://schemas.openxmlformats.org/drawingml/2006/main">
            <a:off x="5038725" y="203835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CD6296E8-12BB-4C07-BFF7-4C7C35781ED8}"/>
              </a:ext>
            </a:extLst>
          </p:cNvPr>
          <p:cNvSpPr>
            <a:spLocks xmlns:a="http://schemas.openxmlformats.org/drawingml/2006/main" noGrp="1"/>
          </p:cNvSpPr>
          <p:nvPr/>
        </p:nvSpPr>
        <p:spPr>
          <a:xfrm xmlns:a="http://schemas.openxmlformats.org/drawingml/2006/main">
            <a:off x="4429125" y="1752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Outside</a:t>
            </a:r>
          </a:p>
        </p:txBody>
      </p:sp>
      <p:sp>
        <p:nvSpPr>
          <p:cNvPr id="17" name="attribute-in">
            <a:extLst xmlns:a="http://schemas.openxmlformats.org/drawingml/2006/main">
              <a:ext uri="{FF2B5EF4-FFF2-40B4-BE49-F238E27FC236}">
                <a16:creationId xmlns:a16="http://schemas.microsoft.com/office/drawing/2014/main" id="{D08478C8-2155-4F5D-8901-60CC14B8FCCF}"/>
              </a:ext>
            </a:extLst>
          </p:cNvPr>
          <p:cNvSpPr>
            <a:spLocks xmlns:a="http://schemas.openxmlformats.org/drawingml/2006/main" noGrp="1"/>
          </p:cNvSpPr>
          <p:nvPr/>
        </p:nvSpPr>
        <p:spPr>
          <a:xfrm xmlns:a="http://schemas.openxmlformats.org/drawingml/2006/main">
            <a:off x="5038725" y="461010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225D436F-5457-4B0F-8174-458EED5D6CDD}"/>
              </a:ext>
            </a:extLst>
          </p:cNvPr>
          <p:cNvSpPr>
            <a:spLocks xmlns:a="http://schemas.openxmlformats.org/drawingml/2006/main" noGrp="1"/>
          </p:cNvSpPr>
          <p:nvPr/>
        </p:nvSpPr>
        <p:spPr>
          <a:xfrm xmlns:a="http://schemas.openxmlformats.org/drawingml/2006/main">
            <a:off x="4429125" y="43243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Inside</a:t>
            </a:r>
          </a:p>
        </p:txBody>
      </p:sp>
      <p:sp>
        <p:nvSpPr>
          <p:cNvPr id="27" name="">
            <a:extLst xmlns:a="http://schemas.openxmlformats.org/drawingml/2006/main">
              <a:ext uri="{FF2B5EF4-FFF2-40B4-BE49-F238E27FC236}">
                <a16:creationId xmlns:a16="http://schemas.microsoft.com/office/drawing/2014/main" id="{A83394FF-9CAD-43CB-B784-169176278DEF}"/>
              </a:ext>
            </a:extLst>
          </p:cNvPr>
          <p:cNvSpPr>
            <a:spLocks xmlns:a="http://schemas.openxmlformats.org/drawingml/2006/main" noGrp="1"/>
          </p:cNvSpPr>
          <p:nvPr/>
        </p:nvSpPr>
        <p:spPr>
          <a:xfrm xmlns:a="http://schemas.openxmlformats.org/drawingml/2006/main">
            <a:off x="609600" y="539115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087E83"/>
                </a:solidFill>
                <a:latin typeface="DejaVu Sans"/>
                <a:ea typeface="DejaVu Sans"/>
                <a:cs typeface="DejaVu Sans"/>
              </a:defRPr>
            </a:defPPr>
            <a:lvl1pPr>
              <a:defRPr sz="1425" b="0">
                <a:solidFill>
                  <a:srgbClr val="087E83"/>
                </a:solidFill>
                <a:latin typeface="DejaVu Sans"/>
                <a:ea typeface="DejaVu Sans"/>
                <a:cs typeface="DejaVu Sans"/>
              </a:defRPr>
            </a:lvl1pPr>
            <a:lvl2pPr>
              <a:defRPr sz="1425" b="0">
                <a:solidFill>
                  <a:srgbClr val="087E83"/>
                </a:solidFill>
                <a:latin typeface="DejaVu Sans"/>
                <a:ea typeface="DejaVu Sans"/>
                <a:cs typeface="DejaVu Sans"/>
              </a:defRPr>
            </a:lvl2pPr>
            <a:lvl3pPr>
              <a:defRPr sz="1425" b="0">
                <a:solidFill>
                  <a:srgbClr val="087E83"/>
                </a:solidFill>
                <a:latin typeface="DejaVu Sans"/>
                <a:ea typeface="DejaVu Sans"/>
                <a:cs typeface="DejaVu Sans"/>
              </a:defRPr>
            </a:lvl3pPr>
            <a:lvl4pPr>
              <a:defRPr sz="1425" b="0">
                <a:solidFill>
                  <a:srgbClr val="087E83"/>
                </a:solidFill>
                <a:latin typeface="DejaVu Sans"/>
                <a:ea typeface="DejaVu Sans"/>
                <a:cs typeface="DejaVu Sans"/>
              </a:defRPr>
            </a:lvl4pPr>
            <a:lvl5pPr>
              <a:defRPr sz="1425" b="0">
                <a:solidFill>
                  <a:srgbClr val="087E83"/>
                </a:solidFill>
                <a:latin typeface="DejaVu Sans"/>
                <a:ea typeface="DejaVu Sans"/>
                <a:cs typeface="DejaVu Sans"/>
              </a:defRPr>
            </a:lvl5pPr>
            <a:lvl6pPr>
              <a:defRPr sz="1425" b="0">
                <a:solidFill>
                  <a:srgbClr val="087E83"/>
                </a:solidFill>
                <a:latin typeface="DejaVu Sans"/>
                <a:ea typeface="DejaVu Sans"/>
                <a:cs typeface="DejaVu Sans"/>
              </a:defRPr>
            </a:lvl6pPr>
            <a:lvl7pPr>
              <a:defRPr sz="1425" b="0">
                <a:solidFill>
                  <a:srgbClr val="087E83"/>
                </a:solidFill>
                <a:latin typeface="DejaVu Sans"/>
                <a:ea typeface="DejaVu Sans"/>
                <a:cs typeface="DejaVu Sans"/>
              </a:defRPr>
            </a:lvl7pPr>
            <a:lvl8pPr>
              <a:defRPr sz="1425" b="0">
                <a:solidFill>
                  <a:srgbClr val="087E83"/>
                </a:solidFill>
                <a:latin typeface="DejaVu Sans"/>
                <a:ea typeface="DejaVu Sans"/>
                <a:cs typeface="DejaVu Sans"/>
              </a:defRPr>
            </a:lvl8pPr>
            <a:lvl9pPr>
              <a:defRPr sz="1425" b="0">
                <a:solidFill>
                  <a:srgbClr val="087E83"/>
                </a:solidFill>
                <a:latin typeface="DejaVu Sans"/>
                <a:ea typeface="DejaVu Sans"/>
                <a:cs typeface="DejaVu Sans"/>
              </a:defRPr>
            </a:lvl9pPr>
          </a:lstStyle>
          <a:p xmlns:a="http://schemas.openxmlformats.org/drawingml/2006/main">
            <a:pPr>
              <a:defRPr sz="1425" b="0">
                <a:solidFill>
                  <a:srgbClr val="087E83"/>
                </a:solidFill>
                <a:latin typeface="DejaVu Sans"/>
                <a:ea typeface="DejaVu Sans"/>
                <a:cs typeface="DejaVu Sans"/>
              </a:defRPr>
            </a:pPr>
            <a:r>
              <a:rPr sz="1425" b="0">
                <a:solidFill>
                  <a:srgbClr val="087E83"/>
                </a:solidFill>
                <a:latin typeface="DejaVu Sans"/>
                <a:ea typeface="DejaVu Sans"/>
                <a:cs typeface="DejaVu Sans"/>
              </a:rPr>
              <a:t>Highlighted: shared-category path between Item1 and Item2</a:t>
            </a:r>
          </a:p>
        </p:txBody>
      </p:sp>
      <p:sp>
        <p:nvSpPr>
          <p:cNvPr id="28" name="">
            <a:extLst xmlns:a="http://schemas.openxmlformats.org/drawingml/2006/main">
              <a:ext uri="{FF2B5EF4-FFF2-40B4-BE49-F238E27FC236}">
                <a16:creationId xmlns:a16="http://schemas.microsoft.com/office/drawing/2014/main" id="{0A379CFE-3E42-42C9-8567-E16A5017E075}"/>
              </a:ext>
            </a:extLst>
          </p:cNvPr>
          <p:cNvSpPr>
            <a:spLocks xmlns:a="http://schemas.openxmlformats.org/drawingml/2006/main" noGrp="1"/>
          </p:cNvSpPr>
          <p:nvPr/>
        </p:nvSpPr>
        <p:spPr>
          <a:xfrm xmlns:a="http://schemas.openxmlformats.org/drawingml/2006/main">
            <a:off x="609600" y="18097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32A35"/>
                </a:solidFill>
                <a:latin typeface="DejaVu Sans"/>
                <a:ea typeface="DejaVu Sans"/>
                <a:cs typeface="DejaVu Sans"/>
              </a:defRPr>
            </a:defPPr>
            <a:lvl1pPr>
              <a:defRPr sz="1950" b="1">
                <a:solidFill>
                  <a:srgbClr val="132A35"/>
                </a:solidFill>
                <a:latin typeface="DejaVu Sans"/>
                <a:ea typeface="DejaVu Sans"/>
                <a:cs typeface="DejaVu Sans"/>
              </a:defRPr>
            </a:lvl1pPr>
            <a:lvl2pPr>
              <a:defRPr sz="1950" b="1">
                <a:solidFill>
                  <a:srgbClr val="132A35"/>
                </a:solidFill>
                <a:latin typeface="DejaVu Sans"/>
                <a:ea typeface="DejaVu Sans"/>
                <a:cs typeface="DejaVu Sans"/>
              </a:defRPr>
            </a:lvl2pPr>
            <a:lvl3pPr>
              <a:defRPr sz="1950" b="1">
                <a:solidFill>
                  <a:srgbClr val="132A35"/>
                </a:solidFill>
                <a:latin typeface="DejaVu Sans"/>
                <a:ea typeface="DejaVu Sans"/>
                <a:cs typeface="DejaVu Sans"/>
              </a:defRPr>
            </a:lvl3pPr>
            <a:lvl4pPr>
              <a:defRPr sz="1950" b="1">
                <a:solidFill>
                  <a:srgbClr val="132A35"/>
                </a:solidFill>
                <a:latin typeface="DejaVu Sans"/>
                <a:ea typeface="DejaVu Sans"/>
                <a:cs typeface="DejaVu Sans"/>
              </a:defRPr>
            </a:lvl4pPr>
            <a:lvl5pPr>
              <a:defRPr sz="1950" b="1">
                <a:solidFill>
                  <a:srgbClr val="132A35"/>
                </a:solidFill>
                <a:latin typeface="DejaVu Sans"/>
                <a:ea typeface="DejaVu Sans"/>
                <a:cs typeface="DejaVu Sans"/>
              </a:defRPr>
            </a:lvl5pPr>
            <a:lvl6pPr>
              <a:defRPr sz="1950" b="1">
                <a:solidFill>
                  <a:srgbClr val="132A35"/>
                </a:solidFill>
                <a:latin typeface="DejaVu Sans"/>
                <a:ea typeface="DejaVu Sans"/>
                <a:cs typeface="DejaVu Sans"/>
              </a:defRPr>
            </a:lvl6pPr>
            <a:lvl7pPr>
              <a:defRPr sz="1950" b="1">
                <a:solidFill>
                  <a:srgbClr val="132A35"/>
                </a:solidFill>
                <a:latin typeface="DejaVu Sans"/>
                <a:ea typeface="DejaVu Sans"/>
                <a:cs typeface="DejaVu Sans"/>
              </a:defRPr>
            </a:lvl7pPr>
            <a:lvl8pPr>
              <a:defRPr sz="1950" b="1">
                <a:solidFill>
                  <a:srgbClr val="132A35"/>
                </a:solidFill>
                <a:latin typeface="DejaVu Sans"/>
                <a:ea typeface="DejaVu Sans"/>
                <a:cs typeface="DejaVu Sans"/>
              </a:defRPr>
            </a:lvl8pPr>
            <a:lvl9pPr>
              <a:defRPr sz="1950" b="1">
                <a:solidFill>
                  <a:srgbClr val="132A35"/>
                </a:solidFill>
                <a:latin typeface="DejaVu Sans"/>
                <a:ea typeface="DejaVu Sans"/>
                <a:cs typeface="DejaVu Sans"/>
              </a:defRPr>
            </a:lvl9pPr>
          </a:lstStyle>
          <a:p xmlns:a="http://schemas.openxmlformats.org/drawingml/2006/main">
            <a:pPr>
              <a:defRPr sz="1950" b="1">
                <a:solidFill>
                  <a:srgbClr val="132A35"/>
                </a:solidFill>
                <a:latin typeface="DejaVu Sans"/>
                <a:ea typeface="DejaVu Sans"/>
                <a:cs typeface="DejaVu Sans"/>
              </a:defRPr>
            </a:pPr>
            <a:r>
              <a:rPr sz="1950" b="1">
                <a:solidFill>
                  <a:srgbClr val="132A35"/>
                </a:solidFill>
                <a:latin typeface="DejaVu Sans"/>
                <a:ea typeface="DejaVu Sans"/>
                <a:cs typeface="DejaVu Sans"/>
              </a:rPr>
              <a:t>Shared seller–item graph</a:t>
            </a:r>
          </a:p>
        </p:txBody>
      </p:sp>
      <p:sp>
        <p:nvSpPr>
          <p:cNvPr id="29" name="">
            <a:extLst xmlns:a="http://schemas.openxmlformats.org/drawingml/2006/main">
              <a:ext uri="{FF2B5EF4-FFF2-40B4-BE49-F238E27FC236}">
                <a16:creationId xmlns:a16="http://schemas.microsoft.com/office/drawing/2014/main" id="{2D4D3A3A-5246-4610-807A-00FAA5F7086D}"/>
              </a:ext>
            </a:extLst>
          </p:cNvPr>
          <p:cNvSpPr>
            <a:spLocks xmlns:a="http://schemas.openxmlformats.org/drawingml/2006/main" noGrp="1"/>
          </p:cNvSpPr>
          <p:nvPr/>
        </p:nvSpPr>
        <p:spPr>
          <a:xfrm xmlns:a="http://schemas.openxmlformats.org/drawingml/2006/main">
            <a:off x="6276975" y="187642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Learn a retrieval representation</a:t>
            </a:r>
          </a:p>
        </p:txBody>
      </p:sp>
      <p:sp>
        <p:nvSpPr>
          <p:cNvPr id="30" name="">
            <a:extLst xmlns:a="http://schemas.openxmlformats.org/drawingml/2006/main">
              <a:ext uri="{FF2B5EF4-FFF2-40B4-BE49-F238E27FC236}">
                <a16:creationId xmlns:a16="http://schemas.microsoft.com/office/drawing/2014/main" id="{AD3C5370-0087-4B68-BC59-708AAF615D85}"/>
              </a:ext>
            </a:extLst>
          </p:cNvPr>
          <p:cNvSpPr>
            <a:spLocks xmlns:a="http://schemas.openxmlformats.org/drawingml/2006/main" noGrp="1"/>
          </p:cNvSpPr>
          <p:nvPr/>
        </p:nvSpPr>
        <p:spPr>
          <a:xfrm xmlns:a="http://schemas.openxmlformats.org/drawingml/2006/main">
            <a:off x="6276975" y="228600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Encode item attributes and graph neighbourhoods.</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Train for the intended similarity or retrieval task.</a:t>
            </a:r>
          </a:p>
        </p:txBody>
      </p:sp>
      <p:sp>
        <p:nvSpPr>
          <p:cNvPr id="31" name="">
            <a:extLst xmlns:a="http://schemas.openxmlformats.org/drawingml/2006/main">
              <a:ext uri="{FF2B5EF4-FFF2-40B4-BE49-F238E27FC236}">
                <a16:creationId xmlns:a16="http://schemas.microsoft.com/office/drawing/2014/main" id="{164B9940-8C01-4C1D-925F-FB4D691E2F36}"/>
              </a:ext>
            </a:extLst>
          </p:cNvPr>
          <p:cNvSpPr>
            <a:spLocks xmlns:a="http://schemas.openxmlformats.org/drawingml/2006/main" noGrp="1"/>
          </p:cNvSpPr>
          <p:nvPr/>
        </p:nvSpPr>
        <p:spPr>
          <a:xfrm xmlns:a="http://schemas.openxmlformats.org/drawingml/2006/main">
            <a:off x="6276975" y="3314700"/>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Retrieve nearby item vectors</a:t>
            </a:r>
          </a:p>
        </p:txBody>
      </p:sp>
      <p:sp>
        <p:nvSpPr>
          <p:cNvPr id="32" name="">
            <a:extLst xmlns:a="http://schemas.openxmlformats.org/drawingml/2006/main">
              <a:ext uri="{FF2B5EF4-FFF2-40B4-BE49-F238E27FC236}">
                <a16:creationId xmlns:a16="http://schemas.microsoft.com/office/drawing/2014/main" id="{ADA49994-AEA8-4E26-8652-D56A78ECA9F0}"/>
              </a:ext>
            </a:extLst>
          </p:cNvPr>
          <p:cNvSpPr>
            <a:spLocks xmlns:a="http://schemas.openxmlformats.org/drawingml/2006/main" noGrp="1"/>
          </p:cNvSpPr>
          <p:nvPr/>
        </p:nvSpPr>
        <p:spPr>
          <a:xfrm xmlns:a="http://schemas.openxmlformats.org/drawingml/2006/main">
            <a:off x="6276975" y="3724275"/>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Use Item1 or a mapped search query as the anchor.</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ANN retrieval returns candidate neighbours.</a:t>
            </a:r>
          </a:p>
        </p:txBody>
      </p:sp>
      <p:sp>
        <p:nvSpPr>
          <p:cNvPr id="33" name="">
            <a:extLst xmlns:a="http://schemas.openxmlformats.org/drawingml/2006/main">
              <a:ext uri="{FF2B5EF4-FFF2-40B4-BE49-F238E27FC236}">
                <a16:creationId xmlns:a16="http://schemas.microsoft.com/office/drawing/2014/main" id="{91CABA27-7F54-4A32-A62D-6ECF00EB8973}"/>
              </a:ext>
            </a:extLst>
          </p:cNvPr>
          <p:cNvSpPr>
            <a:spLocks xmlns:a="http://schemas.openxmlformats.org/drawingml/2006/main" noGrp="1"/>
          </p:cNvSpPr>
          <p:nvPr/>
        </p:nvSpPr>
        <p:spPr>
          <a:xfrm xmlns:a="http://schemas.openxmlformats.org/drawingml/2006/main">
            <a:off x="6276975" y="475297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Fuse signals and rerank</a:t>
            </a:r>
          </a:p>
        </p:txBody>
      </p:sp>
      <p:sp>
        <p:nvSpPr>
          <p:cNvPr id="34" name="">
            <a:extLst xmlns:a="http://schemas.openxmlformats.org/drawingml/2006/main">
              <a:ext uri="{FF2B5EF4-FFF2-40B4-BE49-F238E27FC236}">
                <a16:creationId xmlns:a16="http://schemas.microsoft.com/office/drawing/2014/main" id="{7A2D32A8-09FF-45AC-830C-DF5BB68FE8DB}"/>
              </a:ext>
            </a:extLst>
          </p:cNvPr>
          <p:cNvSpPr>
            <a:spLocks xmlns:a="http://schemas.openxmlformats.org/drawingml/2006/main" noGrp="1"/>
          </p:cNvSpPr>
          <p:nvPr/>
        </p:nvSpPr>
        <p:spPr>
          <a:xfrm xmlns:a="http://schemas.openxmlformats.org/drawingml/2006/main">
            <a:off x="6276975" y="516255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Fuse graph, text and image signals where useful.</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Filter candidates and rerank for the search intent.</a:t>
            </a:r>
          </a:p>
        </p:txBody>
      </p:sp>
      <p:sp>
        <p:nvSpPr>
          <p:cNvPr id="35" name="">
            <a:extLst xmlns:a="http://schemas.openxmlformats.org/drawingml/2006/main">
              <a:ext uri="{FF2B5EF4-FFF2-40B4-BE49-F238E27FC236}">
                <a16:creationId xmlns:a16="http://schemas.microsoft.com/office/drawing/2014/main" id="{7EB9C760-A066-4FEE-A1E0-9E1A93EA6C9D}"/>
              </a:ext>
            </a:extLst>
          </p:cNvPr>
          <p:cNvSpPr>
            <a:spLocks xmlns:a="http://schemas.openxmlformats.org/drawingml/2006/main" noGrp="1"/>
          </p:cNvSpPr>
          <p:nvPr/>
        </p:nvSpPr>
        <p:spPr>
          <a:xfrm xmlns:a="http://schemas.openxmlformats.org/drawingml/2006/main">
            <a:off x="552450" y="62769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087E83"/>
                </a:solidFill>
                <a:latin typeface="DejaVu Sans"/>
                <a:ea typeface="DejaVu Sans"/>
                <a:cs typeface="DejaVu Sans"/>
              </a:defRPr>
            </a:defPPr>
            <a:lvl1pPr>
              <a:defRPr sz="1650" b="1">
                <a:solidFill>
                  <a:srgbClr val="087E83"/>
                </a:solidFill>
                <a:latin typeface="DejaVu Sans"/>
                <a:ea typeface="DejaVu Sans"/>
                <a:cs typeface="DejaVu Sans"/>
              </a:defRPr>
            </a:lvl1pPr>
            <a:lvl2pPr>
              <a:defRPr sz="1650" b="1">
                <a:solidFill>
                  <a:srgbClr val="087E83"/>
                </a:solidFill>
                <a:latin typeface="DejaVu Sans"/>
                <a:ea typeface="DejaVu Sans"/>
                <a:cs typeface="DejaVu Sans"/>
              </a:defRPr>
            </a:lvl2pPr>
            <a:lvl3pPr>
              <a:defRPr sz="1650" b="1">
                <a:solidFill>
                  <a:srgbClr val="087E83"/>
                </a:solidFill>
                <a:latin typeface="DejaVu Sans"/>
                <a:ea typeface="DejaVu Sans"/>
                <a:cs typeface="DejaVu Sans"/>
              </a:defRPr>
            </a:lvl3pPr>
            <a:lvl4pPr>
              <a:defRPr sz="1650" b="1">
                <a:solidFill>
                  <a:srgbClr val="087E83"/>
                </a:solidFill>
                <a:latin typeface="DejaVu Sans"/>
                <a:ea typeface="DejaVu Sans"/>
                <a:cs typeface="DejaVu Sans"/>
              </a:defRPr>
            </a:lvl4pPr>
            <a:lvl5pPr>
              <a:defRPr sz="1650" b="1">
                <a:solidFill>
                  <a:srgbClr val="087E83"/>
                </a:solidFill>
                <a:latin typeface="DejaVu Sans"/>
                <a:ea typeface="DejaVu Sans"/>
                <a:cs typeface="DejaVu Sans"/>
              </a:defRPr>
            </a:lvl5pPr>
            <a:lvl6pPr>
              <a:defRPr sz="1650" b="1">
                <a:solidFill>
                  <a:srgbClr val="087E83"/>
                </a:solidFill>
                <a:latin typeface="DejaVu Sans"/>
                <a:ea typeface="DejaVu Sans"/>
                <a:cs typeface="DejaVu Sans"/>
              </a:defRPr>
            </a:lvl6pPr>
            <a:lvl7pPr>
              <a:defRPr sz="1650" b="1">
                <a:solidFill>
                  <a:srgbClr val="087E83"/>
                </a:solidFill>
                <a:latin typeface="DejaVu Sans"/>
                <a:ea typeface="DejaVu Sans"/>
                <a:cs typeface="DejaVu Sans"/>
              </a:defRPr>
            </a:lvl7pPr>
            <a:lvl8pPr>
              <a:defRPr sz="1650" b="1">
                <a:solidFill>
                  <a:srgbClr val="087E83"/>
                </a:solidFill>
                <a:latin typeface="DejaVu Sans"/>
                <a:ea typeface="DejaVu Sans"/>
                <a:cs typeface="DejaVu Sans"/>
              </a:defRPr>
            </a:lvl8pPr>
            <a:lvl9pPr>
              <a:defRPr sz="1650" b="1">
                <a:solidFill>
                  <a:srgbClr val="087E83"/>
                </a:solidFill>
                <a:latin typeface="DejaVu Sans"/>
                <a:ea typeface="DejaVu Sans"/>
                <a:cs typeface="DejaVu Sans"/>
              </a:defRPr>
            </a:lvl9pPr>
          </a:lstStyle>
          <a:p xmlns:a="http://schemas.openxmlformats.org/drawingml/2006/main">
            <a:pPr>
              <a:defRPr sz="1650" b="1">
                <a:solidFill>
                  <a:srgbClr val="087E83"/>
                </a:solidFill>
                <a:latin typeface="DejaVu Sans"/>
                <a:ea typeface="DejaVu Sans"/>
                <a:cs typeface="DejaVu Sans"/>
              </a:defRPr>
            </a:pPr>
            <a:r>
              <a:rPr sz="1650" b="1">
                <a:solidFill>
                  <a:srgbClr val="087E83"/>
                </a:solidFill>
                <a:latin typeface="DejaVu Sans"/>
                <a:ea typeface="DejaVu Sans"/>
                <a:cs typeface="DejaVu Sans"/>
              </a:rPr>
              <a:t>Embedding proximity must reflect relevance, not just shared graph connections.</a:t>
            </a:r>
          </a:p>
        </p:txBody>
      </p:sp>
    </p:spTree>
    <p:extLst>
      <p:ext uri="{BB962C8B-B14F-4D97-AF65-F5344CB8AC3E}">
        <p14:creationId xmlns:p14="http://schemas.microsoft.com/office/powerpoint/2010/main" val="1944247364"/>
      </p:ext>
    </p:extLst>
  </p:cSld>
</p:sld>
</file>

<file path=ppt/slides/slide7.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A18B427E-4602-407D-B588-9B7C143DA698}"/>
              </a:ext>
            </a:extLst>
          </p:cNvPr>
          <p:cNvCxnSpPr>
            <a:stCxn xmlns:a="http://schemas.openxmlformats.org/drawingml/2006/main" id="11" idx="6"/>
            <a:endCxn xmlns:a="http://schemas.openxmlformats.org/drawingml/2006/main" id="17" idx="2"/>
          </p:cNvCxnSpPr>
          <p:nvPr/>
        </p:nvCxnSpPr>
        <p:spPr>
          <a:xfrm xmlns:a="http://schemas.openxmlformats.org/drawingml/2006/main">
            <a:off x="4105275" y="4362450"/>
            <a:ext cx="933450" cy="447675"/>
          </a:xfrm>
          <a:prstGeom xmlns:a="http://schemas.openxmlformats.org/drawingml/2006/main" prst="straightConnector1">
            <a:avLst/>
          </a:prstGeom>
          <a:ln xmlns:a="http://schemas.openxmlformats.org/drawingml/2006/main" w="15240">
            <a:solidFill>
              <a:srgbClr val="C5CCC7"/>
            </a:solidFill>
            <a:prstDash val="solid"/>
          </a:ln>
        </p:spPr>
      </p:cxnSp>
      <p:cxnSp>
        <p:nvCxnSpPr>
          <p:cNvPr id="25" name="">
            <a:extLst xmlns:a="http://schemas.openxmlformats.org/drawingml/2006/main">
              <a:ext uri="{FF2B5EF4-FFF2-40B4-BE49-F238E27FC236}">
                <a16:creationId xmlns:a16="http://schemas.microsoft.com/office/drawing/2014/main" id="{8BCD132B-074C-4321-AA63-C734E0480E57}"/>
              </a:ext>
            </a:extLst>
          </p:cNvPr>
          <p:cNvCxnSpPr>
            <a:stCxn xmlns:a="http://schemas.openxmlformats.org/drawingml/2006/main" id="9" idx="6"/>
            <a:endCxn xmlns:a="http://schemas.openxmlformats.org/drawingml/2006/main" id="15" idx="2"/>
          </p:cNvCxnSpPr>
          <p:nvPr/>
        </p:nvCxnSpPr>
        <p:spPr>
          <a:xfrm xmlns:a="http://schemas.openxmlformats.org/drawingml/2006/main" flipV="1">
            <a:off x="4105275" y="2238375"/>
            <a:ext cx="933450" cy="428625"/>
          </a:xfrm>
          <a:prstGeom xmlns:a="http://schemas.openxmlformats.org/drawingml/2006/main" prst="straightConnector1">
            <a:avLst/>
          </a:prstGeom>
          <a:ln xmlns:a="http://schemas.openxmlformats.org/drawingml/2006/main" w="15240">
            <a:solidFill>
              <a:srgbClr val="C5CCC7"/>
            </a:solidFill>
            <a:prstDash val="solid"/>
          </a:ln>
        </p:spPr>
      </p:cxnSp>
      <p:cxnSp>
        <p:nvCxnSpPr>
          <p:cNvPr id="24" name="">
            <a:extLst xmlns:a="http://schemas.openxmlformats.org/drawingml/2006/main">
              <a:ext uri="{FF2B5EF4-FFF2-40B4-BE49-F238E27FC236}">
                <a16:creationId xmlns:a16="http://schemas.microsoft.com/office/drawing/2014/main" id="{E97E899E-4911-487B-84C7-7106EDFC45C7}"/>
              </a:ext>
            </a:extLst>
          </p:cNvPr>
          <p:cNvCxnSpPr>
            <a:stCxn xmlns:a="http://schemas.openxmlformats.org/drawingml/2006/main" id="11" idx="7"/>
            <a:endCxn xmlns:a="http://schemas.openxmlformats.org/drawingml/2006/main" id="13" idx="3"/>
          </p:cNvCxnSpPr>
          <p:nvPr/>
        </p:nvCxnSpPr>
        <p:spPr>
          <a:xfrm xmlns:a="http://schemas.openxmlformats.org/drawingml/2006/main" flipV="1">
            <a:off x="4046689" y="3627589"/>
            <a:ext cx="1050622" cy="593422"/>
          </a:xfrm>
          <a:prstGeom xmlns:a="http://schemas.openxmlformats.org/drawingml/2006/main" prst="straightConnector1">
            <a:avLst/>
          </a:prstGeom>
          <a:ln xmlns:a="http://schemas.openxmlformats.org/drawingml/2006/main" w="38100">
            <a:solidFill>
              <a:srgbClr val="087E83"/>
            </a:solidFill>
            <a:prstDash val="solid"/>
          </a:ln>
        </p:spPr>
      </p:cxnSp>
      <p:cxnSp>
        <p:nvCxnSpPr>
          <p:cNvPr id="23" name="">
            <a:extLst xmlns:a="http://schemas.openxmlformats.org/drawingml/2006/main">
              <a:ext uri="{FF2B5EF4-FFF2-40B4-BE49-F238E27FC236}">
                <a16:creationId xmlns:a16="http://schemas.microsoft.com/office/drawing/2014/main" id="{1959645D-818F-4F92-A744-2CDE364309FF}"/>
              </a:ext>
            </a:extLst>
          </p:cNvPr>
          <p:cNvCxnSpPr>
            <a:stCxn xmlns:a="http://schemas.openxmlformats.org/drawingml/2006/main" id="9" idx="5"/>
            <a:endCxn xmlns:a="http://schemas.openxmlformats.org/drawingml/2006/main" id="13" idx="1"/>
          </p:cNvCxnSpPr>
          <p:nvPr/>
        </p:nvCxnSpPr>
        <p:spPr>
          <a:xfrm xmlns:a="http://schemas.openxmlformats.org/drawingml/2006/main">
            <a:off x="4046689" y="2808439"/>
            <a:ext cx="1050622" cy="536272"/>
          </a:xfrm>
          <a:prstGeom xmlns:a="http://schemas.openxmlformats.org/drawingml/2006/main" prst="straightConnector1">
            <a:avLst/>
          </a:prstGeom>
          <a:ln xmlns:a="http://schemas.openxmlformats.org/drawingml/2006/main" w="38100">
            <a:solidFill>
              <a:srgbClr val="087E83"/>
            </a:solidFill>
            <a:prstDash val="solid"/>
          </a:ln>
        </p:spPr>
      </p:cxnSp>
      <p:cxnSp>
        <p:nvCxnSpPr>
          <p:cNvPr id="22" name="">
            <a:extLst xmlns:a="http://schemas.openxmlformats.org/drawingml/2006/main">
              <a:ext uri="{FF2B5EF4-FFF2-40B4-BE49-F238E27FC236}">
                <a16:creationId xmlns:a16="http://schemas.microsoft.com/office/drawing/2014/main" id="{0A24F721-5662-4BBF-A610-FE547DD5E8D1}"/>
              </a:ext>
            </a:extLst>
          </p:cNvPr>
          <p:cNvCxnSpPr>
            <a:stCxn xmlns:a="http://schemas.openxmlformats.org/drawingml/2006/main" id="5" idx="5"/>
            <a:endCxn xmlns:a="http://schemas.openxmlformats.org/drawingml/2006/main" id="11" idx="1"/>
          </p:cNvCxnSpPr>
          <p:nvPr/>
        </p:nvCxnSpPr>
        <p:spPr>
          <a:xfrm xmlns:a="http://schemas.openxmlformats.org/drawingml/2006/main">
            <a:off x="2709343" y="3690418"/>
            <a:ext cx="1054468" cy="530593"/>
          </a:xfrm>
          <a:prstGeom xmlns:a="http://schemas.openxmlformats.org/drawingml/2006/main" prst="straightConnector1">
            <a:avLst/>
          </a:prstGeom>
          <a:ln xmlns:a="http://schemas.openxmlformats.org/drawingml/2006/main" w="15240">
            <a:solidFill>
              <a:srgbClr val="C5CCC7"/>
            </a:solidFill>
            <a:prstDash val="solid"/>
          </a:ln>
        </p:spPr>
      </p:cxnSp>
      <p:cxnSp>
        <p:nvCxnSpPr>
          <p:cNvPr id="21" name="">
            <a:extLst xmlns:a="http://schemas.openxmlformats.org/drawingml/2006/main">
              <a:ext uri="{FF2B5EF4-FFF2-40B4-BE49-F238E27FC236}">
                <a16:creationId xmlns:a16="http://schemas.microsoft.com/office/drawing/2014/main" id="{E8F6135C-6434-4455-AD9C-9DA5E5D5F56E}"/>
              </a:ext>
            </a:extLst>
          </p:cNvPr>
          <p:cNvCxnSpPr>
            <a:stCxn xmlns:a="http://schemas.openxmlformats.org/drawingml/2006/main" id="5" idx="7"/>
            <a:endCxn xmlns:a="http://schemas.openxmlformats.org/drawingml/2006/main" id="9" idx="3"/>
          </p:cNvCxnSpPr>
          <p:nvPr/>
        </p:nvCxnSpPr>
        <p:spPr>
          <a:xfrm xmlns:a="http://schemas.openxmlformats.org/drawingml/2006/main" flipV="1">
            <a:off x="2709343" y="2808439"/>
            <a:ext cx="1054468" cy="511544"/>
          </a:xfrm>
          <a:prstGeom xmlns:a="http://schemas.openxmlformats.org/drawingml/2006/main" prst="straightConnector1">
            <a:avLst/>
          </a:prstGeom>
          <a:ln xmlns:a="http://schemas.openxmlformats.org/drawingml/2006/main" w="15240">
            <a:solidFill>
              <a:srgbClr val="C5CCC7"/>
            </a:solidFill>
            <a:prstDash val="solid"/>
          </a:ln>
        </p:spPr>
      </p:cxnSp>
      <p:cxnSp>
        <p:nvCxnSpPr>
          <p:cNvPr id="20" name="">
            <a:extLst xmlns:a="http://schemas.openxmlformats.org/drawingml/2006/main">
              <a:ext uri="{FF2B5EF4-FFF2-40B4-BE49-F238E27FC236}">
                <a16:creationId xmlns:a16="http://schemas.microsoft.com/office/drawing/2014/main" id="{55CFA36F-A30A-485C-AC9D-75C696E72D7D}"/>
              </a:ext>
            </a:extLst>
          </p:cNvPr>
          <p:cNvCxnSpPr>
            <a:stCxn xmlns:a="http://schemas.openxmlformats.org/drawingml/2006/main" id="7" idx="7"/>
            <a:endCxn xmlns:a="http://schemas.openxmlformats.org/drawingml/2006/main" id="5" idx="3"/>
          </p:cNvCxnSpPr>
          <p:nvPr/>
        </p:nvCxnSpPr>
        <p:spPr>
          <a:xfrm xmlns:a="http://schemas.openxmlformats.org/drawingml/2006/main" flipV="1">
            <a:off x="1265389" y="3690418"/>
            <a:ext cx="1073519" cy="663943"/>
          </a:xfrm>
          <a:prstGeom xmlns:a="http://schemas.openxmlformats.org/drawingml/2006/main" prst="straightConnector1">
            <a:avLst/>
          </a:prstGeom>
          <a:ln xmlns:a="http://schemas.openxmlformats.org/drawingml/2006/main" w="15240">
            <a:solidFill>
              <a:srgbClr val="C5CCC7"/>
            </a:solidFill>
            <a:prstDash val="solid"/>
          </a:ln>
        </p:spPr>
      </p:cxnSp>
      <p:cxnSp>
        <p:nvCxnSpPr>
          <p:cNvPr id="19" name="">
            <a:extLst xmlns:a="http://schemas.openxmlformats.org/drawingml/2006/main">
              <a:ext uri="{FF2B5EF4-FFF2-40B4-BE49-F238E27FC236}">
                <a16:creationId xmlns:a16="http://schemas.microsoft.com/office/drawing/2014/main" id="{844ABE8C-4267-4A1D-899F-99197A6F1029}"/>
              </a:ext>
            </a:extLst>
          </p:cNvPr>
          <p:cNvCxnSpPr>
            <a:stCxn xmlns:a="http://schemas.openxmlformats.org/drawingml/2006/main" id="3" idx="5"/>
            <a:endCxn xmlns:a="http://schemas.openxmlformats.org/drawingml/2006/main" id="5" idx="1"/>
          </p:cNvCxnSpPr>
          <p:nvPr/>
        </p:nvCxnSpPr>
        <p:spPr>
          <a:xfrm xmlns:a="http://schemas.openxmlformats.org/drawingml/2006/main">
            <a:off x="1322539" y="2713189"/>
            <a:ext cx="1016369" cy="606794"/>
          </a:xfrm>
          <a:prstGeom xmlns:a="http://schemas.openxmlformats.org/drawingml/2006/main" prst="straightConnector1">
            <a:avLst/>
          </a:prstGeom>
          <a:ln xmlns:a="http://schemas.openxmlformats.org/drawingml/2006/main" w="15240">
            <a:solidFill>
              <a:srgbClr val="C5CCC7"/>
            </a:solidFill>
            <a:prstDash val="solid"/>
          </a:ln>
        </p:spPr>
      </p:cxnSp>
      <p:sp>
        <p:nvSpPr>
          <p:cNvPr id="36" name="">
            <a:extLst xmlns:a="http://schemas.openxmlformats.org/drawingml/2006/main">
              <a:ext uri="{FF2B5EF4-FFF2-40B4-BE49-F238E27FC236}">
                <a16:creationId xmlns:a16="http://schemas.microsoft.com/office/drawing/2014/main" id="{DC2A8316-1E7B-4FAE-BEFD-4654005DFABA}"/>
              </a:ext>
            </a:extLst>
          </p:cNvPr>
          <p:cNvSpPr>
            <a:spLocks xmlns:a="http://schemas.openxmlformats.org/drawingml/2006/main" noGrp="1"/>
          </p:cNvSpPr>
          <p:nvPr/>
        </p:nvSpPr>
        <p:spPr>
          <a:xfrm xmlns:a="http://schemas.openxmlformats.org/drawingml/2006/main">
            <a:off x="533400" y="361950"/>
            <a:ext cx="1114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32A35"/>
                </a:solidFill>
                <a:latin typeface="DejaVu Sans"/>
                <a:ea typeface="DejaVu Sans"/>
                <a:cs typeface="DejaVu Sans"/>
              </a:defRPr>
            </a:defPPr>
            <a:lvl1pPr>
              <a:defRPr sz="3150" b="1">
                <a:solidFill>
                  <a:srgbClr val="132A35"/>
                </a:solidFill>
                <a:latin typeface="DejaVu Sans"/>
                <a:ea typeface="DejaVu Sans"/>
                <a:cs typeface="DejaVu Sans"/>
              </a:defRPr>
            </a:lvl1pPr>
            <a:lvl2pPr>
              <a:defRPr sz="3150" b="1">
                <a:solidFill>
                  <a:srgbClr val="132A35"/>
                </a:solidFill>
                <a:latin typeface="DejaVu Sans"/>
                <a:ea typeface="DejaVu Sans"/>
                <a:cs typeface="DejaVu Sans"/>
              </a:defRPr>
            </a:lvl2pPr>
            <a:lvl3pPr>
              <a:defRPr sz="3150" b="1">
                <a:solidFill>
                  <a:srgbClr val="132A35"/>
                </a:solidFill>
                <a:latin typeface="DejaVu Sans"/>
                <a:ea typeface="DejaVu Sans"/>
                <a:cs typeface="DejaVu Sans"/>
              </a:defRPr>
            </a:lvl3pPr>
            <a:lvl4pPr>
              <a:defRPr sz="3150" b="1">
                <a:solidFill>
                  <a:srgbClr val="132A35"/>
                </a:solidFill>
                <a:latin typeface="DejaVu Sans"/>
                <a:ea typeface="DejaVu Sans"/>
                <a:cs typeface="DejaVu Sans"/>
              </a:defRPr>
            </a:lvl4pPr>
            <a:lvl5pPr>
              <a:defRPr sz="3150" b="1">
                <a:solidFill>
                  <a:srgbClr val="132A35"/>
                </a:solidFill>
                <a:latin typeface="DejaVu Sans"/>
                <a:ea typeface="DejaVu Sans"/>
                <a:cs typeface="DejaVu Sans"/>
              </a:defRPr>
            </a:lvl5pPr>
            <a:lvl6pPr>
              <a:defRPr sz="3150" b="1">
                <a:solidFill>
                  <a:srgbClr val="132A35"/>
                </a:solidFill>
                <a:latin typeface="DejaVu Sans"/>
                <a:ea typeface="DejaVu Sans"/>
                <a:cs typeface="DejaVu Sans"/>
              </a:defRPr>
            </a:lvl6pPr>
            <a:lvl7pPr>
              <a:defRPr sz="3150" b="1">
                <a:solidFill>
                  <a:srgbClr val="132A35"/>
                </a:solidFill>
                <a:latin typeface="DejaVu Sans"/>
                <a:ea typeface="DejaVu Sans"/>
                <a:cs typeface="DejaVu Sans"/>
              </a:defRPr>
            </a:lvl7pPr>
            <a:lvl8pPr>
              <a:defRPr sz="3150" b="1">
                <a:solidFill>
                  <a:srgbClr val="132A35"/>
                </a:solidFill>
                <a:latin typeface="DejaVu Sans"/>
                <a:ea typeface="DejaVu Sans"/>
                <a:cs typeface="DejaVu Sans"/>
              </a:defRPr>
            </a:lvl8pPr>
            <a:lvl9pPr>
              <a:defRPr sz="3150" b="1">
                <a:solidFill>
                  <a:srgbClr val="132A35"/>
                </a:solidFill>
                <a:latin typeface="DejaVu Sans"/>
                <a:ea typeface="DejaVu Sans"/>
                <a:cs typeface="DejaVu Sans"/>
              </a:defRPr>
            </a:lvl9pPr>
          </a:lstStyle>
          <a:p xmlns:a="http://schemas.openxmlformats.org/drawingml/2006/main">
            <a:pPr>
              <a:defRPr sz="3150" b="1">
                <a:solidFill>
                  <a:srgbClr val="132A35"/>
                </a:solidFill>
                <a:latin typeface="DejaVu Sans"/>
                <a:ea typeface="DejaVu Sans"/>
                <a:cs typeface="DejaVu Sans"/>
              </a:defRPr>
            </a:pPr>
            <a:r>
              <a:rPr sz="3150" b="1">
                <a:solidFill>
                  <a:srgbClr val="132A35"/>
                </a:solidFill>
                <a:latin typeface="DejaVu Sans"/>
                <a:ea typeface="DejaVu Sans"/>
                <a:cs typeface="DejaVu Sans"/>
              </a:rPr>
              <a:t>GraphRAG for grounded answers</a:t>
            </a:r>
          </a:p>
        </p:txBody>
      </p:sp>
      <p:sp>
        <p:nvSpPr>
          <p:cNvPr id="2" name="">
            <a:extLst xmlns:a="http://schemas.openxmlformats.org/drawingml/2006/main">
              <a:ext uri="{FF2B5EF4-FFF2-40B4-BE49-F238E27FC236}">
                <a16:creationId xmlns:a16="http://schemas.microsoft.com/office/drawing/2014/main" id="{22FCEFBF-E013-41CE-8B88-DB4844C318DB}"/>
              </a:ext>
            </a:extLst>
          </p:cNvPr>
          <p:cNvSpPr>
            <a:spLocks xmlns:a="http://schemas.openxmlformats.org/drawingml/2006/main" noGrp="1"/>
          </p:cNvSpPr>
          <p:nvPr/>
        </p:nvSpPr>
        <p:spPr>
          <a:xfrm xmlns:a="http://schemas.openxmlformats.org/drawingml/2006/main">
            <a:off x="552450" y="1057275"/>
            <a:ext cx="1104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Retrieve a relevant subgraph and give the LLM connected evidence</a:t>
            </a:r>
          </a:p>
        </p:txBody>
      </p:sp>
      <p:sp>
        <p:nvSpPr>
          <p:cNvPr id="3" name="location">
            <a:extLst xmlns:a="http://schemas.openxmlformats.org/drawingml/2006/main">
              <a:ext uri="{FF2B5EF4-FFF2-40B4-BE49-F238E27FC236}">
                <a16:creationId xmlns:a16="http://schemas.microsoft.com/office/drawing/2014/main" id="{58A40014-64F3-4C5C-B3F4-1AB5D5A59D4A}"/>
              </a:ext>
            </a:extLst>
          </p:cNvPr>
          <p:cNvSpPr>
            <a:spLocks xmlns:a="http://schemas.openxmlformats.org/drawingml/2006/main" noGrp="1"/>
          </p:cNvSpPr>
          <p:nvPr/>
        </p:nvSpPr>
        <p:spPr>
          <a:xfrm xmlns:a="http://schemas.openxmlformats.org/drawingml/2006/main">
            <a:off x="981075" y="2371725"/>
            <a:ext cx="400050" cy="400050"/>
          </a:xfrm>
          <a:prstGeom xmlns:a="http://schemas.openxmlformats.org/drawingml/2006/main" prst="ellipse">
            <a:avLst/>
          </a:prstGeom>
          <a:solidFill xmlns:a="http://schemas.openxmlformats.org/drawingml/2006/main">
            <a:srgbClr val="A8D9EF"/>
          </a:solidFill>
          <a:ln xmlns:a="http://schemas.openxmlformats.org/drawingml/2006/main" w="19050">
            <a:solidFill>
              <a:srgbClr val="FFFFFF"/>
            </a:solidFill>
            <a:prstDash val="solid"/>
          </a:ln>
        </p:spPr>
      </p:sp>
      <p:sp>
        <p:nvSpPr>
          <p:cNvPr id="4" name="">
            <a:extLst xmlns:a="http://schemas.openxmlformats.org/drawingml/2006/main">
              <a:ext uri="{FF2B5EF4-FFF2-40B4-BE49-F238E27FC236}">
                <a16:creationId xmlns:a16="http://schemas.microsoft.com/office/drawing/2014/main" id="{AF9EAA20-FBA4-439E-AB3B-B27A9ED1B0F6}"/>
              </a:ext>
            </a:extLst>
          </p:cNvPr>
          <p:cNvSpPr>
            <a:spLocks xmlns:a="http://schemas.openxmlformats.org/drawingml/2006/main" noGrp="1"/>
          </p:cNvSpPr>
          <p:nvPr/>
        </p:nvSpPr>
        <p:spPr>
          <a:xfrm xmlns:a="http://schemas.openxmlformats.org/drawingml/2006/main">
            <a:off x="371475" y="20859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New York</a:t>
            </a:r>
          </a:p>
        </p:txBody>
      </p:sp>
      <p:sp>
        <p:nvSpPr>
          <p:cNvPr id="5" name="seller">
            <a:extLst xmlns:a="http://schemas.openxmlformats.org/drawingml/2006/main">
              <a:ext uri="{FF2B5EF4-FFF2-40B4-BE49-F238E27FC236}">
                <a16:creationId xmlns:a16="http://schemas.microsoft.com/office/drawing/2014/main" id="{0B147076-3B01-43AF-8D53-9A133B6611E5}"/>
              </a:ext>
            </a:extLst>
          </p:cNvPr>
          <p:cNvSpPr>
            <a:spLocks xmlns:a="http://schemas.openxmlformats.org/drawingml/2006/main" noGrp="1"/>
          </p:cNvSpPr>
          <p:nvPr/>
        </p:nvSpPr>
        <p:spPr>
          <a:xfrm xmlns:a="http://schemas.openxmlformats.org/drawingml/2006/main">
            <a:off x="2262188" y="3243263"/>
            <a:ext cx="523875" cy="523875"/>
          </a:xfrm>
          <a:prstGeom xmlns:a="http://schemas.openxmlformats.org/drawingml/2006/main" prst="ellipse">
            <a:avLst/>
          </a:prstGeom>
          <a:solidFill xmlns:a="http://schemas.openxmlformats.org/drawingml/2006/main">
            <a:srgbClr val="1474A0"/>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D2D9162F-5DB7-4878-A3E9-8418E9279D0B}"/>
              </a:ext>
            </a:extLst>
          </p:cNvPr>
          <p:cNvSpPr>
            <a:spLocks xmlns:a="http://schemas.openxmlformats.org/drawingml/2006/main" noGrp="1"/>
          </p:cNvSpPr>
          <p:nvPr/>
        </p:nvSpPr>
        <p:spPr>
          <a:xfrm xmlns:a="http://schemas.openxmlformats.org/drawingml/2006/main">
            <a:off x="1714500" y="295751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Seller1</a:t>
            </a:r>
          </a:p>
        </p:txBody>
      </p:sp>
      <p:sp>
        <p:nvSpPr>
          <p:cNvPr id="7" name="rating">
            <a:extLst xmlns:a="http://schemas.openxmlformats.org/drawingml/2006/main">
              <a:ext uri="{FF2B5EF4-FFF2-40B4-BE49-F238E27FC236}">
                <a16:creationId xmlns:a16="http://schemas.microsoft.com/office/drawing/2014/main" id="{DEC8A286-675A-4B8B-B56F-940DFCAB47FE}"/>
              </a:ext>
            </a:extLst>
          </p:cNvPr>
          <p:cNvSpPr>
            <a:spLocks xmlns:a="http://schemas.openxmlformats.org/drawingml/2006/main" noGrp="1"/>
          </p:cNvSpPr>
          <p:nvPr/>
        </p:nvSpPr>
        <p:spPr>
          <a:xfrm xmlns:a="http://schemas.openxmlformats.org/drawingml/2006/main">
            <a:off x="923925" y="4295775"/>
            <a:ext cx="400050" cy="400050"/>
          </a:xfrm>
          <a:prstGeom xmlns:a="http://schemas.openxmlformats.org/drawingml/2006/main" prst="ellipse">
            <a:avLst/>
          </a:prstGeom>
          <a:solidFill xmlns:a="http://schemas.openxmlformats.org/drawingml/2006/main">
            <a:srgbClr val="4C5666"/>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FF5A72AA-B5C7-4C1E-B3C0-3D1574843620}"/>
              </a:ext>
            </a:extLst>
          </p:cNvPr>
          <p:cNvSpPr>
            <a:spLocks xmlns:a="http://schemas.openxmlformats.org/drawingml/2006/main" noGrp="1"/>
          </p:cNvSpPr>
          <p:nvPr/>
        </p:nvSpPr>
        <p:spPr>
          <a:xfrm xmlns:a="http://schemas.openxmlformats.org/drawingml/2006/main">
            <a:off x="314325" y="40100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1-star rating</a:t>
            </a:r>
          </a:p>
        </p:txBody>
      </p:sp>
      <p:sp>
        <p:nvSpPr>
          <p:cNvPr id="9" name="item1">
            <a:extLst xmlns:a="http://schemas.openxmlformats.org/drawingml/2006/main">
              <a:ext uri="{FF2B5EF4-FFF2-40B4-BE49-F238E27FC236}">
                <a16:creationId xmlns:a16="http://schemas.microsoft.com/office/drawing/2014/main" id="{A89BED40-04B9-41E0-9DC4-C9E4C12158E7}"/>
              </a:ext>
            </a:extLst>
          </p:cNvPr>
          <p:cNvSpPr>
            <a:spLocks xmlns:a="http://schemas.openxmlformats.org/drawingml/2006/main" noGrp="1"/>
          </p:cNvSpPr>
          <p:nvPr/>
        </p:nvSpPr>
        <p:spPr>
          <a:xfrm xmlns:a="http://schemas.openxmlformats.org/drawingml/2006/main">
            <a:off x="3705225" y="246697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0" name="">
            <a:extLst xmlns:a="http://schemas.openxmlformats.org/drawingml/2006/main">
              <a:ext uri="{FF2B5EF4-FFF2-40B4-BE49-F238E27FC236}">
                <a16:creationId xmlns:a16="http://schemas.microsoft.com/office/drawing/2014/main" id="{8611C3F7-9C17-458F-AFC4-275AD10FF7CC}"/>
              </a:ext>
            </a:extLst>
          </p:cNvPr>
          <p:cNvSpPr>
            <a:spLocks xmlns:a="http://schemas.openxmlformats.org/drawingml/2006/main" noGrp="1"/>
          </p:cNvSpPr>
          <p:nvPr/>
        </p:nvSpPr>
        <p:spPr>
          <a:xfrm xmlns:a="http://schemas.openxmlformats.org/drawingml/2006/main">
            <a:off x="3095625" y="21812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Item1</a:t>
            </a:r>
          </a:p>
        </p:txBody>
      </p:sp>
      <p:sp>
        <p:nvSpPr>
          <p:cNvPr id="11" name="item2">
            <a:extLst xmlns:a="http://schemas.openxmlformats.org/drawingml/2006/main">
              <a:ext uri="{FF2B5EF4-FFF2-40B4-BE49-F238E27FC236}">
                <a16:creationId xmlns:a16="http://schemas.microsoft.com/office/drawing/2014/main" id="{50EF8C75-0C15-418D-9121-F540788ECDF1}"/>
              </a:ext>
            </a:extLst>
          </p:cNvPr>
          <p:cNvSpPr>
            <a:spLocks xmlns:a="http://schemas.openxmlformats.org/drawingml/2006/main" noGrp="1"/>
          </p:cNvSpPr>
          <p:nvPr/>
        </p:nvSpPr>
        <p:spPr>
          <a:xfrm xmlns:a="http://schemas.openxmlformats.org/drawingml/2006/main">
            <a:off x="3705225" y="416242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3010A65D-D922-4764-A865-55E34645D15D}"/>
              </a:ext>
            </a:extLst>
          </p:cNvPr>
          <p:cNvSpPr>
            <a:spLocks xmlns:a="http://schemas.openxmlformats.org/drawingml/2006/main" noGrp="1"/>
          </p:cNvSpPr>
          <p:nvPr/>
        </p:nvSpPr>
        <p:spPr>
          <a:xfrm xmlns:a="http://schemas.openxmlformats.org/drawingml/2006/main">
            <a:off x="3095625" y="38766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Item2</a:t>
            </a:r>
          </a:p>
        </p:txBody>
      </p:sp>
      <p:sp>
        <p:nvSpPr>
          <p:cNvPr id="13" name="category">
            <a:extLst xmlns:a="http://schemas.openxmlformats.org/drawingml/2006/main">
              <a:ext uri="{FF2B5EF4-FFF2-40B4-BE49-F238E27FC236}">
                <a16:creationId xmlns:a16="http://schemas.microsoft.com/office/drawing/2014/main" id="{EC85A186-7C69-4F5E-9206-9733ACA13062}"/>
              </a:ext>
            </a:extLst>
          </p:cNvPr>
          <p:cNvSpPr>
            <a:spLocks xmlns:a="http://schemas.openxmlformats.org/drawingml/2006/main" noGrp="1"/>
          </p:cNvSpPr>
          <p:nvPr/>
        </p:nvSpPr>
        <p:spPr>
          <a:xfrm xmlns:a="http://schemas.openxmlformats.org/drawingml/2006/main">
            <a:off x="5038725" y="3286125"/>
            <a:ext cx="400050" cy="400050"/>
          </a:xfrm>
          <a:prstGeom xmlns:a="http://schemas.openxmlformats.org/drawingml/2006/main" prst="ellipse">
            <a:avLst/>
          </a:prstGeom>
          <a:solidFill xmlns:a="http://schemas.openxmlformats.org/drawingml/2006/main">
            <a:srgbClr val="966CC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0A6C2156-7DF7-465D-AF9E-A3B3AE9595E8}"/>
              </a:ext>
            </a:extLst>
          </p:cNvPr>
          <p:cNvSpPr>
            <a:spLocks xmlns:a="http://schemas.openxmlformats.org/drawingml/2006/main" noGrp="1"/>
          </p:cNvSpPr>
          <p:nvPr/>
        </p:nvSpPr>
        <p:spPr>
          <a:xfrm xmlns:a="http://schemas.openxmlformats.org/drawingml/2006/main">
            <a:off x="4429125" y="3000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Holster</a:t>
            </a:r>
          </a:p>
        </p:txBody>
      </p:sp>
      <p:sp>
        <p:nvSpPr>
          <p:cNvPr id="15" name="attribute-out">
            <a:extLst xmlns:a="http://schemas.openxmlformats.org/drawingml/2006/main">
              <a:ext uri="{FF2B5EF4-FFF2-40B4-BE49-F238E27FC236}">
                <a16:creationId xmlns:a16="http://schemas.microsoft.com/office/drawing/2014/main" id="{0A023A12-A1D5-46CD-A859-12552DD0D9B2}"/>
              </a:ext>
            </a:extLst>
          </p:cNvPr>
          <p:cNvSpPr>
            <a:spLocks xmlns:a="http://schemas.openxmlformats.org/drawingml/2006/main" noGrp="1"/>
          </p:cNvSpPr>
          <p:nvPr/>
        </p:nvSpPr>
        <p:spPr>
          <a:xfrm xmlns:a="http://schemas.openxmlformats.org/drawingml/2006/main">
            <a:off x="5038725" y="203835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6BBDC8FE-4534-4876-B18D-858372359887}"/>
              </a:ext>
            </a:extLst>
          </p:cNvPr>
          <p:cNvSpPr>
            <a:spLocks xmlns:a="http://schemas.openxmlformats.org/drawingml/2006/main" noGrp="1"/>
          </p:cNvSpPr>
          <p:nvPr/>
        </p:nvSpPr>
        <p:spPr>
          <a:xfrm xmlns:a="http://schemas.openxmlformats.org/drawingml/2006/main">
            <a:off x="4429125" y="1752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Outside</a:t>
            </a:r>
          </a:p>
        </p:txBody>
      </p:sp>
      <p:sp>
        <p:nvSpPr>
          <p:cNvPr id="17" name="attribute-in">
            <a:extLst xmlns:a="http://schemas.openxmlformats.org/drawingml/2006/main">
              <a:ext uri="{FF2B5EF4-FFF2-40B4-BE49-F238E27FC236}">
                <a16:creationId xmlns:a16="http://schemas.microsoft.com/office/drawing/2014/main" id="{D8E8C530-13B9-4103-8BBB-DB55539C7314}"/>
              </a:ext>
            </a:extLst>
          </p:cNvPr>
          <p:cNvSpPr>
            <a:spLocks xmlns:a="http://schemas.openxmlformats.org/drawingml/2006/main" noGrp="1"/>
          </p:cNvSpPr>
          <p:nvPr/>
        </p:nvSpPr>
        <p:spPr>
          <a:xfrm xmlns:a="http://schemas.openxmlformats.org/drawingml/2006/main">
            <a:off x="5038725" y="461010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A1FFE329-69D9-433B-8120-8658CC53B20A}"/>
              </a:ext>
            </a:extLst>
          </p:cNvPr>
          <p:cNvSpPr>
            <a:spLocks xmlns:a="http://schemas.openxmlformats.org/drawingml/2006/main" noGrp="1"/>
          </p:cNvSpPr>
          <p:nvPr/>
        </p:nvSpPr>
        <p:spPr>
          <a:xfrm xmlns:a="http://schemas.openxmlformats.org/drawingml/2006/main">
            <a:off x="4429125" y="43243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Inside</a:t>
            </a:r>
          </a:p>
        </p:txBody>
      </p:sp>
      <p:sp>
        <p:nvSpPr>
          <p:cNvPr id="27" name="">
            <a:extLst xmlns:a="http://schemas.openxmlformats.org/drawingml/2006/main">
              <a:ext uri="{FF2B5EF4-FFF2-40B4-BE49-F238E27FC236}">
                <a16:creationId xmlns:a16="http://schemas.microsoft.com/office/drawing/2014/main" id="{21371B86-DB62-432A-ABCA-33E6FEC0C85C}"/>
              </a:ext>
            </a:extLst>
          </p:cNvPr>
          <p:cNvSpPr>
            <a:spLocks xmlns:a="http://schemas.openxmlformats.org/drawingml/2006/main" noGrp="1"/>
          </p:cNvSpPr>
          <p:nvPr/>
        </p:nvSpPr>
        <p:spPr>
          <a:xfrm xmlns:a="http://schemas.openxmlformats.org/drawingml/2006/main">
            <a:off x="609600" y="539115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087E83"/>
                </a:solidFill>
                <a:latin typeface="DejaVu Sans"/>
                <a:ea typeface="DejaVu Sans"/>
                <a:cs typeface="DejaVu Sans"/>
              </a:defRPr>
            </a:defPPr>
            <a:lvl1pPr>
              <a:defRPr sz="1425" b="0">
                <a:solidFill>
                  <a:srgbClr val="087E83"/>
                </a:solidFill>
                <a:latin typeface="DejaVu Sans"/>
                <a:ea typeface="DejaVu Sans"/>
                <a:cs typeface="DejaVu Sans"/>
              </a:defRPr>
            </a:lvl1pPr>
            <a:lvl2pPr>
              <a:defRPr sz="1425" b="0">
                <a:solidFill>
                  <a:srgbClr val="087E83"/>
                </a:solidFill>
                <a:latin typeface="DejaVu Sans"/>
                <a:ea typeface="DejaVu Sans"/>
                <a:cs typeface="DejaVu Sans"/>
              </a:defRPr>
            </a:lvl2pPr>
            <a:lvl3pPr>
              <a:defRPr sz="1425" b="0">
                <a:solidFill>
                  <a:srgbClr val="087E83"/>
                </a:solidFill>
                <a:latin typeface="DejaVu Sans"/>
                <a:ea typeface="DejaVu Sans"/>
                <a:cs typeface="DejaVu Sans"/>
              </a:defRPr>
            </a:lvl3pPr>
            <a:lvl4pPr>
              <a:defRPr sz="1425" b="0">
                <a:solidFill>
                  <a:srgbClr val="087E83"/>
                </a:solidFill>
                <a:latin typeface="DejaVu Sans"/>
                <a:ea typeface="DejaVu Sans"/>
                <a:cs typeface="DejaVu Sans"/>
              </a:defRPr>
            </a:lvl4pPr>
            <a:lvl5pPr>
              <a:defRPr sz="1425" b="0">
                <a:solidFill>
                  <a:srgbClr val="087E83"/>
                </a:solidFill>
                <a:latin typeface="DejaVu Sans"/>
                <a:ea typeface="DejaVu Sans"/>
                <a:cs typeface="DejaVu Sans"/>
              </a:defRPr>
            </a:lvl5pPr>
            <a:lvl6pPr>
              <a:defRPr sz="1425" b="0">
                <a:solidFill>
                  <a:srgbClr val="087E83"/>
                </a:solidFill>
                <a:latin typeface="DejaVu Sans"/>
                <a:ea typeface="DejaVu Sans"/>
                <a:cs typeface="DejaVu Sans"/>
              </a:defRPr>
            </a:lvl6pPr>
            <a:lvl7pPr>
              <a:defRPr sz="1425" b="0">
                <a:solidFill>
                  <a:srgbClr val="087E83"/>
                </a:solidFill>
                <a:latin typeface="DejaVu Sans"/>
                <a:ea typeface="DejaVu Sans"/>
                <a:cs typeface="DejaVu Sans"/>
              </a:defRPr>
            </a:lvl7pPr>
            <a:lvl8pPr>
              <a:defRPr sz="1425" b="0">
                <a:solidFill>
                  <a:srgbClr val="087E83"/>
                </a:solidFill>
                <a:latin typeface="DejaVu Sans"/>
                <a:ea typeface="DejaVu Sans"/>
                <a:cs typeface="DejaVu Sans"/>
              </a:defRPr>
            </a:lvl8pPr>
            <a:lvl9pPr>
              <a:defRPr sz="1425" b="0">
                <a:solidFill>
                  <a:srgbClr val="087E83"/>
                </a:solidFill>
                <a:latin typeface="DejaVu Sans"/>
                <a:ea typeface="DejaVu Sans"/>
                <a:cs typeface="DejaVu Sans"/>
              </a:defRPr>
            </a:lvl9pPr>
          </a:lstStyle>
          <a:p xmlns:a="http://schemas.openxmlformats.org/drawingml/2006/main">
            <a:pPr>
              <a:defRPr sz="1425" b="0">
                <a:solidFill>
                  <a:srgbClr val="087E83"/>
                </a:solidFill>
                <a:latin typeface="DejaVu Sans"/>
                <a:ea typeface="DejaVu Sans"/>
                <a:cs typeface="DejaVu Sans"/>
              </a:defRPr>
            </a:pPr>
            <a:r>
              <a:rPr sz="1425" b="0">
                <a:solidFill>
                  <a:srgbClr val="087E83"/>
                </a:solidFill>
                <a:latin typeface="DejaVu Sans"/>
                <a:ea typeface="DejaVu Sans"/>
                <a:cs typeface="DejaVu Sans"/>
              </a:rPr>
              <a:t>Highlighted: shared-category path between Item1 and Item2</a:t>
            </a:r>
          </a:p>
        </p:txBody>
      </p:sp>
      <p:sp>
        <p:nvSpPr>
          <p:cNvPr id="28" name="">
            <a:extLst xmlns:a="http://schemas.openxmlformats.org/drawingml/2006/main">
              <a:ext uri="{FF2B5EF4-FFF2-40B4-BE49-F238E27FC236}">
                <a16:creationId xmlns:a16="http://schemas.microsoft.com/office/drawing/2014/main" id="{8B06C057-CE27-4EB6-A26B-B699B372519D}"/>
              </a:ext>
            </a:extLst>
          </p:cNvPr>
          <p:cNvSpPr>
            <a:spLocks xmlns:a="http://schemas.openxmlformats.org/drawingml/2006/main" noGrp="1"/>
          </p:cNvSpPr>
          <p:nvPr/>
        </p:nvSpPr>
        <p:spPr>
          <a:xfrm xmlns:a="http://schemas.openxmlformats.org/drawingml/2006/main">
            <a:off x="609600" y="18097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32A35"/>
                </a:solidFill>
                <a:latin typeface="DejaVu Sans"/>
                <a:ea typeface="DejaVu Sans"/>
                <a:cs typeface="DejaVu Sans"/>
              </a:defRPr>
            </a:defPPr>
            <a:lvl1pPr>
              <a:defRPr sz="1950" b="1">
                <a:solidFill>
                  <a:srgbClr val="132A35"/>
                </a:solidFill>
                <a:latin typeface="DejaVu Sans"/>
                <a:ea typeface="DejaVu Sans"/>
                <a:cs typeface="DejaVu Sans"/>
              </a:defRPr>
            </a:lvl1pPr>
            <a:lvl2pPr>
              <a:defRPr sz="1950" b="1">
                <a:solidFill>
                  <a:srgbClr val="132A35"/>
                </a:solidFill>
                <a:latin typeface="DejaVu Sans"/>
                <a:ea typeface="DejaVu Sans"/>
                <a:cs typeface="DejaVu Sans"/>
              </a:defRPr>
            </a:lvl2pPr>
            <a:lvl3pPr>
              <a:defRPr sz="1950" b="1">
                <a:solidFill>
                  <a:srgbClr val="132A35"/>
                </a:solidFill>
                <a:latin typeface="DejaVu Sans"/>
                <a:ea typeface="DejaVu Sans"/>
                <a:cs typeface="DejaVu Sans"/>
              </a:defRPr>
            </a:lvl3pPr>
            <a:lvl4pPr>
              <a:defRPr sz="1950" b="1">
                <a:solidFill>
                  <a:srgbClr val="132A35"/>
                </a:solidFill>
                <a:latin typeface="DejaVu Sans"/>
                <a:ea typeface="DejaVu Sans"/>
                <a:cs typeface="DejaVu Sans"/>
              </a:defRPr>
            </a:lvl4pPr>
            <a:lvl5pPr>
              <a:defRPr sz="1950" b="1">
                <a:solidFill>
                  <a:srgbClr val="132A35"/>
                </a:solidFill>
                <a:latin typeface="DejaVu Sans"/>
                <a:ea typeface="DejaVu Sans"/>
                <a:cs typeface="DejaVu Sans"/>
              </a:defRPr>
            </a:lvl5pPr>
            <a:lvl6pPr>
              <a:defRPr sz="1950" b="1">
                <a:solidFill>
                  <a:srgbClr val="132A35"/>
                </a:solidFill>
                <a:latin typeface="DejaVu Sans"/>
                <a:ea typeface="DejaVu Sans"/>
                <a:cs typeface="DejaVu Sans"/>
              </a:defRPr>
            </a:lvl6pPr>
            <a:lvl7pPr>
              <a:defRPr sz="1950" b="1">
                <a:solidFill>
                  <a:srgbClr val="132A35"/>
                </a:solidFill>
                <a:latin typeface="DejaVu Sans"/>
                <a:ea typeface="DejaVu Sans"/>
                <a:cs typeface="DejaVu Sans"/>
              </a:defRPr>
            </a:lvl7pPr>
            <a:lvl8pPr>
              <a:defRPr sz="1950" b="1">
                <a:solidFill>
                  <a:srgbClr val="132A35"/>
                </a:solidFill>
                <a:latin typeface="DejaVu Sans"/>
                <a:ea typeface="DejaVu Sans"/>
                <a:cs typeface="DejaVu Sans"/>
              </a:defRPr>
            </a:lvl8pPr>
            <a:lvl9pPr>
              <a:defRPr sz="1950" b="1">
                <a:solidFill>
                  <a:srgbClr val="132A35"/>
                </a:solidFill>
                <a:latin typeface="DejaVu Sans"/>
                <a:ea typeface="DejaVu Sans"/>
                <a:cs typeface="DejaVu Sans"/>
              </a:defRPr>
            </a:lvl9pPr>
          </a:lstStyle>
          <a:p xmlns:a="http://schemas.openxmlformats.org/drawingml/2006/main">
            <a:pPr>
              <a:defRPr sz="1950" b="1">
                <a:solidFill>
                  <a:srgbClr val="132A35"/>
                </a:solidFill>
                <a:latin typeface="DejaVu Sans"/>
                <a:ea typeface="DejaVu Sans"/>
                <a:cs typeface="DejaVu Sans"/>
              </a:defRPr>
            </a:pPr>
            <a:r>
              <a:rPr sz="1950" b="1">
                <a:solidFill>
                  <a:srgbClr val="132A35"/>
                </a:solidFill>
                <a:latin typeface="DejaVu Sans"/>
                <a:ea typeface="DejaVu Sans"/>
                <a:cs typeface="DejaVu Sans"/>
              </a:rPr>
              <a:t>Shared seller–item graph</a:t>
            </a:r>
          </a:p>
        </p:txBody>
      </p:sp>
      <p:sp>
        <p:nvSpPr>
          <p:cNvPr id="29" name="">
            <a:extLst xmlns:a="http://schemas.openxmlformats.org/drawingml/2006/main">
              <a:ext uri="{FF2B5EF4-FFF2-40B4-BE49-F238E27FC236}">
                <a16:creationId xmlns:a16="http://schemas.microsoft.com/office/drawing/2014/main" id="{8704126C-FD24-42B6-A467-A7910512F3E9}"/>
              </a:ext>
            </a:extLst>
          </p:cNvPr>
          <p:cNvSpPr>
            <a:spLocks xmlns:a="http://schemas.openxmlformats.org/drawingml/2006/main" noGrp="1"/>
          </p:cNvSpPr>
          <p:nvPr/>
        </p:nvSpPr>
        <p:spPr>
          <a:xfrm xmlns:a="http://schemas.openxmlformats.org/drawingml/2006/main">
            <a:off x="6276975" y="187642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1. Resolve the question to entities</a:t>
            </a:r>
          </a:p>
        </p:txBody>
      </p:sp>
      <p:sp>
        <p:nvSpPr>
          <p:cNvPr id="30" name="">
            <a:extLst xmlns:a="http://schemas.openxmlformats.org/drawingml/2006/main">
              <a:ext uri="{FF2B5EF4-FFF2-40B4-BE49-F238E27FC236}">
                <a16:creationId xmlns:a16="http://schemas.microsoft.com/office/drawing/2014/main" id="{5980833A-915C-4E92-8F2B-7F1B9C6347FA}"/>
              </a:ext>
            </a:extLst>
          </p:cNvPr>
          <p:cNvSpPr>
            <a:spLocks xmlns:a="http://schemas.openxmlformats.org/drawingml/2006/main" noGrp="1"/>
          </p:cNvSpPr>
          <p:nvPr/>
        </p:nvSpPr>
        <p:spPr>
          <a:xfrm xmlns:a="http://schemas.openxmlformats.org/drawingml/2006/main">
            <a:off x="6276975" y="228600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“How are Item1 and Item2 related?”</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Resolve item names and the required relationships.</a:t>
            </a:r>
          </a:p>
        </p:txBody>
      </p:sp>
      <p:sp>
        <p:nvSpPr>
          <p:cNvPr id="31" name="">
            <a:extLst xmlns:a="http://schemas.openxmlformats.org/drawingml/2006/main">
              <a:ext uri="{FF2B5EF4-FFF2-40B4-BE49-F238E27FC236}">
                <a16:creationId xmlns:a16="http://schemas.microsoft.com/office/drawing/2014/main" id="{76CDA444-4E4F-4D6F-8B96-19C3A85CF412}"/>
              </a:ext>
            </a:extLst>
          </p:cNvPr>
          <p:cNvSpPr>
            <a:spLocks xmlns:a="http://schemas.openxmlformats.org/drawingml/2006/main" noGrp="1"/>
          </p:cNvSpPr>
          <p:nvPr/>
        </p:nvSpPr>
        <p:spPr>
          <a:xfrm xmlns:a="http://schemas.openxmlformats.org/drawingml/2006/main">
            <a:off x="6276975" y="3314700"/>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2. Retrieve an evidence subgraph</a:t>
            </a:r>
          </a:p>
        </p:txBody>
      </p:sp>
      <p:sp>
        <p:nvSpPr>
          <p:cNvPr id="32" name="">
            <a:extLst xmlns:a="http://schemas.openxmlformats.org/drawingml/2006/main">
              <a:ext uri="{FF2B5EF4-FFF2-40B4-BE49-F238E27FC236}">
                <a16:creationId xmlns:a16="http://schemas.microsoft.com/office/drawing/2014/main" id="{4EB74FFB-CDD1-4337-83E7-38B0C4BCCF76}"/>
              </a:ext>
            </a:extLst>
          </p:cNvPr>
          <p:cNvSpPr>
            <a:spLocks xmlns:a="http://schemas.openxmlformats.org/drawingml/2006/main" noGrp="1"/>
          </p:cNvSpPr>
          <p:nvPr/>
        </p:nvSpPr>
        <p:spPr>
          <a:xfrm xmlns:a="http://schemas.openxmlformats.org/drawingml/2006/main">
            <a:off x="6276975" y="3724275"/>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Collect the shared seller and category paths.</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Keep differing attributes and source provenance.</a:t>
            </a:r>
          </a:p>
        </p:txBody>
      </p:sp>
      <p:sp>
        <p:nvSpPr>
          <p:cNvPr id="33" name="">
            <a:extLst xmlns:a="http://schemas.openxmlformats.org/drawingml/2006/main">
              <a:ext uri="{FF2B5EF4-FFF2-40B4-BE49-F238E27FC236}">
                <a16:creationId xmlns:a16="http://schemas.microsoft.com/office/drawing/2014/main" id="{175D1068-DBD0-4E69-AF13-48633C88E743}"/>
              </a:ext>
            </a:extLst>
          </p:cNvPr>
          <p:cNvSpPr>
            <a:spLocks xmlns:a="http://schemas.openxmlformats.org/drawingml/2006/main" noGrp="1"/>
          </p:cNvSpPr>
          <p:nvPr/>
        </p:nvSpPr>
        <p:spPr>
          <a:xfrm xmlns:a="http://schemas.openxmlformats.org/drawingml/2006/main">
            <a:off x="6276975" y="475297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3. Explain with evidence</a:t>
            </a:r>
          </a:p>
        </p:txBody>
      </p:sp>
      <p:sp>
        <p:nvSpPr>
          <p:cNvPr id="34" name="">
            <a:extLst xmlns:a="http://schemas.openxmlformats.org/drawingml/2006/main">
              <a:ext uri="{FF2B5EF4-FFF2-40B4-BE49-F238E27FC236}">
                <a16:creationId xmlns:a16="http://schemas.microsoft.com/office/drawing/2014/main" id="{B30D3300-92F8-4690-8C8C-40208CFA1003}"/>
              </a:ext>
            </a:extLst>
          </p:cNvPr>
          <p:cNvSpPr>
            <a:spLocks xmlns:a="http://schemas.openxmlformats.org/drawingml/2006/main" noGrp="1"/>
          </p:cNvSpPr>
          <p:nvPr/>
        </p:nvSpPr>
        <p:spPr>
          <a:xfrm xmlns:a="http://schemas.openxmlformats.org/drawingml/2006/main">
            <a:off x="6276975" y="516255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Explain the shared links and the Inside / Outside difference.</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Cite retrieved facts and preserve uncertainty.</a:t>
            </a:r>
          </a:p>
        </p:txBody>
      </p:sp>
      <p:sp>
        <p:nvSpPr>
          <p:cNvPr id="35" name="">
            <a:extLst xmlns:a="http://schemas.openxmlformats.org/drawingml/2006/main">
              <a:ext uri="{FF2B5EF4-FFF2-40B4-BE49-F238E27FC236}">
                <a16:creationId xmlns:a16="http://schemas.microsoft.com/office/drawing/2014/main" id="{D5CD3E44-F306-4EA4-B9E7-69D78DB1EE3D}"/>
              </a:ext>
            </a:extLst>
          </p:cNvPr>
          <p:cNvSpPr>
            <a:spLocks xmlns:a="http://schemas.openxmlformats.org/drawingml/2006/main" noGrp="1"/>
          </p:cNvSpPr>
          <p:nvPr/>
        </p:nvSpPr>
        <p:spPr>
          <a:xfrm xmlns:a="http://schemas.openxmlformats.org/drawingml/2006/main">
            <a:off x="552450" y="62769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087E83"/>
                </a:solidFill>
                <a:latin typeface="DejaVu Sans"/>
                <a:ea typeface="DejaVu Sans"/>
                <a:cs typeface="DejaVu Sans"/>
              </a:defRPr>
            </a:defPPr>
            <a:lvl1pPr>
              <a:defRPr sz="1650" b="1">
                <a:solidFill>
                  <a:srgbClr val="087E83"/>
                </a:solidFill>
                <a:latin typeface="DejaVu Sans"/>
                <a:ea typeface="DejaVu Sans"/>
                <a:cs typeface="DejaVu Sans"/>
              </a:defRPr>
            </a:lvl1pPr>
            <a:lvl2pPr>
              <a:defRPr sz="1650" b="1">
                <a:solidFill>
                  <a:srgbClr val="087E83"/>
                </a:solidFill>
                <a:latin typeface="DejaVu Sans"/>
                <a:ea typeface="DejaVu Sans"/>
                <a:cs typeface="DejaVu Sans"/>
              </a:defRPr>
            </a:lvl2pPr>
            <a:lvl3pPr>
              <a:defRPr sz="1650" b="1">
                <a:solidFill>
                  <a:srgbClr val="087E83"/>
                </a:solidFill>
                <a:latin typeface="DejaVu Sans"/>
                <a:ea typeface="DejaVu Sans"/>
                <a:cs typeface="DejaVu Sans"/>
              </a:defRPr>
            </a:lvl3pPr>
            <a:lvl4pPr>
              <a:defRPr sz="1650" b="1">
                <a:solidFill>
                  <a:srgbClr val="087E83"/>
                </a:solidFill>
                <a:latin typeface="DejaVu Sans"/>
                <a:ea typeface="DejaVu Sans"/>
                <a:cs typeface="DejaVu Sans"/>
              </a:defRPr>
            </a:lvl4pPr>
            <a:lvl5pPr>
              <a:defRPr sz="1650" b="1">
                <a:solidFill>
                  <a:srgbClr val="087E83"/>
                </a:solidFill>
                <a:latin typeface="DejaVu Sans"/>
                <a:ea typeface="DejaVu Sans"/>
                <a:cs typeface="DejaVu Sans"/>
              </a:defRPr>
            </a:lvl5pPr>
            <a:lvl6pPr>
              <a:defRPr sz="1650" b="1">
                <a:solidFill>
                  <a:srgbClr val="087E83"/>
                </a:solidFill>
                <a:latin typeface="DejaVu Sans"/>
                <a:ea typeface="DejaVu Sans"/>
                <a:cs typeface="DejaVu Sans"/>
              </a:defRPr>
            </a:lvl6pPr>
            <a:lvl7pPr>
              <a:defRPr sz="1650" b="1">
                <a:solidFill>
                  <a:srgbClr val="087E83"/>
                </a:solidFill>
                <a:latin typeface="DejaVu Sans"/>
                <a:ea typeface="DejaVu Sans"/>
                <a:cs typeface="DejaVu Sans"/>
              </a:defRPr>
            </a:lvl7pPr>
            <a:lvl8pPr>
              <a:defRPr sz="1650" b="1">
                <a:solidFill>
                  <a:srgbClr val="087E83"/>
                </a:solidFill>
                <a:latin typeface="DejaVu Sans"/>
                <a:ea typeface="DejaVu Sans"/>
                <a:cs typeface="DejaVu Sans"/>
              </a:defRPr>
            </a:lvl8pPr>
            <a:lvl9pPr>
              <a:defRPr sz="1650" b="1">
                <a:solidFill>
                  <a:srgbClr val="087E83"/>
                </a:solidFill>
                <a:latin typeface="DejaVu Sans"/>
                <a:ea typeface="DejaVu Sans"/>
                <a:cs typeface="DejaVu Sans"/>
              </a:defRPr>
            </a:lvl9pPr>
          </a:lstStyle>
          <a:p xmlns:a="http://schemas.openxmlformats.org/drawingml/2006/main">
            <a:pPr>
              <a:defRPr sz="1650" b="1">
                <a:solidFill>
                  <a:srgbClr val="087E83"/>
                </a:solidFill>
                <a:latin typeface="DejaVu Sans"/>
                <a:ea typeface="DejaVu Sans"/>
                <a:cs typeface="DejaVu Sans"/>
              </a:defRPr>
            </a:pPr>
            <a:r>
              <a:rPr sz="1650" b="1">
                <a:solidFill>
                  <a:srgbClr val="087E83"/>
                </a:solidFill>
                <a:latin typeface="DejaVu Sans"/>
                <a:ea typeface="DejaVu Sans"/>
                <a:cs typeface="DejaVu Sans"/>
              </a:rPr>
              <a:t>Graph retrieval supplies evidence; the LLM explains the relationships.</a:t>
            </a:r>
          </a:p>
        </p:txBody>
      </p:sp>
    </p:spTree>
    <p:extLst>
      <p:ext uri="{BB962C8B-B14F-4D97-AF65-F5344CB8AC3E}">
        <p14:creationId xmlns:p14="http://schemas.microsoft.com/office/powerpoint/2010/main" val="16209228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2026-10-21T19:02:43.3820000Z</dcterms:created>
  <dcterms:modified xsi:type="dcterms:W3CDTF">2026-10-21T19:02:43.3820000Z</dcterms:modified>
</coreProperties>
</file>