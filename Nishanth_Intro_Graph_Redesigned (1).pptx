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5aa37c4f654451" /><Relationship Type="http://schemas.openxmlformats.org/officeDocument/2006/relationships/extended-properties" Target="/docProps/app.xml" Id="R1e1a231304a946d5" /><Relationship Type="http://schemas.openxmlformats.org/officeDocument/2006/relationships/officeDocument" Target="/ppt/presentation.xml" Id="R6bf9070f279a49e0" /></Relationships>
</file>

<file path=ppt/presentation.xml><?xml version="1.0" encoding="utf-8"?>
<p:presentation xmlns:p="http://schemas.openxmlformats.org/presentationml/2006/main">
  <p:sldMasterIdLst>
    <p:sldMasterId xmlns:r="http://schemas.openxmlformats.org/officeDocument/2006/relationships" id="2147483648" r:id="R8542cdc10aa64da2"/>
  </p:sldMasterIdLst>
  <p:notesMasterIdLst>
    <p:notesMasterId xmlns:r="http://schemas.openxmlformats.org/officeDocument/2006/relationships" r:id="R7739d5ef76dc4ce6"/>
  </p:notesMasterIdLst>
  <p:sldIdLst>
    <p:sldId xmlns:r="http://schemas.openxmlformats.org/officeDocument/2006/relationships" id="256" r:id="Rcb9b13cd59174985"/>
    <p:sldId xmlns:r="http://schemas.openxmlformats.org/officeDocument/2006/relationships" id="257" r:id="R6c94c43f7a1d41fd"/>
    <p:sldId xmlns:r="http://schemas.openxmlformats.org/officeDocument/2006/relationships" id="258" r:id="R11e075b859d44026"/>
    <p:sldId xmlns:r="http://schemas.openxmlformats.org/officeDocument/2006/relationships" id="259" r:id="R6861f6174b654306"/>
    <p:sldId xmlns:r="http://schemas.openxmlformats.org/officeDocument/2006/relationships" id="260" r:id="Re4832bddd30b4ef1"/>
    <p:sldId xmlns:r="http://schemas.openxmlformats.org/officeDocument/2006/relationships" id="261" r:id="R65d361bb8e354bd0"/>
    <p:sldId xmlns:r="http://schemas.openxmlformats.org/officeDocument/2006/relationships" id="262" r:id="R5411504ffd2d4cd0"/>
    <p:sldId xmlns:r="http://schemas.openxmlformats.org/officeDocument/2006/relationships" id="263" r:id="Re7da9e54724f45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b25485fe1c4559" /><Relationship Type="http://schemas.openxmlformats.org/officeDocument/2006/relationships/slideMaster" Target="/ppt/slideMasters/slideMaster1.xml" Id="R8542cdc10aa64da2" /><Relationship Type="http://schemas.openxmlformats.org/officeDocument/2006/relationships/notesMaster" Target="/ppt/notesMasters/notesMaster1.xml" Id="R7739d5ef76dc4ce6" /><Relationship Type="http://schemas.openxmlformats.org/officeDocument/2006/relationships/presProps" Target="/ppt/presProps.xml" Id="R0b55642ce18041f7" /><Relationship Type="http://schemas.openxmlformats.org/officeDocument/2006/relationships/tableStyles" Target="/ppt/tableStyles.xml" Id="R2b9f821baa6f4c38" /><Relationship Type="http://schemas.openxmlformats.org/officeDocument/2006/relationships/slide" Target="/ppt/slides/slide1.xml" Id="Rcb9b13cd59174985" /><Relationship Type="http://schemas.openxmlformats.org/officeDocument/2006/relationships/slide" Target="/ppt/slides/slide2.xml" Id="R6c94c43f7a1d41fd" /><Relationship Type="http://schemas.openxmlformats.org/officeDocument/2006/relationships/slide" Target="/ppt/slides/slide3.xml" Id="R11e075b859d44026" /><Relationship Type="http://schemas.openxmlformats.org/officeDocument/2006/relationships/slide" Target="/ppt/slides/slide4.xml" Id="R6861f6174b654306" /><Relationship Type="http://schemas.openxmlformats.org/officeDocument/2006/relationships/slide" Target="/ppt/slides/slide5.xml" Id="Re4832bddd30b4ef1" /><Relationship Type="http://schemas.openxmlformats.org/officeDocument/2006/relationships/slide" Target="/ppt/slides/slide6.xml" Id="R65d361bb8e354bd0" /><Relationship Type="http://schemas.openxmlformats.org/officeDocument/2006/relationships/slide" Target="/ppt/slides/slide7.xml" Id="R5411504ffd2d4cd0" /><Relationship Type="http://schemas.openxmlformats.org/officeDocument/2006/relationships/slide" Target="/ppt/slides/slide8.xml" Id="Re7da9e54724f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ab6d191ef444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e2f7290d0b46c1" /><Relationship Type="http://schemas.openxmlformats.org/officeDocument/2006/relationships/notesMaster" Target="/ppt/notesMasters/notesMaster1.xml" Id="R6be1b98de8ad42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fe07b564b41ec" /><Relationship Type="http://schemas.openxmlformats.org/officeDocument/2006/relationships/notesMaster" Target="/ppt/notesMasters/notesMaster1.xml" Id="R7253cc4092424b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3fb988e3de4efd" /><Relationship Type="http://schemas.openxmlformats.org/officeDocument/2006/relationships/notesMaster" Target="/ppt/notesMasters/notesMaster1.xml" Id="R7ac4b47cf52446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5e7f04808f49ea" /><Relationship Type="http://schemas.openxmlformats.org/officeDocument/2006/relationships/notesMaster" Target="/ppt/notesMasters/notesMaster1.xml" Id="R0958edbb945841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6f08b8acb845ef" /><Relationship Type="http://schemas.openxmlformats.org/officeDocument/2006/relationships/notesMaster" Target="/ppt/notesMasters/notesMaster1.xml" Id="Rab43fc4dfe8040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e7857d9b964b61" /><Relationship Type="http://schemas.openxmlformats.org/officeDocument/2006/relationships/notesMaster" Target="/ppt/notesMasters/notesMaster1.xml" Id="Rafc0c010d00e44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969933780a4fac" /><Relationship Type="http://schemas.openxmlformats.org/officeDocument/2006/relationships/notesMaster" Target="/ppt/notesMasters/notesMaster1.xml" Id="R8fabd983423642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c0c91812ec4dd1" /><Relationship Type="http://schemas.openxmlformats.org/officeDocument/2006/relationships/notesMaster" Target="/ppt/notesMasters/notesMaster1.xml" Id="R0e0d77a9d50f4e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I’m Nishanth. I’m joining DS&amp;AI as an Associate Director, in my third chapter at Novartis after Conext and NBS IT. I am based in Hyderabad, studied at NIT Rourkela, and have about ten years of experience building AI products. At work I train models, and at home my two sons train me! Next, I will show my introduction as entities and relationships in a personal knowledge graph. Source: supplied résumé and user-provided personal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same introduction represented as a knowledge graph. I am the central person node, connected to education, organisations, family and expertise. The upper part shows NIT Rourkela, filed patent applications and my three Novartis chapters. The lower part includes my AI methods and tools, alongside the hobbies node that currently has very little runtime. Novartis connects to awards including Hackathon and DSCON wins. This illustrates how an LLM could extract entities and relationships from a bio and résumé, not a live extraction demonstration. Source: supplied résumé pages 1–2 and user-provided personal details. Patent applications are not presented as granted patents.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peaks make this visually bimodal. It is not a fitted Gamma distribution: a standard Gamma has at most one interior mode. Gamma shape and scale parameters cannot be inferred from this categorical sketch. Kurtosis measures tail heaviness rather than simply peak sharpness. Neither kurtosis nor skewness has a defensible statistical interpretation for arbitrarily ordered skill categories. The takeaway is two deep specialisations with broad supporting skills. This is a conceptual picture of my expertise, based on the relative shape of my own sketch. My deepest focus is Graph AI, followed by fine-tuning and post-training language models. I also work across multimodal AI, classical ML, optimisation and agentic systems. The domains differ in what we model or optimise: decisions and constraints in optimisation; relational structure in graphs; model weights and learning signals in post-training; image-text representations in multimodal AI; statistical prediction in classical ML; and tools, state and feedback in agentic workflows. These areas overlap. For example, an agentic workflow can use GraphRAG and a fine-tuned multimodal model. The horizontal order is categorical, not a progression or time axis, and the smooth curve is an illustrative self-assessment, not a probability density, benchmark or measured allocation. The internal chart numbers only reproduce the shape of the supplied sketch and have no measurement units. Source: user-provided image(1).png and visible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like to think of my portfolio as a neural architecture. The inputs are product images and text, connected entities, and temporal signals. The middle layer represents shared methods: multimodal encoders, graph learning, temporal models and language models with GraphRAG. For counterfeit detection and offensive-content models, the post-training branch explicitly includes SFT, DPO and RLAI, following the user’s clarification. These are training and alignment methods, not inference-time layers or a claim that DPO and RLAI are identical algorithms. The application heads represent catalogue intelligence, counterfeit and offensive-content detection, One Demand forecasting with graphs, duplicate item detection with knowledge graphs, seller fraud, and live code and TDD graphs. Feedback and validation improve the relevant systems. This is a visual metaphor across projects, not a claim that all applications share one jointly trained model, or that GAN or deep-RL architectures were used for every project. Connections illustrate shared methods rather than a full execution pipeline. Source: user-provided domain list and visible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was part of Walmart’s Retail Graph team. Before talking about individual projects, I like to start with the foundation: a graph of stores, sellers, items and the relationships between them. We used the graph database to store and retrieve connected information. Graph queries let us traverse relationships directly, which is useful for relationship-heavy retrieval. On top of that foundation, we built different kinds of intelligence. Retrieval performance depends on the query, indexing and implementation, so this is not a blanket speed comparison with relational databases. Source: user-provided narrative and supplied résumé,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think of this as a set of capabilities built on the same foundation. First, traditional graph queries retrieve known relationships. Then node similarity helps find comparable stores, sellers or items, while community detection finds groups such as potentially colluding sellers. Those signals can support forecasting, recommendation and search systems. GNNs learn from attributes and graph structure to predict outcomes, including seller fraud and cold-start demand. Finally, GraphRAG retrieves connected evidence for an LLM. These capabilities can complement one another; they are not mandatory sequential stages. Source: user-provided narrative and supplied résumé,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Optum, the same graph idea extends into data interoperability. Here the context is code, business rules and transformation logic, and test-driven-development logic. I present these as separate graph views, connected through a shared live graph. That lets GraphRAG retrieve the relevant rule, its implementation, dependencies and associated tests together. The context can support code generation, human-guided code changes, change-impact analysis and root-cause investigation. Human feedback and accepted changes feed back into the graph. “Linked live graph” is a descriptive label for the architecture in the user’s narrative, not a named vendor product. The résumé confirms semantic graphs, multi-agent transformation, natural-language corrections and validation; the detailed code/rule/test structure comes from the user’s latest description. Source: supplied résumé, page 2, and user-provided architecture narrative.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other focus was multimodal Trust &amp; Safety. These systems combined product images, text and brand-similarity signals. I worked on offensive items, counterfeit detection and catalogue attributes, with a Health &amp; Beauty prohibited-attribute patent filed. The counterfeit pipeline flagged over 20,000 items a day at around 90% precision. The model list reflects the broader Walmart portfolio, not a claim that every model was used in the same pipeline. Source: supplied résumé,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0c8b7ff1ae4b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fffd9e349447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9ed949914442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4a21f1858a47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96158ec1b84a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ad832dede442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A531A2-744E-4F10-A7B5-19C883ED2E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7D9196-AC13-4893-9483-65F88E894A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2BDBBE-8319-4F1A-8EE0-E6CC4F2B80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C419C9-064F-4C1C-909E-D8A65F74BF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357A24-6394-468E-8EEC-32FA0EB07D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6CD0DB-ABBF-4EE9-95E9-1DFC8C002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B9B516-C991-48EE-A785-2F34700E32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2FEF5B-C919-4D2B-AF44-97B02E6C95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69AC4D-9D36-4687-9246-1DE57FAE6F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851D5B-8CDF-4743-8B32-0639C68424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90993e5784127" /><Relationship Type="http://schemas.openxmlformats.org/officeDocument/2006/relationships/slideLayout" Target="/ppt/slideLayouts/slideLayout1.xml" Id="Rd491fdaf4e7242b1" /><Relationship Type="http://schemas.openxmlformats.org/officeDocument/2006/relationships/slideLayout" Target="/ppt/slideLayouts/slideLayout2.xml" Id="R4abcb23c0cef4214" /><Relationship Type="http://schemas.openxmlformats.org/officeDocument/2006/relationships/slideLayout" Target="/ppt/slideLayouts/slideLayout3.xml" Id="Rcfbe1615d02045cf" /><Relationship Type="http://schemas.openxmlformats.org/officeDocument/2006/relationships/slideLayout" Target="/ppt/slideLayouts/slideLayout4.xml" Id="Reac9633ced994142" /><Relationship Type="http://schemas.openxmlformats.org/officeDocument/2006/relationships/slideLayout" Target="/ppt/slideLayouts/slideLayout5.xml" Id="R98b147212e034b83" /><Relationship Type="http://schemas.openxmlformats.org/officeDocument/2006/relationships/slideLayout" Target="/ppt/slideLayouts/slideLayout6.xml" Id="Rbd9fd8b3cb3e49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91fdaf4e7242b1"/>
    <p:sldLayoutId xmlns:r="http://schemas.openxmlformats.org/officeDocument/2006/relationships" id="2147483650" r:id="R4abcb23c0cef4214"/>
    <p:sldLayoutId xmlns:r="http://schemas.openxmlformats.org/officeDocument/2006/relationships" id="2147483651" r:id="Rcfbe1615d02045cf"/>
    <p:sldLayoutId xmlns:r="http://schemas.openxmlformats.org/officeDocument/2006/relationships" id="2147483652" r:id="Reac9633ced994142"/>
    <p:sldLayoutId xmlns:r="http://schemas.openxmlformats.org/officeDocument/2006/relationships" id="2147483653" r:id="R98b147212e034b83"/>
    <p:sldLayoutId xmlns:r="http://schemas.openxmlformats.org/officeDocument/2006/relationships" id="2147483654" r:id="Rbd9fd8b3cb3e49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1a3e52ad9547c3" /><Relationship Type="http://schemas.openxmlformats.org/officeDocument/2006/relationships/notesSlide" Target="/ppt/notesSlides/notesSlide1.xml" Id="R4a632fdfc10544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45f65174f14239" /><Relationship Type="http://schemas.openxmlformats.org/officeDocument/2006/relationships/notesSlide" Target="/ppt/notesSlides/notesSlide2.xml" Id="Rd22b0390d7514b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15e24cc65a2422f" /><Relationship Type="http://schemas.openxmlformats.org/officeDocument/2006/relationships/chart" Target="/ppt/slides/charts/chart1.xml" Id="R1d2c83979f3e402e" /><Relationship Type="http://schemas.openxmlformats.org/officeDocument/2006/relationships/notesSlide" Target="/ppt/notesSlides/notesSlide3.xml" Id="Rf6cfd2e35a834c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95769e076947ce" /><Relationship Type="http://schemas.openxmlformats.org/officeDocument/2006/relationships/notesSlide" Target="/ppt/notesSlides/notesSlide4.xml" Id="R93f0f0fa210040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500353282f4f03" /><Relationship Type="http://schemas.openxmlformats.org/officeDocument/2006/relationships/notesSlide" Target="/ppt/notesSlides/notesSlide5.xml" Id="Ref64ef31442945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b3243ce4084ee5" /><Relationship Type="http://schemas.openxmlformats.org/officeDocument/2006/relationships/notesSlide" Target="/ppt/notesSlides/notesSlide6.xml" Id="Ra08d7e9a8b6544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68bf65002f4bd4" /><Relationship Type="http://schemas.openxmlformats.org/officeDocument/2006/relationships/notesSlide" Target="/ppt/notesSlides/notesSlide7.xml" Id="R5301d6c5fc454f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90ec88bcb54131" /><Relationship Type="http://schemas.openxmlformats.org/officeDocument/2006/relationships/notesSlide" Target="/ppt/notesSlides/notesSlide8.xml" Id="R6fea4ebee62c43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Illustrative expertise profile</c:v>
          </c:tx>
          <c:spPr>
            <a:ln xmlns:a="http://schemas.openxmlformats.org/drawingml/2006/main" w="38100">
              <a:solidFill>
                <a:srgbClr val="6CE5D0"/>
              </a:solidFill>
              <a:prstDash val="solid"/>
            </a:ln>
          </c:spPr>
          <c:marker>
            <c:symbol val="none"/>
          </c:marker>
          <c:cat>
            <c:strRef>
              <c:f>'Chart Data'!$A$2:$A$9</c:f>
              <c:strCache>
                <c:ptCount val="8"/>
                <c:pt idx="0">
                  <c:v>Optimization</c:v>
                </c:pt>
                <c:pt idx="1">
                  <c:v>Graph AI</c:v>
                </c:pt>
                <c:pt idx="2">
                  <c:v>Transition A</c:v>
                </c:pt>
                <c:pt idx="3">
                  <c:v>Post-training</c:v>
                </c:pt>
                <c:pt idx="4">
                  <c:v>Multimodal</c:v>
                </c:pt>
                <c:pt idx="5">
                  <c:v>Classical ML</c:v>
                </c:pt>
                <c:pt idx="6">
                  <c:v>Transition B</c:v>
                </c:pt>
                <c:pt idx="7">
                  <c:v>Agentic AI</c:v>
                </c:pt>
              </c:strCache>
            </c:strRef>
          </c:cat>
          <c:val>
            <c:numRef>
              <c:f>'Chart Data'!$B$2:$B$9</c:f>
              <c:numCache>
                <c:formatCode>General</c:formatCode>
                <c:ptCount val="8"/>
                <c:pt idx="0">
                  <c:v>0.6</c:v>
                </c:pt>
                <c:pt idx="1">
                  <c:v>5</c:v>
                </c:pt>
                <c:pt idx="2">
                  <c:v>2.65</c:v>
                </c:pt>
                <c:pt idx="3">
                  <c:v>3.9</c:v>
                </c:pt>
                <c:pt idx="4">
                  <c:v>2.1</c:v>
                </c:pt>
                <c:pt idx="5">
                  <c:v>1.35</c:v>
                </c:pt>
                <c:pt idx="6">
                  <c:v>1.35</c:v>
                </c:pt>
                <c:pt idx="7">
                  <c:v>1.65</c:v>
                </c:pt>
              </c:numCache>
            </c:numRef>
          </c:val>
          <c:smooth val="1"/>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1"/>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456078"/>
            </a:solidFill>
            <a:prstDash val="solid"/>
          </a:ln>
        </c:spPr>
        <c:txPr>
          <a:bodyPr xmlns:a="http://schemas.openxmlformats.org/drawingml/2006/main" anchorCtr="1"/>
          <a:lstStyle xmlns:a="http://schemas.openxmlformats.org/drawingml/2006/main"/>
          <a:p xmlns:a="http://schemas.openxmlformats.org/drawingml/2006/main">
            <a:pPr>
              <a:defRPr sz="1425">
                <a:solidFill>
                  <a:srgbClr val="DAE4F3"/>
                </a:solidFill>
                <a:latin typeface="DejaVu Sans"/>
                <a:ea typeface="DejaVu Sans"/>
                <a:cs typeface="DejaVu Sans"/>
              </a:defRPr>
            </a:pPr>
          </a:p>
        </c:txPr>
        <c:crossAx val="48672768"/>
      </c:catAx>
      <c:valAx>
        <c:axId val="48672768"/>
        <c:scaling>
          <c:orientation val="minMax"/>
          <c:max val="5.5"/>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0B1423"/>
        </a:solidFill>
        <a:ln xmlns:a="http://schemas.openxmlformats.org/drawingml/2006/main" w="0">
          <a:noFill/>
          <a:prstDash val="solid"/>
        </a:ln>
      </c:spPr>
    </c:plotArea>
    <c:plotVisOnly val="1"/>
  </c:chart>
  <c:spPr>
    <a:solidFill xmlns:a="http://schemas.openxmlformats.org/drawingml/2006/main">
      <a:srgbClr val="0B1423"/>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8C0CED-0136-4996-BC76-4E5163EED6E5}"/>
              </a:ext>
            </a:extLst>
          </p:cNvPr>
          <p:cNvSpPr>
            <a:spLocks xmlns:a="http://schemas.openxmlformats.org/drawingml/2006/main" noGrp="1"/>
          </p:cNvSpPr>
          <p:nvPr/>
        </p:nvSpPr>
        <p:spPr>
          <a:xfrm xmlns:a="http://schemas.openxmlformats.org/drawingml/2006/main">
            <a:off x="4667250" y="10668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350" b="1">
                <a:solidFill>
                  <a:srgbClr val="FFFFFF"/>
                </a:solidFill>
                <a:latin typeface="DejaVu Sans"/>
                <a:ea typeface="DejaVu Sans"/>
                <a:cs typeface="DejaVu Sans"/>
              </a:defRPr>
            </a:defPPr>
            <a:lvl1pPr>
              <a:defRPr sz="4350" b="1">
                <a:solidFill>
                  <a:srgbClr val="FFFFFF"/>
                </a:solidFill>
                <a:latin typeface="DejaVu Sans"/>
                <a:ea typeface="DejaVu Sans"/>
                <a:cs typeface="DejaVu Sans"/>
              </a:defRPr>
            </a:lvl1pPr>
            <a:lvl2pPr>
              <a:defRPr sz="4350" b="1">
                <a:solidFill>
                  <a:srgbClr val="FFFFFF"/>
                </a:solidFill>
                <a:latin typeface="DejaVu Sans"/>
                <a:ea typeface="DejaVu Sans"/>
                <a:cs typeface="DejaVu Sans"/>
              </a:defRPr>
            </a:lvl2pPr>
            <a:lvl3pPr>
              <a:defRPr sz="4350" b="1">
                <a:solidFill>
                  <a:srgbClr val="FFFFFF"/>
                </a:solidFill>
                <a:latin typeface="DejaVu Sans"/>
                <a:ea typeface="DejaVu Sans"/>
                <a:cs typeface="DejaVu Sans"/>
              </a:defRPr>
            </a:lvl3pPr>
            <a:lvl4pPr>
              <a:defRPr sz="4350" b="1">
                <a:solidFill>
                  <a:srgbClr val="FFFFFF"/>
                </a:solidFill>
                <a:latin typeface="DejaVu Sans"/>
                <a:ea typeface="DejaVu Sans"/>
                <a:cs typeface="DejaVu Sans"/>
              </a:defRPr>
            </a:lvl4pPr>
            <a:lvl5pPr>
              <a:defRPr sz="4350" b="1">
                <a:solidFill>
                  <a:srgbClr val="FFFFFF"/>
                </a:solidFill>
                <a:latin typeface="DejaVu Sans"/>
                <a:ea typeface="DejaVu Sans"/>
                <a:cs typeface="DejaVu Sans"/>
              </a:defRPr>
            </a:lvl5pPr>
            <a:lvl6pPr>
              <a:defRPr sz="4350" b="1">
                <a:solidFill>
                  <a:srgbClr val="FFFFFF"/>
                </a:solidFill>
                <a:latin typeface="DejaVu Sans"/>
                <a:ea typeface="DejaVu Sans"/>
                <a:cs typeface="DejaVu Sans"/>
              </a:defRPr>
            </a:lvl6pPr>
            <a:lvl7pPr>
              <a:defRPr sz="4350" b="1">
                <a:solidFill>
                  <a:srgbClr val="FFFFFF"/>
                </a:solidFill>
                <a:latin typeface="DejaVu Sans"/>
                <a:ea typeface="DejaVu Sans"/>
                <a:cs typeface="DejaVu Sans"/>
              </a:defRPr>
            </a:lvl7pPr>
            <a:lvl8pPr>
              <a:defRPr sz="4350" b="1">
                <a:solidFill>
                  <a:srgbClr val="FFFFFF"/>
                </a:solidFill>
                <a:latin typeface="DejaVu Sans"/>
                <a:ea typeface="DejaVu Sans"/>
                <a:cs typeface="DejaVu Sans"/>
              </a:defRPr>
            </a:lvl8pPr>
            <a:lvl9pPr>
              <a:defRPr sz="4350" b="1">
                <a:solidFill>
                  <a:srgbClr val="FFFFFF"/>
                </a:solidFill>
                <a:latin typeface="DejaVu Sans"/>
                <a:ea typeface="DejaVu Sans"/>
                <a:cs typeface="DejaVu Sans"/>
              </a:defRPr>
            </a:lvl9pPr>
          </a:lstStyle>
          <a:p xmlns:a="http://schemas.openxmlformats.org/drawingml/2006/main">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Hi, I’m Nishanth</a:t>
            </a:r>
          </a:p>
        </p:txBody>
      </p:sp>
      <p:sp>
        <p:nvSpPr>
          <p:cNvPr id="2" name="">
            <a:extLst xmlns:a="http://schemas.openxmlformats.org/drawingml/2006/main">
              <a:ext uri="{FF2B5EF4-FFF2-40B4-BE49-F238E27FC236}">
                <a16:creationId xmlns:a16="http://schemas.microsoft.com/office/drawing/2014/main" id="{52B4EEA4-DA4D-43E3-ACFB-9C90B46F0AFA}"/>
              </a:ext>
            </a:extLst>
          </p:cNvPr>
          <p:cNvSpPr>
            <a:spLocks xmlns:a="http://schemas.openxmlformats.org/drawingml/2006/main" noGrp="1"/>
          </p:cNvSpPr>
          <p:nvPr/>
        </p:nvSpPr>
        <p:spPr>
          <a:xfrm xmlns:a="http://schemas.openxmlformats.org/drawingml/2006/main">
            <a:off x="4686300" y="2009775"/>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0">
                <a:solidFill>
                  <a:srgbClr val="7EE0CE"/>
                </a:solidFill>
                <a:latin typeface="DejaVu Sans"/>
                <a:ea typeface="DejaVu Sans"/>
                <a:cs typeface="DejaVu Sans"/>
              </a:defRPr>
            </a:defPPr>
            <a:lvl1pPr>
              <a:defRPr sz="2325" b="0">
                <a:solidFill>
                  <a:srgbClr val="7EE0CE"/>
                </a:solidFill>
                <a:latin typeface="DejaVu Sans"/>
                <a:ea typeface="DejaVu Sans"/>
                <a:cs typeface="DejaVu Sans"/>
              </a:defRPr>
            </a:lvl1pPr>
            <a:lvl2pPr>
              <a:defRPr sz="2325" b="0">
                <a:solidFill>
                  <a:srgbClr val="7EE0CE"/>
                </a:solidFill>
                <a:latin typeface="DejaVu Sans"/>
                <a:ea typeface="DejaVu Sans"/>
                <a:cs typeface="DejaVu Sans"/>
              </a:defRPr>
            </a:lvl2pPr>
            <a:lvl3pPr>
              <a:defRPr sz="2325" b="0">
                <a:solidFill>
                  <a:srgbClr val="7EE0CE"/>
                </a:solidFill>
                <a:latin typeface="DejaVu Sans"/>
                <a:ea typeface="DejaVu Sans"/>
                <a:cs typeface="DejaVu Sans"/>
              </a:defRPr>
            </a:lvl3pPr>
            <a:lvl4pPr>
              <a:defRPr sz="2325" b="0">
                <a:solidFill>
                  <a:srgbClr val="7EE0CE"/>
                </a:solidFill>
                <a:latin typeface="DejaVu Sans"/>
                <a:ea typeface="DejaVu Sans"/>
                <a:cs typeface="DejaVu Sans"/>
              </a:defRPr>
            </a:lvl4pPr>
            <a:lvl5pPr>
              <a:defRPr sz="2325" b="0">
                <a:solidFill>
                  <a:srgbClr val="7EE0CE"/>
                </a:solidFill>
                <a:latin typeface="DejaVu Sans"/>
                <a:ea typeface="DejaVu Sans"/>
                <a:cs typeface="DejaVu Sans"/>
              </a:defRPr>
            </a:lvl5pPr>
            <a:lvl6pPr>
              <a:defRPr sz="2325" b="0">
                <a:solidFill>
                  <a:srgbClr val="7EE0CE"/>
                </a:solidFill>
                <a:latin typeface="DejaVu Sans"/>
                <a:ea typeface="DejaVu Sans"/>
                <a:cs typeface="DejaVu Sans"/>
              </a:defRPr>
            </a:lvl6pPr>
            <a:lvl7pPr>
              <a:defRPr sz="2325" b="0">
                <a:solidFill>
                  <a:srgbClr val="7EE0CE"/>
                </a:solidFill>
                <a:latin typeface="DejaVu Sans"/>
                <a:ea typeface="DejaVu Sans"/>
                <a:cs typeface="DejaVu Sans"/>
              </a:defRPr>
            </a:lvl7pPr>
            <a:lvl8pPr>
              <a:defRPr sz="2325" b="0">
                <a:solidFill>
                  <a:srgbClr val="7EE0CE"/>
                </a:solidFill>
                <a:latin typeface="DejaVu Sans"/>
                <a:ea typeface="DejaVu Sans"/>
                <a:cs typeface="DejaVu Sans"/>
              </a:defRPr>
            </a:lvl8pPr>
            <a:lvl9pPr>
              <a:defRPr sz="2325" b="0">
                <a:solidFill>
                  <a:srgbClr val="7EE0CE"/>
                </a:solidFill>
                <a:latin typeface="DejaVu Sans"/>
                <a:ea typeface="DejaVu Sans"/>
                <a:cs typeface="DejaVu Sans"/>
              </a:defRPr>
            </a:lvl9pPr>
          </a:lstStyle>
          <a:p xmlns:a="http://schemas.openxmlformats.org/drawingml/2006/main">
            <a:pPr>
              <a:defRPr sz="2325" b="0">
                <a:solidFill>
                  <a:srgbClr val="7EE0CE"/>
                </a:solidFill>
                <a:latin typeface="DejaVu Sans"/>
                <a:ea typeface="DejaVu Sans"/>
                <a:cs typeface="DejaVu Sans"/>
              </a:defRPr>
            </a:pPr>
            <a:r>
              <a:rPr sz="2325" b="0">
                <a:solidFill>
                  <a:srgbClr val="7EE0CE"/>
                </a:solidFill>
                <a:latin typeface="DejaVu Sans"/>
                <a:ea typeface="DejaVu Sans"/>
                <a:cs typeface="DejaVu Sans"/>
              </a:rPr>
              <a:t>Associate Director, DS&amp;AI</a:t>
            </a:r>
          </a:p>
        </p:txBody>
      </p:sp>
      <p:sp>
        <p:nvSpPr>
          <p:cNvPr id="3" name="">
            <a:extLst xmlns:a="http://schemas.openxmlformats.org/drawingml/2006/main">
              <a:ext uri="{FF2B5EF4-FFF2-40B4-BE49-F238E27FC236}">
                <a16:creationId xmlns:a16="http://schemas.microsoft.com/office/drawing/2014/main" id="{E3F4B70A-EDFE-435D-A244-7C0F550BBF33}"/>
              </a:ext>
            </a:extLst>
          </p:cNvPr>
          <p:cNvSpPr>
            <a:spLocks xmlns:a="http://schemas.openxmlformats.org/drawingml/2006/main" noGrp="1"/>
          </p:cNvSpPr>
          <p:nvPr/>
        </p:nvSpPr>
        <p:spPr>
          <a:xfrm xmlns:a="http://schemas.openxmlformats.org/drawingml/2006/main">
            <a:off x="609600" y="1000125"/>
            <a:ext cx="3257550" cy="4333875"/>
          </a:xfrm>
          <a:prstGeom xmlns:a="http://schemas.openxmlformats.org/drawingml/2006/main" prst="roundRect">
            <a:avLst>
              <a:gd name="adj" fmla="val 2339"/>
            </a:avLst>
          </a:prstGeom>
          <a:solidFill xmlns:a="http://schemas.openxmlformats.org/drawingml/2006/main">
            <a:srgbClr val="192C40"/>
          </a:solidFill>
          <a:ln xmlns:a="http://schemas.openxmlformats.org/drawingml/2006/main" w="19050">
            <a:solidFill>
              <a:srgbClr val="91B7FF"/>
            </a:solidFill>
            <a:prstDash val="dash"/>
          </a:ln>
        </p:spPr>
      </p:sp>
      <p:sp>
        <p:nvSpPr>
          <p:cNvPr id="4" name="">
            <a:extLst xmlns:a="http://schemas.openxmlformats.org/drawingml/2006/main">
              <a:ext uri="{FF2B5EF4-FFF2-40B4-BE49-F238E27FC236}">
                <a16:creationId xmlns:a16="http://schemas.microsoft.com/office/drawing/2014/main" id="{811A7BF1-4EEF-471F-AD79-CE22CA45EBE4}"/>
              </a:ext>
            </a:extLst>
          </p:cNvPr>
          <p:cNvSpPr>
            <a:spLocks xmlns:a="http://schemas.openxmlformats.org/drawingml/2006/main" noGrp="1"/>
          </p:cNvSpPr>
          <p:nvPr/>
        </p:nvSpPr>
        <p:spPr>
          <a:xfrm xmlns:a="http://schemas.openxmlformats.org/drawingml/2006/main">
            <a:off x="1047750" y="2905125"/>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2025" b="1">
                <a:solidFill>
                  <a:srgbClr val="A8C5E8"/>
                </a:solidFill>
                <a:latin typeface="DejaVu Sans"/>
                <a:ea typeface="DejaVu Sans"/>
                <a:cs typeface="DejaVu Sans"/>
              </a:defRPr>
            </a:defPPr>
            <a:lvl1pPr algn="ctr">
              <a:defRPr sz="2025" b="1">
                <a:solidFill>
                  <a:srgbClr val="A8C5E8"/>
                </a:solidFill>
                <a:latin typeface="DejaVu Sans"/>
                <a:ea typeface="DejaVu Sans"/>
                <a:cs typeface="DejaVu Sans"/>
              </a:defRPr>
            </a:lvl1pPr>
            <a:lvl2pPr algn="ctr">
              <a:defRPr sz="2025" b="1">
                <a:solidFill>
                  <a:srgbClr val="A8C5E8"/>
                </a:solidFill>
                <a:latin typeface="DejaVu Sans"/>
                <a:ea typeface="DejaVu Sans"/>
                <a:cs typeface="DejaVu Sans"/>
              </a:defRPr>
            </a:lvl2pPr>
            <a:lvl3pPr algn="ctr">
              <a:defRPr sz="2025" b="1">
                <a:solidFill>
                  <a:srgbClr val="A8C5E8"/>
                </a:solidFill>
                <a:latin typeface="DejaVu Sans"/>
                <a:ea typeface="DejaVu Sans"/>
                <a:cs typeface="DejaVu Sans"/>
              </a:defRPr>
            </a:lvl3pPr>
            <a:lvl4pPr algn="ctr">
              <a:defRPr sz="2025" b="1">
                <a:solidFill>
                  <a:srgbClr val="A8C5E8"/>
                </a:solidFill>
                <a:latin typeface="DejaVu Sans"/>
                <a:ea typeface="DejaVu Sans"/>
                <a:cs typeface="DejaVu Sans"/>
              </a:defRPr>
            </a:lvl4pPr>
            <a:lvl5pPr algn="ctr">
              <a:defRPr sz="2025" b="1">
                <a:solidFill>
                  <a:srgbClr val="A8C5E8"/>
                </a:solidFill>
                <a:latin typeface="DejaVu Sans"/>
                <a:ea typeface="DejaVu Sans"/>
                <a:cs typeface="DejaVu Sans"/>
              </a:defRPr>
            </a:lvl5pPr>
            <a:lvl6pPr algn="ctr">
              <a:defRPr sz="2025" b="1">
                <a:solidFill>
                  <a:srgbClr val="A8C5E8"/>
                </a:solidFill>
                <a:latin typeface="DejaVu Sans"/>
                <a:ea typeface="DejaVu Sans"/>
                <a:cs typeface="DejaVu Sans"/>
              </a:defRPr>
            </a:lvl6pPr>
            <a:lvl7pPr algn="ctr">
              <a:defRPr sz="2025" b="1">
                <a:solidFill>
                  <a:srgbClr val="A8C5E8"/>
                </a:solidFill>
                <a:latin typeface="DejaVu Sans"/>
                <a:ea typeface="DejaVu Sans"/>
                <a:cs typeface="DejaVu Sans"/>
              </a:defRPr>
            </a:lvl7pPr>
            <a:lvl8pPr algn="ctr">
              <a:defRPr sz="2025" b="1">
                <a:solidFill>
                  <a:srgbClr val="A8C5E8"/>
                </a:solidFill>
                <a:latin typeface="DejaVu Sans"/>
                <a:ea typeface="DejaVu Sans"/>
                <a:cs typeface="DejaVu Sans"/>
              </a:defRPr>
            </a:lvl8pPr>
            <a:lvl9pPr algn="ctr">
              <a:defRPr sz="2025" b="1">
                <a:solidFill>
                  <a:srgbClr val="A8C5E8"/>
                </a:solidFill>
                <a:latin typeface="DejaVu Sans"/>
                <a:ea typeface="DejaVu Sans"/>
                <a:cs typeface="DejaVu Sans"/>
              </a:defRPr>
            </a:lvl9pPr>
          </a:lstStyle>
          <a:p xmlns:a="http://schemas.openxmlformats.org/drawingml/2006/main">
            <a:pPr algn="ctr">
              <a:defRPr sz="2025" b="1">
                <a:solidFill>
                  <a:srgbClr val="A8C5E8"/>
                </a:solidFill>
                <a:latin typeface="DejaVu Sans"/>
                <a:ea typeface="DejaVu Sans"/>
                <a:cs typeface="DejaVu Sans"/>
              </a:defRPr>
            </a:pPr>
            <a:r>
              <a:rPr sz="2025" b="1">
                <a:solidFill>
                  <a:srgbClr val="A8C5E8"/>
                </a:solidFill>
                <a:latin typeface="DejaVu Sans"/>
                <a:ea typeface="DejaVu Sans"/>
                <a:cs typeface="DejaVu Sans"/>
              </a:rPr>
              <a:t>YOUR PHOTO</a:t>
            </a:r>
          </a:p>
        </p:txBody>
      </p:sp>
      <p:sp>
        <p:nvSpPr>
          <p:cNvPr id="5" name="">
            <a:extLst xmlns:a="http://schemas.openxmlformats.org/drawingml/2006/main">
              <a:ext uri="{FF2B5EF4-FFF2-40B4-BE49-F238E27FC236}">
                <a16:creationId xmlns:a16="http://schemas.microsoft.com/office/drawing/2014/main" id="{3D84F875-6149-460E-9068-972669DFD425}"/>
              </a:ext>
            </a:extLst>
          </p:cNvPr>
          <p:cNvSpPr>
            <a:spLocks xmlns:a="http://schemas.openxmlformats.org/drawingml/2006/main" noGrp="1"/>
          </p:cNvSpPr>
          <p:nvPr/>
        </p:nvSpPr>
        <p:spPr>
          <a:xfrm xmlns:a="http://schemas.openxmlformats.org/drawingml/2006/main">
            <a:off x="4686300" y="2952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FFFFFF"/>
                </a:solidFill>
                <a:latin typeface="DejaVu Sans"/>
                <a:ea typeface="DejaVu Sans"/>
                <a:cs typeface="DejaVu Sans"/>
              </a:defRPr>
            </a:defPPr>
            <a:lvl1pPr>
              <a:defRPr sz="2550" b="1">
                <a:solidFill>
                  <a:srgbClr val="FFFFFF"/>
                </a:solidFill>
                <a:latin typeface="DejaVu Sans"/>
                <a:ea typeface="DejaVu Sans"/>
                <a:cs typeface="DejaVu Sans"/>
              </a:defRPr>
            </a:lvl1pPr>
            <a:lvl2pPr>
              <a:defRPr sz="2550" b="1">
                <a:solidFill>
                  <a:srgbClr val="FFFFFF"/>
                </a:solidFill>
                <a:latin typeface="DejaVu Sans"/>
                <a:ea typeface="DejaVu Sans"/>
                <a:cs typeface="DejaVu Sans"/>
              </a:defRPr>
            </a:lvl2pPr>
            <a:lvl3pPr>
              <a:defRPr sz="2550" b="1">
                <a:solidFill>
                  <a:srgbClr val="FFFFFF"/>
                </a:solidFill>
                <a:latin typeface="DejaVu Sans"/>
                <a:ea typeface="DejaVu Sans"/>
                <a:cs typeface="DejaVu Sans"/>
              </a:defRPr>
            </a:lvl3pPr>
            <a:lvl4pPr>
              <a:defRPr sz="2550" b="1">
                <a:solidFill>
                  <a:srgbClr val="FFFFFF"/>
                </a:solidFill>
                <a:latin typeface="DejaVu Sans"/>
                <a:ea typeface="DejaVu Sans"/>
                <a:cs typeface="DejaVu Sans"/>
              </a:defRPr>
            </a:lvl4pPr>
            <a:lvl5pPr>
              <a:defRPr sz="2550" b="1">
                <a:solidFill>
                  <a:srgbClr val="FFFFFF"/>
                </a:solidFill>
                <a:latin typeface="DejaVu Sans"/>
                <a:ea typeface="DejaVu Sans"/>
                <a:cs typeface="DejaVu Sans"/>
              </a:defRPr>
            </a:lvl5pPr>
            <a:lvl6pPr>
              <a:defRPr sz="2550" b="1">
                <a:solidFill>
                  <a:srgbClr val="FFFFFF"/>
                </a:solidFill>
                <a:latin typeface="DejaVu Sans"/>
                <a:ea typeface="DejaVu Sans"/>
                <a:cs typeface="DejaVu Sans"/>
              </a:defRPr>
            </a:lvl6pPr>
            <a:lvl7pPr>
              <a:defRPr sz="2550" b="1">
                <a:solidFill>
                  <a:srgbClr val="FFFFFF"/>
                </a:solidFill>
                <a:latin typeface="DejaVu Sans"/>
                <a:ea typeface="DejaVu Sans"/>
                <a:cs typeface="DejaVu Sans"/>
              </a:defRPr>
            </a:lvl7pPr>
            <a:lvl8pPr>
              <a:defRPr sz="2550" b="1">
                <a:solidFill>
                  <a:srgbClr val="FFFFFF"/>
                </a:solidFill>
                <a:latin typeface="DejaVu Sans"/>
                <a:ea typeface="DejaVu Sans"/>
                <a:cs typeface="DejaVu Sans"/>
              </a:defRPr>
            </a:lvl8pPr>
            <a:lvl9pPr>
              <a:defRPr sz="2550" b="1">
                <a:solidFill>
                  <a:srgbClr val="FFFFFF"/>
                </a:solidFill>
                <a:latin typeface="DejaVu Sans"/>
                <a:ea typeface="DejaVu Sans"/>
                <a:cs typeface="DejaVu Sans"/>
              </a:defRPr>
            </a:lvl9pPr>
          </a:lstStyle>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Novartis, version 3.0</a:t>
            </a:r>
          </a:p>
        </p:txBody>
      </p:sp>
      <p:sp>
        <p:nvSpPr>
          <p:cNvPr id="6" name="">
            <a:extLst xmlns:a="http://schemas.openxmlformats.org/drawingml/2006/main">
              <a:ext uri="{FF2B5EF4-FFF2-40B4-BE49-F238E27FC236}">
                <a16:creationId xmlns:a16="http://schemas.microsoft.com/office/drawing/2014/main" id="{DF872D1D-4B4A-4415-8E55-71DEA91880C2}"/>
              </a:ext>
            </a:extLst>
          </p:cNvPr>
          <p:cNvSpPr>
            <a:spLocks xmlns:a="http://schemas.openxmlformats.org/drawingml/2006/main" noGrp="1"/>
          </p:cNvSpPr>
          <p:nvPr/>
        </p:nvSpPr>
        <p:spPr>
          <a:xfrm xmlns:a="http://schemas.openxmlformats.org/drawingml/2006/main">
            <a:off x="4686300" y="3514725"/>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C7D5E8"/>
                </a:solidFill>
                <a:latin typeface="DejaVu Sans"/>
                <a:ea typeface="DejaVu Sans"/>
                <a:cs typeface="DejaVu Sans"/>
              </a:defRPr>
            </a:defPPr>
            <a:lvl1pPr>
              <a:defRPr sz="1875" b="0">
                <a:solidFill>
                  <a:srgbClr val="C7D5E8"/>
                </a:solidFill>
                <a:latin typeface="DejaVu Sans"/>
                <a:ea typeface="DejaVu Sans"/>
                <a:cs typeface="DejaVu Sans"/>
              </a:defRPr>
            </a:lvl1pPr>
            <a:lvl2pPr>
              <a:defRPr sz="1875" b="0">
                <a:solidFill>
                  <a:srgbClr val="C7D5E8"/>
                </a:solidFill>
                <a:latin typeface="DejaVu Sans"/>
                <a:ea typeface="DejaVu Sans"/>
                <a:cs typeface="DejaVu Sans"/>
              </a:defRPr>
            </a:lvl2pPr>
            <a:lvl3pPr>
              <a:defRPr sz="1875" b="0">
                <a:solidFill>
                  <a:srgbClr val="C7D5E8"/>
                </a:solidFill>
                <a:latin typeface="DejaVu Sans"/>
                <a:ea typeface="DejaVu Sans"/>
                <a:cs typeface="DejaVu Sans"/>
              </a:defRPr>
            </a:lvl3pPr>
            <a:lvl4pPr>
              <a:defRPr sz="1875" b="0">
                <a:solidFill>
                  <a:srgbClr val="C7D5E8"/>
                </a:solidFill>
                <a:latin typeface="DejaVu Sans"/>
                <a:ea typeface="DejaVu Sans"/>
                <a:cs typeface="DejaVu Sans"/>
              </a:defRPr>
            </a:lvl4pPr>
            <a:lvl5pPr>
              <a:defRPr sz="1875" b="0">
                <a:solidFill>
                  <a:srgbClr val="C7D5E8"/>
                </a:solidFill>
                <a:latin typeface="DejaVu Sans"/>
                <a:ea typeface="DejaVu Sans"/>
                <a:cs typeface="DejaVu Sans"/>
              </a:defRPr>
            </a:lvl5pPr>
            <a:lvl6pPr>
              <a:defRPr sz="1875" b="0">
                <a:solidFill>
                  <a:srgbClr val="C7D5E8"/>
                </a:solidFill>
                <a:latin typeface="DejaVu Sans"/>
                <a:ea typeface="DejaVu Sans"/>
                <a:cs typeface="DejaVu Sans"/>
              </a:defRPr>
            </a:lvl6pPr>
            <a:lvl7pPr>
              <a:defRPr sz="1875" b="0">
                <a:solidFill>
                  <a:srgbClr val="C7D5E8"/>
                </a:solidFill>
                <a:latin typeface="DejaVu Sans"/>
                <a:ea typeface="DejaVu Sans"/>
                <a:cs typeface="DejaVu Sans"/>
              </a:defRPr>
            </a:lvl7pPr>
            <a:lvl8pPr>
              <a:defRPr sz="1875" b="0">
                <a:solidFill>
                  <a:srgbClr val="C7D5E8"/>
                </a:solidFill>
                <a:latin typeface="DejaVu Sans"/>
                <a:ea typeface="DejaVu Sans"/>
                <a:cs typeface="DejaVu Sans"/>
              </a:defRPr>
            </a:lvl8pPr>
            <a:lvl9pPr>
              <a:defRPr sz="1875" b="0">
                <a:solidFill>
                  <a:srgbClr val="C7D5E8"/>
                </a:solidFill>
                <a:latin typeface="DejaVu Sans"/>
                <a:ea typeface="DejaVu Sans"/>
                <a:cs typeface="DejaVu Sans"/>
              </a:defRPr>
            </a:lvl9pPr>
          </a:lstStyle>
          <a:p xmlns:a="http://schemas.openxmlformats.org/drawingml/2006/main">
            <a:pPr>
              <a:defRPr sz="1875" b="0">
                <a:solidFill>
                  <a:srgbClr val="C7D5E8"/>
                </a:solidFill>
                <a:latin typeface="DejaVu Sans"/>
                <a:ea typeface="DejaVu Sans"/>
                <a:cs typeface="DejaVu Sans"/>
              </a:defRPr>
            </a:pPr>
            <a:r>
              <a:rPr sz="1875" b="0">
                <a:solidFill>
                  <a:srgbClr val="C7D5E8"/>
                </a:solidFill>
                <a:latin typeface="DejaVu Sans"/>
                <a:ea typeface="DejaVu Sans"/>
                <a:cs typeface="DejaVu Sans"/>
              </a:rPr>
              <a:t>Conext   /   NBS IT   /   DS&amp;AI</a:t>
            </a:r>
          </a:p>
        </p:txBody>
      </p:sp>
      <p:sp>
        <p:nvSpPr>
          <p:cNvPr id="7" name="">
            <a:extLst xmlns:a="http://schemas.openxmlformats.org/drawingml/2006/main">
              <a:ext uri="{FF2B5EF4-FFF2-40B4-BE49-F238E27FC236}">
                <a16:creationId xmlns:a16="http://schemas.microsoft.com/office/drawing/2014/main" id="{6AB18B70-4893-4266-BE3C-AA059271E3DB}"/>
              </a:ext>
            </a:extLst>
          </p:cNvPr>
          <p:cNvSpPr>
            <a:spLocks xmlns:a="http://schemas.openxmlformats.org/drawingml/2006/main" noGrp="1"/>
          </p:cNvSpPr>
          <p:nvPr/>
        </p:nvSpPr>
        <p:spPr>
          <a:xfrm xmlns:a="http://schemas.openxmlformats.org/drawingml/2006/main">
            <a:off x="4686300" y="4343400"/>
            <a:ext cx="666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0">
                <a:solidFill>
                  <a:srgbClr val="FFFFFF"/>
                </a:solidFill>
                <a:latin typeface="DejaVu Sans"/>
                <a:ea typeface="DejaVu Sans"/>
                <a:cs typeface="DejaVu Sans"/>
              </a:defRPr>
            </a:defPPr>
            <a:lvl1pPr>
              <a:defRPr sz="2325" b="0">
                <a:solidFill>
                  <a:srgbClr val="FFFFFF"/>
                </a:solidFill>
                <a:latin typeface="DejaVu Sans"/>
                <a:ea typeface="DejaVu Sans"/>
                <a:cs typeface="DejaVu Sans"/>
              </a:defRPr>
            </a:lvl1pPr>
            <a:lvl2pPr>
              <a:defRPr sz="2325" b="0">
                <a:solidFill>
                  <a:srgbClr val="FFFFFF"/>
                </a:solidFill>
                <a:latin typeface="DejaVu Sans"/>
                <a:ea typeface="DejaVu Sans"/>
                <a:cs typeface="DejaVu Sans"/>
              </a:defRPr>
            </a:lvl2pPr>
            <a:lvl3pPr>
              <a:defRPr sz="2325" b="0">
                <a:solidFill>
                  <a:srgbClr val="FFFFFF"/>
                </a:solidFill>
                <a:latin typeface="DejaVu Sans"/>
                <a:ea typeface="DejaVu Sans"/>
                <a:cs typeface="DejaVu Sans"/>
              </a:defRPr>
            </a:lvl3pPr>
            <a:lvl4pPr>
              <a:defRPr sz="2325" b="0">
                <a:solidFill>
                  <a:srgbClr val="FFFFFF"/>
                </a:solidFill>
                <a:latin typeface="DejaVu Sans"/>
                <a:ea typeface="DejaVu Sans"/>
                <a:cs typeface="DejaVu Sans"/>
              </a:defRPr>
            </a:lvl4pPr>
            <a:lvl5pPr>
              <a:defRPr sz="2325" b="0">
                <a:solidFill>
                  <a:srgbClr val="FFFFFF"/>
                </a:solidFill>
                <a:latin typeface="DejaVu Sans"/>
                <a:ea typeface="DejaVu Sans"/>
                <a:cs typeface="DejaVu Sans"/>
              </a:defRPr>
            </a:lvl5pPr>
            <a:lvl6pPr>
              <a:defRPr sz="2325" b="0">
                <a:solidFill>
                  <a:srgbClr val="FFFFFF"/>
                </a:solidFill>
                <a:latin typeface="DejaVu Sans"/>
                <a:ea typeface="DejaVu Sans"/>
                <a:cs typeface="DejaVu Sans"/>
              </a:defRPr>
            </a:lvl6pPr>
            <a:lvl7pPr>
              <a:defRPr sz="2325" b="0">
                <a:solidFill>
                  <a:srgbClr val="FFFFFF"/>
                </a:solidFill>
                <a:latin typeface="DejaVu Sans"/>
                <a:ea typeface="DejaVu Sans"/>
                <a:cs typeface="DejaVu Sans"/>
              </a:defRPr>
            </a:lvl7pPr>
            <a:lvl8pPr>
              <a:defRPr sz="2325" b="0">
                <a:solidFill>
                  <a:srgbClr val="FFFFFF"/>
                </a:solidFill>
                <a:latin typeface="DejaVu Sans"/>
                <a:ea typeface="DejaVu Sans"/>
                <a:cs typeface="DejaVu Sans"/>
              </a:defRPr>
            </a:lvl8pPr>
            <a:lvl9pPr>
              <a:defRPr sz="2325" b="0">
                <a:solidFill>
                  <a:srgbClr val="FFFFFF"/>
                </a:solidFill>
                <a:latin typeface="DejaVu Sans"/>
                <a:ea typeface="DejaVu Sans"/>
                <a:cs typeface="DejaVu Sans"/>
              </a:defRPr>
            </a:lvl9pPr>
          </a:lstStyle>
          <a:p xmlns:a="http://schemas.openxmlformats.org/drawingml/2006/main">
            <a:pPr>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I train models at work.</a:t>
            </a:r>
          </a:p>
          <a:p xmlns:a="http://schemas.openxmlformats.org/drawingml/2006/main">
            <a:pPr>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My two sons train me at home.</a:t>
            </a:r>
          </a:p>
        </p:txBody>
      </p:sp>
      <p:sp>
        <p:nvSpPr>
          <p:cNvPr id="8" name="">
            <a:extLst xmlns:a="http://schemas.openxmlformats.org/drawingml/2006/main">
              <a:ext uri="{FF2B5EF4-FFF2-40B4-BE49-F238E27FC236}">
                <a16:creationId xmlns:a16="http://schemas.microsoft.com/office/drawing/2014/main" id="{FC771816-AFD9-47DD-A36E-679462A82BD1}"/>
              </a:ext>
            </a:extLst>
          </p:cNvPr>
          <p:cNvSpPr>
            <a:spLocks xmlns:a="http://schemas.openxmlformats.org/drawingml/2006/main" noGrp="1"/>
          </p:cNvSpPr>
          <p:nvPr/>
        </p:nvSpPr>
        <p:spPr>
          <a:xfrm xmlns:a="http://schemas.openxmlformats.org/drawingml/2006/main">
            <a:off x="609600" y="5800725"/>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A8C5E8"/>
                </a:solidFill>
                <a:latin typeface="DejaVu Sans"/>
                <a:ea typeface="DejaVu Sans"/>
                <a:cs typeface="DejaVu Sans"/>
              </a:defRPr>
            </a:defPPr>
            <a:lvl1pPr>
              <a:defRPr sz="1800" b="0">
                <a:solidFill>
                  <a:srgbClr val="A8C5E8"/>
                </a:solidFill>
                <a:latin typeface="DejaVu Sans"/>
                <a:ea typeface="DejaVu Sans"/>
                <a:cs typeface="DejaVu Sans"/>
              </a:defRPr>
            </a:lvl1pPr>
            <a:lvl2pPr>
              <a:defRPr sz="1800" b="0">
                <a:solidFill>
                  <a:srgbClr val="A8C5E8"/>
                </a:solidFill>
                <a:latin typeface="DejaVu Sans"/>
                <a:ea typeface="DejaVu Sans"/>
                <a:cs typeface="DejaVu Sans"/>
              </a:defRPr>
            </a:lvl2pPr>
            <a:lvl3pPr>
              <a:defRPr sz="1800" b="0">
                <a:solidFill>
                  <a:srgbClr val="A8C5E8"/>
                </a:solidFill>
                <a:latin typeface="DejaVu Sans"/>
                <a:ea typeface="DejaVu Sans"/>
                <a:cs typeface="DejaVu Sans"/>
              </a:defRPr>
            </a:lvl3pPr>
            <a:lvl4pPr>
              <a:defRPr sz="1800" b="0">
                <a:solidFill>
                  <a:srgbClr val="A8C5E8"/>
                </a:solidFill>
                <a:latin typeface="DejaVu Sans"/>
                <a:ea typeface="DejaVu Sans"/>
                <a:cs typeface="DejaVu Sans"/>
              </a:defRPr>
            </a:lvl4pPr>
            <a:lvl5pPr>
              <a:defRPr sz="1800" b="0">
                <a:solidFill>
                  <a:srgbClr val="A8C5E8"/>
                </a:solidFill>
                <a:latin typeface="DejaVu Sans"/>
                <a:ea typeface="DejaVu Sans"/>
                <a:cs typeface="DejaVu Sans"/>
              </a:defRPr>
            </a:lvl5pPr>
            <a:lvl6pPr>
              <a:defRPr sz="1800" b="0">
                <a:solidFill>
                  <a:srgbClr val="A8C5E8"/>
                </a:solidFill>
                <a:latin typeface="DejaVu Sans"/>
                <a:ea typeface="DejaVu Sans"/>
                <a:cs typeface="DejaVu Sans"/>
              </a:defRPr>
            </a:lvl6pPr>
            <a:lvl7pPr>
              <a:defRPr sz="1800" b="0">
                <a:solidFill>
                  <a:srgbClr val="A8C5E8"/>
                </a:solidFill>
                <a:latin typeface="DejaVu Sans"/>
                <a:ea typeface="DejaVu Sans"/>
                <a:cs typeface="DejaVu Sans"/>
              </a:defRPr>
            </a:lvl7pPr>
            <a:lvl8pPr>
              <a:defRPr sz="1800" b="0">
                <a:solidFill>
                  <a:srgbClr val="A8C5E8"/>
                </a:solidFill>
                <a:latin typeface="DejaVu Sans"/>
                <a:ea typeface="DejaVu Sans"/>
                <a:cs typeface="DejaVu Sans"/>
              </a:defRPr>
            </a:lvl8pPr>
            <a:lvl9pPr>
              <a:defRPr sz="1800" b="0">
                <a:solidFill>
                  <a:srgbClr val="A8C5E8"/>
                </a:solidFill>
                <a:latin typeface="DejaVu Sans"/>
                <a:ea typeface="DejaVu Sans"/>
                <a:cs typeface="DejaVu Sans"/>
              </a:defRPr>
            </a:lvl9pPr>
          </a:lstStyle>
          <a:p xmlns:a="http://schemas.openxmlformats.org/drawingml/2006/main">
            <a:pPr>
              <a:defRPr sz="1800" b="0">
                <a:solidFill>
                  <a:srgbClr val="A8C5E8"/>
                </a:solidFill>
                <a:latin typeface="DejaVu Sans"/>
                <a:ea typeface="DejaVu Sans"/>
                <a:cs typeface="DejaVu Sans"/>
              </a:defRPr>
            </a:pPr>
            <a:r>
              <a:rPr sz="1800" b="0">
                <a:solidFill>
                  <a:srgbClr val="A8C5E8"/>
                </a:solidFill>
                <a:latin typeface="DejaVu Sans"/>
                <a:ea typeface="DejaVu Sans"/>
                <a:cs typeface="DejaVu Sans"/>
              </a:rPr>
              <a:t>Hyderabad     •     NIT Rourkela     •     ~10 years in AI</a:t>
            </a:r>
          </a:p>
        </p:txBody>
      </p:sp>
      <p:sp>
        <p:nvSpPr>
          <p:cNvPr id="9" name="">
            <a:extLst xmlns:a="http://schemas.openxmlformats.org/drawingml/2006/main">
              <a:ext uri="{FF2B5EF4-FFF2-40B4-BE49-F238E27FC236}">
                <a16:creationId xmlns:a16="http://schemas.microsoft.com/office/drawing/2014/main" id="{48E12971-F062-413A-B8B2-EF86A01B69A8}"/>
              </a:ext>
            </a:extLst>
          </p:cNvPr>
          <p:cNvSpPr>
            <a:spLocks xmlns:a="http://schemas.openxmlformats.org/drawingml/2006/main" noGrp="1"/>
          </p:cNvSpPr>
          <p:nvPr/>
        </p:nvSpPr>
        <p:spPr>
          <a:xfrm xmlns:a="http://schemas.openxmlformats.org/drawingml/2006/main">
            <a:off x="4686300" y="625792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7EE0CE"/>
                </a:solidFill>
                <a:latin typeface="DejaVu Sans"/>
                <a:ea typeface="DejaVu Sans"/>
                <a:cs typeface="DejaVu Sans"/>
              </a:defRPr>
            </a:defPPr>
            <a:lvl1pPr>
              <a:defRPr sz="1500" b="0">
                <a:solidFill>
                  <a:srgbClr val="7EE0CE"/>
                </a:solidFill>
                <a:latin typeface="DejaVu Sans"/>
                <a:ea typeface="DejaVu Sans"/>
                <a:cs typeface="DejaVu Sans"/>
              </a:defRPr>
            </a:lvl1pPr>
            <a:lvl2pPr>
              <a:defRPr sz="1500" b="0">
                <a:solidFill>
                  <a:srgbClr val="7EE0CE"/>
                </a:solidFill>
                <a:latin typeface="DejaVu Sans"/>
                <a:ea typeface="DejaVu Sans"/>
                <a:cs typeface="DejaVu Sans"/>
              </a:defRPr>
            </a:lvl2pPr>
            <a:lvl3pPr>
              <a:defRPr sz="1500" b="0">
                <a:solidFill>
                  <a:srgbClr val="7EE0CE"/>
                </a:solidFill>
                <a:latin typeface="DejaVu Sans"/>
                <a:ea typeface="DejaVu Sans"/>
                <a:cs typeface="DejaVu Sans"/>
              </a:defRPr>
            </a:lvl3pPr>
            <a:lvl4pPr>
              <a:defRPr sz="1500" b="0">
                <a:solidFill>
                  <a:srgbClr val="7EE0CE"/>
                </a:solidFill>
                <a:latin typeface="DejaVu Sans"/>
                <a:ea typeface="DejaVu Sans"/>
                <a:cs typeface="DejaVu Sans"/>
              </a:defRPr>
            </a:lvl4pPr>
            <a:lvl5pPr>
              <a:defRPr sz="1500" b="0">
                <a:solidFill>
                  <a:srgbClr val="7EE0CE"/>
                </a:solidFill>
                <a:latin typeface="DejaVu Sans"/>
                <a:ea typeface="DejaVu Sans"/>
                <a:cs typeface="DejaVu Sans"/>
              </a:defRPr>
            </a:lvl5pPr>
            <a:lvl6pPr>
              <a:defRPr sz="1500" b="0">
                <a:solidFill>
                  <a:srgbClr val="7EE0CE"/>
                </a:solidFill>
                <a:latin typeface="DejaVu Sans"/>
                <a:ea typeface="DejaVu Sans"/>
                <a:cs typeface="DejaVu Sans"/>
              </a:defRPr>
            </a:lvl6pPr>
            <a:lvl7pPr>
              <a:defRPr sz="1500" b="0">
                <a:solidFill>
                  <a:srgbClr val="7EE0CE"/>
                </a:solidFill>
                <a:latin typeface="DejaVu Sans"/>
                <a:ea typeface="DejaVu Sans"/>
                <a:cs typeface="DejaVu Sans"/>
              </a:defRPr>
            </a:lvl7pPr>
            <a:lvl8pPr>
              <a:defRPr sz="1500" b="0">
                <a:solidFill>
                  <a:srgbClr val="7EE0CE"/>
                </a:solidFill>
                <a:latin typeface="DejaVu Sans"/>
                <a:ea typeface="DejaVu Sans"/>
                <a:cs typeface="DejaVu Sans"/>
              </a:defRPr>
            </a:lvl8pPr>
            <a:lvl9pPr>
              <a:defRPr sz="1500" b="0">
                <a:solidFill>
                  <a:srgbClr val="7EE0CE"/>
                </a:solidFill>
                <a:latin typeface="DejaVu Sans"/>
                <a:ea typeface="DejaVu Sans"/>
                <a:cs typeface="DejaVu Sans"/>
              </a:defRPr>
            </a:lvl9pPr>
          </a:lstStyle>
          <a:p xmlns:a="http://schemas.openxmlformats.org/drawingml/2006/main">
            <a:pPr>
              <a:defRPr sz="1500" b="0">
                <a:solidFill>
                  <a:srgbClr val="7EE0CE"/>
                </a:solidFill>
                <a:latin typeface="DejaVu Sans"/>
                <a:ea typeface="DejaVu Sans"/>
                <a:cs typeface="DejaVu Sans"/>
              </a:defRPr>
            </a:pPr>
            <a:r>
              <a:rPr sz="1500" b="0">
                <a:solidFill>
                  <a:srgbClr val="7EE0CE"/>
                </a:solidFill>
                <a:latin typeface="DejaVu Sans"/>
                <a:ea typeface="DejaVu Sans"/>
                <a:cs typeface="DejaVu Sans"/>
              </a:rPr>
              <a:t>Next: an LLM’s view of my introduction</a:t>
            </a:r>
          </a:p>
        </p:txBody>
      </p:sp>
    </p:spTree>
    <p:extLst>
      <p:ext uri="{BB962C8B-B14F-4D97-AF65-F5344CB8AC3E}">
        <p14:creationId xmlns:p14="http://schemas.microsoft.com/office/powerpoint/2010/main" val="1825836779"/>
      </p:ext>
    </p:extLst>
  </p:cSld>
</p:sld>
</file>

<file path=ppt/slides/slide2.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7F04F715-BAEA-4263-9355-258A9E68DE34}"/>
              </a:ext>
            </a:extLst>
          </p:cNvPr>
          <p:cNvCxnSpPr>
            <a:stCxn xmlns:a="http://schemas.openxmlformats.org/drawingml/2006/main" id="11" idx="5"/>
            <a:endCxn xmlns:a="http://schemas.openxmlformats.org/drawingml/2006/main" id="29" idx="1"/>
          </p:cNvCxnSpPr>
          <p:nvPr/>
        </p:nvCxnSpPr>
        <p:spPr>
          <a:xfrm xmlns:a="http://schemas.openxmlformats.org/drawingml/2006/main">
            <a:off x="9823263" y="2250888"/>
            <a:ext cx="1383040" cy="716290"/>
          </a:xfrm>
          <a:prstGeom xmlns:a="http://schemas.openxmlformats.org/drawingml/2006/main" prst="straightConnector1">
            <a:avLst/>
          </a:prstGeom>
          <a:ln xmlns:a="http://schemas.openxmlformats.org/drawingml/2006/main" w="19050">
            <a:solidFill>
              <a:srgbClr val="956E54"/>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42B54A2A-EF69-436F-B480-61EF87554246}"/>
              </a:ext>
            </a:extLst>
          </p:cNvPr>
          <p:cNvCxnSpPr>
            <a:stCxn xmlns:a="http://schemas.openxmlformats.org/drawingml/2006/main" id="23" idx="6"/>
            <a:endCxn xmlns:a="http://schemas.openxmlformats.org/drawingml/2006/main" id="26" idx="2"/>
          </p:cNvCxnSpPr>
          <p:nvPr/>
        </p:nvCxnSpPr>
        <p:spPr>
          <a:xfrm xmlns:a="http://schemas.openxmlformats.org/drawingml/2006/main">
            <a:off x="6248400" y="5505450"/>
            <a:ext cx="3124200" cy="0"/>
          </a:xfrm>
          <a:prstGeom xmlns:a="http://schemas.openxmlformats.org/drawingml/2006/main" prst="straightConnector1">
            <a:avLst/>
          </a:prstGeom>
          <a:ln xmlns:a="http://schemas.openxmlformats.org/drawingml/2006/main" w="19050">
            <a:solidFill>
              <a:srgbClr val="518C96"/>
            </a:solidFill>
            <a:prstDash val="solid"/>
            <a:tailEnd type="arrow" w="sm" len="sm"/>
          </a:ln>
        </p:spPr>
      </p:cxnSp>
      <p:cxnSp>
        <p:nvCxnSpPr>
          <p:cNvPr id="38" name="">
            <a:extLst xmlns:a="http://schemas.openxmlformats.org/drawingml/2006/main">
              <a:ext uri="{FF2B5EF4-FFF2-40B4-BE49-F238E27FC236}">
                <a16:creationId xmlns:a16="http://schemas.microsoft.com/office/drawing/2014/main" id="{F279C3EC-8EB0-4CF0-820B-9E3B62642FA1}"/>
              </a:ext>
            </a:extLst>
          </p:cNvPr>
          <p:cNvCxnSpPr>
            <a:stCxn xmlns:a="http://schemas.openxmlformats.org/drawingml/2006/main" id="3" idx="4"/>
            <a:endCxn xmlns:a="http://schemas.openxmlformats.org/drawingml/2006/main" id="23" idx="0"/>
          </p:cNvCxnSpPr>
          <p:nvPr/>
        </p:nvCxnSpPr>
        <p:spPr>
          <a:xfrm xmlns:a="http://schemas.openxmlformats.org/drawingml/2006/main">
            <a:off x="6096000" y="4133850"/>
            <a:ext cx="0" cy="1219200"/>
          </a:xfrm>
          <a:prstGeom xmlns:a="http://schemas.openxmlformats.org/drawingml/2006/main" prst="straightConnector1">
            <a:avLst/>
          </a:prstGeom>
          <a:ln xmlns:a="http://schemas.openxmlformats.org/drawingml/2006/main" w="19050">
            <a:solidFill>
              <a:srgbClr val="7C669D"/>
            </a:solidFill>
            <a:prstDash val="solid"/>
            <a:tailEnd type="arrow" w="sm" len="sm"/>
          </a:ln>
        </p:spPr>
      </p:cxnSp>
      <p:cxnSp>
        <p:nvCxnSpPr>
          <p:cNvPr id="37" name="">
            <a:extLst xmlns:a="http://schemas.openxmlformats.org/drawingml/2006/main">
              <a:ext uri="{FF2B5EF4-FFF2-40B4-BE49-F238E27FC236}">
                <a16:creationId xmlns:a16="http://schemas.microsoft.com/office/drawing/2014/main" id="{313BB758-218C-41E9-8E83-5665647FD56B}"/>
              </a:ext>
            </a:extLst>
          </p:cNvPr>
          <p:cNvCxnSpPr>
            <a:stCxn xmlns:a="http://schemas.openxmlformats.org/drawingml/2006/main" id="3" idx="3"/>
            <a:endCxn xmlns:a="http://schemas.openxmlformats.org/drawingml/2006/main" id="20" idx="7"/>
          </p:cNvCxnSpPr>
          <p:nvPr/>
        </p:nvCxnSpPr>
        <p:spPr>
          <a:xfrm xmlns:a="http://schemas.openxmlformats.org/drawingml/2006/main" flipH="1">
            <a:off x="2965263" y="4038997"/>
            <a:ext cx="2901740" cy="1358690"/>
          </a:xfrm>
          <a:prstGeom xmlns:a="http://schemas.openxmlformats.org/drawingml/2006/main" prst="straightConnector1">
            <a:avLst/>
          </a:prstGeom>
          <a:ln xmlns:a="http://schemas.openxmlformats.org/drawingml/2006/main" w="19050">
            <a:solidFill>
              <a:srgbClr val="94814B"/>
            </a:solidFill>
            <a:prstDash val="solid"/>
            <a:tailEnd type="arrow" w="sm" len="sm"/>
          </a:ln>
        </p:spPr>
      </p:cxnSp>
      <p:cxnSp>
        <p:nvCxnSpPr>
          <p:cNvPr id="36" name="">
            <a:extLst xmlns:a="http://schemas.openxmlformats.org/drawingml/2006/main">
              <a:ext uri="{FF2B5EF4-FFF2-40B4-BE49-F238E27FC236}">
                <a16:creationId xmlns:a16="http://schemas.microsoft.com/office/drawing/2014/main" id="{3D23A3BF-EBF3-4A5A-B4BB-BC9853409567}"/>
              </a:ext>
            </a:extLst>
          </p:cNvPr>
          <p:cNvCxnSpPr>
            <a:stCxn xmlns:a="http://schemas.openxmlformats.org/drawingml/2006/main" id="3" idx="6"/>
            <a:endCxn xmlns:a="http://schemas.openxmlformats.org/drawingml/2006/main" id="17" idx="2"/>
          </p:cNvCxnSpPr>
          <p:nvPr/>
        </p:nvCxnSpPr>
        <p:spPr>
          <a:xfrm xmlns:a="http://schemas.openxmlformats.org/drawingml/2006/main">
            <a:off x="6419850" y="3810000"/>
            <a:ext cx="3429000" cy="133350"/>
          </a:xfrm>
          <a:prstGeom xmlns:a="http://schemas.openxmlformats.org/drawingml/2006/main" prst="straightConnector1">
            <a:avLst/>
          </a:prstGeom>
          <a:ln xmlns:a="http://schemas.openxmlformats.org/drawingml/2006/main" w="19050">
            <a:solidFill>
              <a:srgbClr val="526E93"/>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AC4F2534-B33F-4F10-B39C-EB6AEE4AAB09}"/>
              </a:ext>
            </a:extLst>
          </p:cNvPr>
          <p:cNvCxnSpPr>
            <a:stCxn xmlns:a="http://schemas.openxmlformats.org/drawingml/2006/main" id="3" idx="2"/>
            <a:endCxn xmlns:a="http://schemas.openxmlformats.org/drawingml/2006/main" id="14" idx="6"/>
          </p:cNvCxnSpPr>
          <p:nvPr/>
        </p:nvCxnSpPr>
        <p:spPr>
          <a:xfrm xmlns:a="http://schemas.openxmlformats.org/drawingml/2006/main" flipH="1">
            <a:off x="2343150" y="3810000"/>
            <a:ext cx="3429000" cy="133350"/>
          </a:xfrm>
          <a:prstGeom xmlns:a="http://schemas.openxmlformats.org/drawingml/2006/main" prst="straightConnector1">
            <a:avLst/>
          </a:prstGeom>
          <a:ln xmlns:a="http://schemas.openxmlformats.org/drawingml/2006/main" w="19050">
            <a:solidFill>
              <a:srgbClr val="956E54"/>
            </a:solidFill>
            <a:prstDash val="solid"/>
            <a:tailEnd type="arrow" w="sm" len="sm"/>
          </a:ln>
        </p:spPr>
      </p:cxnSp>
      <p:cxnSp>
        <p:nvCxnSpPr>
          <p:cNvPr id="34" name="">
            <a:extLst xmlns:a="http://schemas.openxmlformats.org/drawingml/2006/main">
              <a:ext uri="{FF2B5EF4-FFF2-40B4-BE49-F238E27FC236}">
                <a16:creationId xmlns:a16="http://schemas.microsoft.com/office/drawing/2014/main" id="{409E5754-6BF4-402D-A595-D065891D7A4E}"/>
              </a:ext>
            </a:extLst>
          </p:cNvPr>
          <p:cNvCxnSpPr>
            <a:stCxn xmlns:a="http://schemas.openxmlformats.org/drawingml/2006/main" id="3" idx="7"/>
            <a:endCxn xmlns:a="http://schemas.openxmlformats.org/drawingml/2006/main" id="11" idx="3"/>
          </p:cNvCxnSpPr>
          <p:nvPr/>
        </p:nvCxnSpPr>
        <p:spPr>
          <a:xfrm xmlns:a="http://schemas.openxmlformats.org/drawingml/2006/main" flipV="1">
            <a:off x="6324997" y="2250888"/>
            <a:ext cx="3282740" cy="1330115"/>
          </a:xfrm>
          <a:prstGeom xmlns:a="http://schemas.openxmlformats.org/drawingml/2006/main" prst="straightConnector1">
            <a:avLst/>
          </a:prstGeom>
          <a:ln xmlns:a="http://schemas.openxmlformats.org/drawingml/2006/main" w="19050">
            <a:solidFill>
              <a:srgbClr val="4B8E78"/>
            </a:solidFill>
            <a:prstDash val="solid"/>
            <a:tailEnd type="arrow" w="sm" len="sm"/>
          </a:ln>
        </p:spPr>
      </p:cxnSp>
      <p:cxnSp>
        <p:nvCxnSpPr>
          <p:cNvPr id="33" name="">
            <a:extLst xmlns:a="http://schemas.openxmlformats.org/drawingml/2006/main">
              <a:ext uri="{FF2B5EF4-FFF2-40B4-BE49-F238E27FC236}">
                <a16:creationId xmlns:a16="http://schemas.microsoft.com/office/drawing/2014/main" id="{66582FB4-0BF5-45E4-8755-9702B64692C4}"/>
              </a:ext>
            </a:extLst>
          </p:cNvPr>
          <p:cNvCxnSpPr>
            <a:stCxn xmlns:a="http://schemas.openxmlformats.org/drawingml/2006/main" id="3" idx="0"/>
            <a:endCxn xmlns:a="http://schemas.openxmlformats.org/drawingml/2006/main" id="8" idx="4"/>
          </p:cNvCxnSpPr>
          <p:nvPr/>
        </p:nvCxnSpPr>
        <p:spPr>
          <a:xfrm xmlns:a="http://schemas.openxmlformats.org/drawingml/2006/main" flipV="1">
            <a:off x="6096000" y="2295525"/>
            <a:ext cx="0" cy="1190625"/>
          </a:xfrm>
          <a:prstGeom xmlns:a="http://schemas.openxmlformats.org/drawingml/2006/main" prst="straightConnector1">
            <a:avLst/>
          </a:prstGeom>
          <a:ln xmlns:a="http://schemas.openxmlformats.org/drawingml/2006/main" w="19050">
            <a:solidFill>
              <a:srgbClr val="936780"/>
            </a:solidFill>
            <a:prstDash val="solid"/>
            <a:tailEnd type="arrow" w="sm" len="sm"/>
          </a:ln>
        </p:spPr>
      </p:cxnSp>
      <p:cxnSp>
        <p:nvCxnSpPr>
          <p:cNvPr id="32" name="">
            <a:extLst xmlns:a="http://schemas.openxmlformats.org/drawingml/2006/main">
              <a:ext uri="{FF2B5EF4-FFF2-40B4-BE49-F238E27FC236}">
                <a16:creationId xmlns:a16="http://schemas.microsoft.com/office/drawing/2014/main" id="{6C4DB6E3-A8B6-424A-A27C-732D30C5CD47}"/>
              </a:ext>
            </a:extLst>
          </p:cNvPr>
          <p:cNvCxnSpPr>
            <a:stCxn xmlns:a="http://schemas.openxmlformats.org/drawingml/2006/main" id="3" idx="1"/>
            <a:endCxn xmlns:a="http://schemas.openxmlformats.org/drawingml/2006/main" id="5" idx="5"/>
          </p:cNvCxnSpPr>
          <p:nvPr/>
        </p:nvCxnSpPr>
        <p:spPr>
          <a:xfrm xmlns:a="http://schemas.openxmlformats.org/drawingml/2006/main" flipH="1" flipV="1">
            <a:off x="2584263" y="2250888"/>
            <a:ext cx="3282740" cy="1330115"/>
          </a:xfrm>
          <a:prstGeom xmlns:a="http://schemas.openxmlformats.org/drawingml/2006/main" prst="straightConnector1">
            <a:avLst/>
          </a:prstGeom>
          <a:ln xmlns:a="http://schemas.openxmlformats.org/drawingml/2006/main" w="19050">
            <a:solidFill>
              <a:srgbClr val="526E93"/>
            </a:solidFill>
            <a:prstDash val="solid"/>
            <a:tailEnd type="arrow" w="sm" len="sm"/>
          </a:ln>
        </p:spPr>
      </p:cxnSp>
      <p:sp>
        <p:nvSpPr>
          <p:cNvPr id="49" name="">
            <a:extLst xmlns:a="http://schemas.openxmlformats.org/drawingml/2006/main">
              <a:ext uri="{FF2B5EF4-FFF2-40B4-BE49-F238E27FC236}">
                <a16:creationId xmlns:a16="http://schemas.microsoft.com/office/drawing/2014/main" id="{01537EEA-6449-458E-8C40-032668765F78}"/>
              </a:ext>
            </a:extLst>
          </p:cNvPr>
          <p:cNvSpPr>
            <a:spLocks xmlns:a="http://schemas.openxmlformats.org/drawingml/2006/main" noGrp="1"/>
          </p:cNvSpPr>
          <p:nvPr/>
        </p:nvSpPr>
        <p:spPr>
          <a:xfrm xmlns:a="http://schemas.openxmlformats.org/drawingml/2006/main">
            <a:off x="457200" y="228600"/>
            <a:ext cx="11144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75" b="1">
                <a:solidFill>
                  <a:srgbClr val="F2F5FC"/>
                </a:solidFill>
                <a:latin typeface="DejaVu Sans"/>
                <a:ea typeface="DejaVu Sans"/>
                <a:cs typeface="DejaVu Sans"/>
              </a:defRPr>
            </a:defPPr>
            <a:lvl1pPr>
              <a:defRPr sz="3375" b="1">
                <a:solidFill>
                  <a:srgbClr val="F2F5FC"/>
                </a:solidFill>
                <a:latin typeface="DejaVu Sans"/>
                <a:ea typeface="DejaVu Sans"/>
                <a:cs typeface="DejaVu Sans"/>
              </a:defRPr>
            </a:lvl1pPr>
            <a:lvl2pPr>
              <a:defRPr sz="3375" b="1">
                <a:solidFill>
                  <a:srgbClr val="F2F5FC"/>
                </a:solidFill>
                <a:latin typeface="DejaVu Sans"/>
                <a:ea typeface="DejaVu Sans"/>
                <a:cs typeface="DejaVu Sans"/>
              </a:defRPr>
            </a:lvl2pPr>
            <a:lvl3pPr>
              <a:defRPr sz="3375" b="1">
                <a:solidFill>
                  <a:srgbClr val="F2F5FC"/>
                </a:solidFill>
                <a:latin typeface="DejaVu Sans"/>
                <a:ea typeface="DejaVu Sans"/>
                <a:cs typeface="DejaVu Sans"/>
              </a:defRPr>
            </a:lvl3pPr>
            <a:lvl4pPr>
              <a:defRPr sz="3375" b="1">
                <a:solidFill>
                  <a:srgbClr val="F2F5FC"/>
                </a:solidFill>
                <a:latin typeface="DejaVu Sans"/>
                <a:ea typeface="DejaVu Sans"/>
                <a:cs typeface="DejaVu Sans"/>
              </a:defRPr>
            </a:lvl4pPr>
            <a:lvl5pPr>
              <a:defRPr sz="3375" b="1">
                <a:solidFill>
                  <a:srgbClr val="F2F5FC"/>
                </a:solidFill>
                <a:latin typeface="DejaVu Sans"/>
                <a:ea typeface="DejaVu Sans"/>
                <a:cs typeface="DejaVu Sans"/>
              </a:defRPr>
            </a:lvl5pPr>
            <a:lvl6pPr>
              <a:defRPr sz="3375" b="1">
                <a:solidFill>
                  <a:srgbClr val="F2F5FC"/>
                </a:solidFill>
                <a:latin typeface="DejaVu Sans"/>
                <a:ea typeface="DejaVu Sans"/>
                <a:cs typeface="DejaVu Sans"/>
              </a:defRPr>
            </a:lvl6pPr>
            <a:lvl7pPr>
              <a:defRPr sz="3375" b="1">
                <a:solidFill>
                  <a:srgbClr val="F2F5FC"/>
                </a:solidFill>
                <a:latin typeface="DejaVu Sans"/>
                <a:ea typeface="DejaVu Sans"/>
                <a:cs typeface="DejaVu Sans"/>
              </a:defRPr>
            </a:lvl7pPr>
            <a:lvl8pPr>
              <a:defRPr sz="3375" b="1">
                <a:solidFill>
                  <a:srgbClr val="F2F5FC"/>
                </a:solidFill>
                <a:latin typeface="DejaVu Sans"/>
                <a:ea typeface="DejaVu Sans"/>
                <a:cs typeface="DejaVu Sans"/>
              </a:defRPr>
            </a:lvl8pPr>
            <a:lvl9pPr>
              <a:defRPr sz="3375" b="1">
                <a:solidFill>
                  <a:srgbClr val="F2F5FC"/>
                </a:solidFill>
                <a:latin typeface="DejaVu Sans"/>
                <a:ea typeface="DejaVu Sans"/>
                <a:cs typeface="DejaVu Sans"/>
              </a:defRPr>
            </a:lvl9pPr>
          </a:lstStyle>
          <a:p xmlns:a="http://schemas.openxmlformats.org/drawingml/2006/main">
            <a:pPr>
              <a:defRPr sz="3375" b="1">
                <a:solidFill>
                  <a:srgbClr val="F2F5FC"/>
                </a:solidFill>
                <a:latin typeface="DejaVu Sans"/>
                <a:ea typeface="DejaVu Sans"/>
                <a:cs typeface="DejaVu Sans"/>
              </a:defRPr>
            </a:pPr>
            <a:r>
              <a:rPr sz="3375" b="1">
                <a:solidFill>
                  <a:srgbClr val="F2F5FC"/>
                </a:solidFill>
                <a:latin typeface="DejaVu Sans"/>
                <a:ea typeface="DejaVu Sans"/>
                <a:cs typeface="DejaVu Sans"/>
              </a:rPr>
              <a:t>Nishanth, as a knowledge graph</a:t>
            </a:r>
          </a:p>
        </p:txBody>
      </p:sp>
      <p:sp>
        <p:nvSpPr>
          <p:cNvPr id="2" name="">
            <a:extLst xmlns:a="http://schemas.openxmlformats.org/drawingml/2006/main">
              <a:ext uri="{FF2B5EF4-FFF2-40B4-BE49-F238E27FC236}">
                <a16:creationId xmlns:a16="http://schemas.microsoft.com/office/drawing/2014/main" id="{33E42FE8-A552-4061-ACB1-24BC83C7B121}"/>
              </a:ext>
            </a:extLst>
          </p:cNvPr>
          <p:cNvSpPr>
            <a:spLocks xmlns:a="http://schemas.openxmlformats.org/drawingml/2006/main" noGrp="1"/>
          </p:cNvSpPr>
          <p:nvPr/>
        </p:nvSpPr>
        <p:spPr>
          <a:xfrm xmlns:a="http://schemas.openxmlformats.org/drawingml/2006/main">
            <a:off x="476250" y="9525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85DCCB"/>
                </a:solidFill>
                <a:latin typeface="DejaVu Sans"/>
                <a:ea typeface="DejaVu Sans"/>
                <a:cs typeface="DejaVu Sans"/>
              </a:defRPr>
            </a:defPPr>
            <a:lvl1pPr>
              <a:defRPr sz="1650" b="0">
                <a:solidFill>
                  <a:srgbClr val="85DCCB"/>
                </a:solidFill>
                <a:latin typeface="DejaVu Sans"/>
                <a:ea typeface="DejaVu Sans"/>
                <a:cs typeface="DejaVu Sans"/>
              </a:defRPr>
            </a:lvl1pPr>
            <a:lvl2pPr>
              <a:defRPr sz="1650" b="0">
                <a:solidFill>
                  <a:srgbClr val="85DCCB"/>
                </a:solidFill>
                <a:latin typeface="DejaVu Sans"/>
                <a:ea typeface="DejaVu Sans"/>
                <a:cs typeface="DejaVu Sans"/>
              </a:defRPr>
            </a:lvl2pPr>
            <a:lvl3pPr>
              <a:defRPr sz="1650" b="0">
                <a:solidFill>
                  <a:srgbClr val="85DCCB"/>
                </a:solidFill>
                <a:latin typeface="DejaVu Sans"/>
                <a:ea typeface="DejaVu Sans"/>
                <a:cs typeface="DejaVu Sans"/>
              </a:defRPr>
            </a:lvl3pPr>
            <a:lvl4pPr>
              <a:defRPr sz="1650" b="0">
                <a:solidFill>
                  <a:srgbClr val="85DCCB"/>
                </a:solidFill>
                <a:latin typeface="DejaVu Sans"/>
                <a:ea typeface="DejaVu Sans"/>
                <a:cs typeface="DejaVu Sans"/>
              </a:defRPr>
            </a:lvl4pPr>
            <a:lvl5pPr>
              <a:defRPr sz="1650" b="0">
                <a:solidFill>
                  <a:srgbClr val="85DCCB"/>
                </a:solidFill>
                <a:latin typeface="DejaVu Sans"/>
                <a:ea typeface="DejaVu Sans"/>
                <a:cs typeface="DejaVu Sans"/>
              </a:defRPr>
            </a:lvl5pPr>
            <a:lvl6pPr>
              <a:defRPr sz="1650" b="0">
                <a:solidFill>
                  <a:srgbClr val="85DCCB"/>
                </a:solidFill>
                <a:latin typeface="DejaVu Sans"/>
                <a:ea typeface="DejaVu Sans"/>
                <a:cs typeface="DejaVu Sans"/>
              </a:defRPr>
            </a:lvl6pPr>
            <a:lvl7pPr>
              <a:defRPr sz="1650" b="0">
                <a:solidFill>
                  <a:srgbClr val="85DCCB"/>
                </a:solidFill>
                <a:latin typeface="DejaVu Sans"/>
                <a:ea typeface="DejaVu Sans"/>
                <a:cs typeface="DejaVu Sans"/>
              </a:defRPr>
            </a:lvl7pPr>
            <a:lvl8pPr>
              <a:defRPr sz="1650" b="0">
                <a:solidFill>
                  <a:srgbClr val="85DCCB"/>
                </a:solidFill>
                <a:latin typeface="DejaVu Sans"/>
                <a:ea typeface="DejaVu Sans"/>
                <a:cs typeface="DejaVu Sans"/>
              </a:defRPr>
            </a:lvl8pPr>
            <a:lvl9pPr>
              <a:defRPr sz="1650" b="0">
                <a:solidFill>
                  <a:srgbClr val="85DCCB"/>
                </a:solidFill>
                <a:latin typeface="DejaVu Sans"/>
                <a:ea typeface="DejaVu Sans"/>
                <a:cs typeface="DejaVu Sans"/>
              </a:defRPr>
            </a:lvl9pPr>
          </a:lstStyle>
          <a:p xmlns:a="http://schemas.openxmlformats.org/drawingml/2006/main">
            <a:pPr>
              <a:defRPr sz="1650" b="0">
                <a:solidFill>
                  <a:srgbClr val="85DCCB"/>
                </a:solidFill>
                <a:latin typeface="DejaVu Sans"/>
                <a:ea typeface="DejaVu Sans"/>
                <a:cs typeface="DejaVu Sans"/>
              </a:defRPr>
            </a:pPr>
            <a:r>
              <a:rPr sz="1650" b="0">
                <a:solidFill>
                  <a:srgbClr val="85DCCB"/>
                </a:solidFill>
                <a:latin typeface="DejaVu Sans"/>
                <a:ea typeface="DejaVu Sans"/>
                <a:cs typeface="DejaVu Sans"/>
              </a:rPr>
              <a:t>Bio + résumé  →  LLM entity &amp; relationship extraction  →  connected context</a:t>
            </a:r>
          </a:p>
        </p:txBody>
      </p:sp>
      <p:sp>
        <p:nvSpPr>
          <p:cNvPr id="3" name="">
            <a:extLst xmlns:a="http://schemas.openxmlformats.org/drawingml/2006/main">
              <a:ext uri="{FF2B5EF4-FFF2-40B4-BE49-F238E27FC236}">
                <a16:creationId xmlns:a16="http://schemas.microsoft.com/office/drawing/2014/main" id="{994A7741-BCA3-4121-8646-23FDBE80AE54}"/>
              </a:ext>
            </a:extLst>
          </p:cNvPr>
          <p:cNvSpPr>
            <a:spLocks xmlns:a="http://schemas.openxmlformats.org/drawingml/2006/main" noGrp="1"/>
          </p:cNvSpPr>
          <p:nvPr/>
        </p:nvSpPr>
        <p:spPr>
          <a:xfrm xmlns:a="http://schemas.openxmlformats.org/drawingml/2006/main">
            <a:off x="5772150" y="3486150"/>
            <a:ext cx="647700" cy="647700"/>
          </a:xfrm>
          <a:prstGeom xmlns:a="http://schemas.openxmlformats.org/drawingml/2006/main" prst="ellipse">
            <a:avLst/>
          </a:prstGeom>
          <a:solidFill xmlns:a="http://schemas.openxmlformats.org/drawingml/2006/main">
            <a:srgbClr val="4AC9B2"/>
          </a:solidFill>
          <a:ln xmlns:a="http://schemas.openxmlformats.org/drawingml/2006/main" w="14288">
            <a:solidFill>
              <a:srgbClr val="DCE8F3"/>
            </a:solidFill>
            <a:prstDash val="solid"/>
          </a:ln>
        </p:spPr>
      </p:sp>
      <p:sp>
        <p:nvSpPr>
          <p:cNvPr id="4" name="">
            <a:extLst xmlns:a="http://schemas.openxmlformats.org/drawingml/2006/main">
              <a:ext uri="{FF2B5EF4-FFF2-40B4-BE49-F238E27FC236}">
                <a16:creationId xmlns:a16="http://schemas.microsoft.com/office/drawing/2014/main" id="{7CC16F59-8578-459A-8678-FF9C8C3C7691}"/>
              </a:ext>
            </a:extLst>
          </p:cNvPr>
          <p:cNvSpPr>
            <a:spLocks xmlns:a="http://schemas.openxmlformats.org/drawingml/2006/main" noGrp="1"/>
          </p:cNvSpPr>
          <p:nvPr/>
        </p:nvSpPr>
        <p:spPr>
          <a:xfrm xmlns:a="http://schemas.openxmlformats.org/drawingml/2006/main">
            <a:off x="4572000" y="4286250"/>
            <a:ext cx="304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75" b="0">
                <a:solidFill>
                  <a:srgbClr val="8CEBD7"/>
                </a:solidFill>
                <a:latin typeface="DejaVu Sans"/>
                <a:ea typeface="DejaVu Sans"/>
                <a:cs typeface="DejaVu Sans"/>
              </a:defRPr>
            </a:defPPr>
            <a:lvl1pPr algn="ctr">
              <a:defRPr sz="1875" b="0">
                <a:solidFill>
                  <a:srgbClr val="8CEBD7"/>
                </a:solidFill>
                <a:latin typeface="DejaVu Sans"/>
                <a:ea typeface="DejaVu Sans"/>
                <a:cs typeface="DejaVu Sans"/>
              </a:defRPr>
            </a:lvl1pPr>
            <a:lvl2pPr algn="ctr">
              <a:defRPr sz="1875" b="0">
                <a:solidFill>
                  <a:srgbClr val="8CEBD7"/>
                </a:solidFill>
                <a:latin typeface="DejaVu Sans"/>
                <a:ea typeface="DejaVu Sans"/>
                <a:cs typeface="DejaVu Sans"/>
              </a:defRPr>
            </a:lvl2pPr>
            <a:lvl3pPr algn="ctr">
              <a:defRPr sz="1875" b="0">
                <a:solidFill>
                  <a:srgbClr val="8CEBD7"/>
                </a:solidFill>
                <a:latin typeface="DejaVu Sans"/>
                <a:ea typeface="DejaVu Sans"/>
                <a:cs typeface="DejaVu Sans"/>
              </a:defRPr>
            </a:lvl3pPr>
            <a:lvl4pPr algn="ctr">
              <a:defRPr sz="1875" b="0">
                <a:solidFill>
                  <a:srgbClr val="8CEBD7"/>
                </a:solidFill>
                <a:latin typeface="DejaVu Sans"/>
                <a:ea typeface="DejaVu Sans"/>
                <a:cs typeface="DejaVu Sans"/>
              </a:defRPr>
            </a:lvl4pPr>
            <a:lvl5pPr algn="ctr">
              <a:defRPr sz="1875" b="0">
                <a:solidFill>
                  <a:srgbClr val="8CEBD7"/>
                </a:solidFill>
                <a:latin typeface="DejaVu Sans"/>
                <a:ea typeface="DejaVu Sans"/>
                <a:cs typeface="DejaVu Sans"/>
              </a:defRPr>
            </a:lvl5pPr>
            <a:lvl6pPr algn="ctr">
              <a:defRPr sz="1875" b="0">
                <a:solidFill>
                  <a:srgbClr val="8CEBD7"/>
                </a:solidFill>
                <a:latin typeface="DejaVu Sans"/>
                <a:ea typeface="DejaVu Sans"/>
                <a:cs typeface="DejaVu Sans"/>
              </a:defRPr>
            </a:lvl6pPr>
            <a:lvl7pPr algn="ctr">
              <a:defRPr sz="1875" b="0">
                <a:solidFill>
                  <a:srgbClr val="8CEBD7"/>
                </a:solidFill>
                <a:latin typeface="DejaVu Sans"/>
                <a:ea typeface="DejaVu Sans"/>
                <a:cs typeface="DejaVu Sans"/>
              </a:defRPr>
            </a:lvl7pPr>
            <a:lvl8pPr algn="ctr">
              <a:defRPr sz="1875" b="0">
                <a:solidFill>
                  <a:srgbClr val="8CEBD7"/>
                </a:solidFill>
                <a:latin typeface="DejaVu Sans"/>
                <a:ea typeface="DejaVu Sans"/>
                <a:cs typeface="DejaVu Sans"/>
              </a:defRPr>
            </a:lvl8pPr>
            <a:lvl9pPr algn="ctr">
              <a:defRPr sz="1875" b="0">
                <a:solidFill>
                  <a:srgbClr val="8CEBD7"/>
                </a:solidFill>
                <a:latin typeface="DejaVu Sans"/>
                <a:ea typeface="DejaVu Sans"/>
                <a:cs typeface="DejaVu Sans"/>
              </a:defRPr>
            </a:lvl9pPr>
          </a:lstStyle>
          <a:p xmlns:a="http://schemas.openxmlformats.org/drawingml/2006/main">
            <a:pPr algn="ctr">
              <a:defRPr sz="1875" b="0">
                <a:solidFill>
                  <a:srgbClr val="8CEBD7"/>
                </a:solidFill>
                <a:latin typeface="DejaVu Sans"/>
                <a:ea typeface="DejaVu Sans"/>
                <a:cs typeface="DejaVu Sans"/>
              </a:defRPr>
            </a:pPr>
            <a:r>
              <a:rPr sz="1875" b="0">
                <a:solidFill>
                  <a:srgbClr val="8CEBD7"/>
                </a:solidFill>
                <a:latin typeface="DejaVu Sans"/>
                <a:ea typeface="DejaVu Sans"/>
                <a:cs typeface="DejaVu Sans"/>
              </a:rPr>
              <a:t>NISHANTH  :Person</a:t>
            </a:r>
          </a:p>
        </p:txBody>
      </p:sp>
      <p:sp>
        <p:nvSpPr>
          <p:cNvPr id="5" name="">
            <a:extLst xmlns:a="http://schemas.openxmlformats.org/drawingml/2006/main">
              <a:ext uri="{FF2B5EF4-FFF2-40B4-BE49-F238E27FC236}">
                <a16:creationId xmlns:a16="http://schemas.microsoft.com/office/drawing/2014/main" id="{5382A823-25DE-4779-AE93-AB6A6DD021B9}"/>
              </a:ext>
            </a:extLst>
          </p:cNvPr>
          <p:cNvSpPr>
            <a:spLocks xmlns:a="http://schemas.openxmlformats.org/drawingml/2006/main" noGrp="1"/>
          </p:cNvSpPr>
          <p:nvPr/>
        </p:nvSpPr>
        <p:spPr>
          <a:xfrm xmlns:a="http://schemas.openxmlformats.org/drawingml/2006/main">
            <a:off x="2324100" y="1990725"/>
            <a:ext cx="304800" cy="304800"/>
          </a:xfrm>
          <a:prstGeom xmlns:a="http://schemas.openxmlformats.org/drawingml/2006/main" prst="ellipse">
            <a:avLst/>
          </a:prstGeom>
          <a:solidFill xmlns:a="http://schemas.openxmlformats.org/drawingml/2006/main">
            <a:srgbClr val="75A9F0"/>
          </a:solidFill>
          <a:ln xmlns:a="http://schemas.openxmlformats.org/drawingml/2006/main" w="14288">
            <a:solidFill>
              <a:srgbClr val="DCE8F3"/>
            </a:solidFill>
            <a:prstDash val="solid"/>
          </a:ln>
        </p:spPr>
      </p:sp>
      <p:sp>
        <p:nvSpPr>
          <p:cNvPr id="6" name="">
            <a:extLst xmlns:a="http://schemas.openxmlformats.org/drawingml/2006/main">
              <a:ext uri="{FF2B5EF4-FFF2-40B4-BE49-F238E27FC236}">
                <a16:creationId xmlns:a16="http://schemas.microsoft.com/office/drawing/2014/main" id="{6600FB65-1862-44B6-8D04-3C25F3D75A11}"/>
              </a:ext>
            </a:extLst>
          </p:cNvPr>
          <p:cNvSpPr>
            <a:spLocks xmlns:a="http://schemas.openxmlformats.org/drawingml/2006/main" noGrp="1"/>
          </p:cNvSpPr>
          <p:nvPr/>
        </p:nvSpPr>
        <p:spPr>
          <a:xfrm xmlns:a="http://schemas.openxmlformats.org/drawingml/2006/main">
            <a:off x="952500" y="1485900"/>
            <a:ext cx="304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0">
                <a:solidFill>
                  <a:srgbClr val="AFCFFF"/>
                </a:solidFill>
                <a:latin typeface="DejaVu Sans"/>
                <a:ea typeface="DejaVu Sans"/>
                <a:cs typeface="DejaVu Sans"/>
              </a:defRPr>
            </a:defPPr>
            <a:lvl1pPr algn="ctr">
              <a:defRPr sz="1800" b="0">
                <a:solidFill>
                  <a:srgbClr val="AFCFFF"/>
                </a:solidFill>
                <a:latin typeface="DejaVu Sans"/>
                <a:ea typeface="DejaVu Sans"/>
                <a:cs typeface="DejaVu Sans"/>
              </a:defRPr>
            </a:lvl1pPr>
            <a:lvl2pPr algn="ctr">
              <a:defRPr sz="1800" b="0">
                <a:solidFill>
                  <a:srgbClr val="AFCFFF"/>
                </a:solidFill>
                <a:latin typeface="DejaVu Sans"/>
                <a:ea typeface="DejaVu Sans"/>
                <a:cs typeface="DejaVu Sans"/>
              </a:defRPr>
            </a:lvl2pPr>
            <a:lvl3pPr algn="ctr">
              <a:defRPr sz="1800" b="0">
                <a:solidFill>
                  <a:srgbClr val="AFCFFF"/>
                </a:solidFill>
                <a:latin typeface="DejaVu Sans"/>
                <a:ea typeface="DejaVu Sans"/>
                <a:cs typeface="DejaVu Sans"/>
              </a:defRPr>
            </a:lvl3pPr>
            <a:lvl4pPr algn="ctr">
              <a:defRPr sz="1800" b="0">
                <a:solidFill>
                  <a:srgbClr val="AFCFFF"/>
                </a:solidFill>
                <a:latin typeface="DejaVu Sans"/>
                <a:ea typeface="DejaVu Sans"/>
                <a:cs typeface="DejaVu Sans"/>
              </a:defRPr>
            </a:lvl4pPr>
            <a:lvl5pPr algn="ctr">
              <a:defRPr sz="1800" b="0">
                <a:solidFill>
                  <a:srgbClr val="AFCFFF"/>
                </a:solidFill>
                <a:latin typeface="DejaVu Sans"/>
                <a:ea typeface="DejaVu Sans"/>
                <a:cs typeface="DejaVu Sans"/>
              </a:defRPr>
            </a:lvl5pPr>
            <a:lvl6pPr algn="ctr">
              <a:defRPr sz="1800" b="0">
                <a:solidFill>
                  <a:srgbClr val="AFCFFF"/>
                </a:solidFill>
                <a:latin typeface="DejaVu Sans"/>
                <a:ea typeface="DejaVu Sans"/>
                <a:cs typeface="DejaVu Sans"/>
              </a:defRPr>
            </a:lvl6pPr>
            <a:lvl7pPr algn="ctr">
              <a:defRPr sz="1800" b="0">
                <a:solidFill>
                  <a:srgbClr val="AFCFFF"/>
                </a:solidFill>
                <a:latin typeface="DejaVu Sans"/>
                <a:ea typeface="DejaVu Sans"/>
                <a:cs typeface="DejaVu Sans"/>
              </a:defRPr>
            </a:lvl7pPr>
            <a:lvl8pPr algn="ctr">
              <a:defRPr sz="1800" b="0">
                <a:solidFill>
                  <a:srgbClr val="AFCFFF"/>
                </a:solidFill>
                <a:latin typeface="DejaVu Sans"/>
                <a:ea typeface="DejaVu Sans"/>
                <a:cs typeface="DejaVu Sans"/>
              </a:defRPr>
            </a:lvl8pPr>
            <a:lvl9pPr algn="ctr">
              <a:defRPr sz="1800" b="0">
                <a:solidFill>
                  <a:srgbClr val="AFCFFF"/>
                </a:solidFill>
                <a:latin typeface="DejaVu Sans"/>
                <a:ea typeface="DejaVu Sans"/>
                <a:cs typeface="DejaVu Sans"/>
              </a:defRPr>
            </a:lvl9pPr>
          </a:lstStyle>
          <a:p xmlns:a="http://schemas.openxmlformats.org/drawingml/2006/main">
            <a:pPr algn="ctr">
              <a:defRPr sz="1800" b="0">
                <a:solidFill>
                  <a:srgbClr val="AFCFFF"/>
                </a:solidFill>
                <a:latin typeface="DejaVu Sans"/>
                <a:ea typeface="DejaVu Sans"/>
                <a:cs typeface="DejaVu Sans"/>
              </a:defRPr>
            </a:pPr>
            <a:r>
              <a:rPr sz="1800" b="0">
                <a:solidFill>
                  <a:srgbClr val="AFCFFF"/>
                </a:solidFill>
                <a:latin typeface="DejaVu Sans"/>
                <a:ea typeface="DejaVu Sans"/>
                <a:cs typeface="DejaVu Sans"/>
              </a:rPr>
              <a:t>NIT Rourkela</a:t>
            </a:r>
          </a:p>
        </p:txBody>
      </p:sp>
      <p:sp>
        <p:nvSpPr>
          <p:cNvPr id="7" name="">
            <a:extLst xmlns:a="http://schemas.openxmlformats.org/drawingml/2006/main">
              <a:ext uri="{FF2B5EF4-FFF2-40B4-BE49-F238E27FC236}">
                <a16:creationId xmlns:a16="http://schemas.microsoft.com/office/drawing/2014/main" id="{98E29900-353F-43E1-BB6A-65971101DDF5}"/>
              </a:ext>
            </a:extLst>
          </p:cNvPr>
          <p:cNvSpPr>
            <a:spLocks xmlns:a="http://schemas.openxmlformats.org/drawingml/2006/main" noGrp="1"/>
          </p:cNvSpPr>
          <p:nvPr/>
        </p:nvSpPr>
        <p:spPr>
          <a:xfrm xmlns:a="http://schemas.openxmlformats.org/drawingml/2006/main">
            <a:off x="904875" y="1809750"/>
            <a:ext cx="3143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B.Tech + M.Tech, 2016</a:t>
            </a:r>
          </a:p>
        </p:txBody>
      </p:sp>
      <p:sp>
        <p:nvSpPr>
          <p:cNvPr id="8" name="">
            <a:extLst xmlns:a="http://schemas.openxmlformats.org/drawingml/2006/main">
              <a:ext uri="{FF2B5EF4-FFF2-40B4-BE49-F238E27FC236}">
                <a16:creationId xmlns:a16="http://schemas.microsoft.com/office/drawing/2014/main" id="{C6035563-C7D4-488E-B96B-7960A01937FD}"/>
              </a:ext>
            </a:extLst>
          </p:cNvPr>
          <p:cNvSpPr>
            <a:spLocks xmlns:a="http://schemas.openxmlformats.org/drawingml/2006/main" noGrp="1"/>
          </p:cNvSpPr>
          <p:nvPr/>
        </p:nvSpPr>
        <p:spPr>
          <a:xfrm xmlns:a="http://schemas.openxmlformats.org/drawingml/2006/main">
            <a:off x="5943600" y="1990725"/>
            <a:ext cx="304800" cy="304800"/>
          </a:xfrm>
          <a:prstGeom xmlns:a="http://schemas.openxmlformats.org/drawingml/2006/main" prst="ellipse">
            <a:avLst/>
          </a:prstGeom>
          <a:solidFill xmlns:a="http://schemas.openxmlformats.org/drawingml/2006/main">
            <a:srgbClr val="DB8BB6"/>
          </a:solidFill>
          <a:ln xmlns:a="http://schemas.openxmlformats.org/drawingml/2006/main" w="14288">
            <a:solidFill>
              <a:srgbClr val="DCE8F3"/>
            </a:solidFill>
            <a:prstDash val="solid"/>
          </a:ln>
        </p:spPr>
      </p:sp>
      <p:sp>
        <p:nvSpPr>
          <p:cNvPr id="9" name="">
            <a:extLst xmlns:a="http://schemas.openxmlformats.org/drawingml/2006/main">
              <a:ext uri="{FF2B5EF4-FFF2-40B4-BE49-F238E27FC236}">
                <a16:creationId xmlns:a16="http://schemas.microsoft.com/office/drawing/2014/main" id="{8127FCE6-1132-4E31-859D-BC8FFABF7540}"/>
              </a:ext>
            </a:extLst>
          </p:cNvPr>
          <p:cNvSpPr>
            <a:spLocks xmlns:a="http://schemas.openxmlformats.org/drawingml/2006/main" noGrp="1"/>
          </p:cNvSpPr>
          <p:nvPr/>
        </p:nvSpPr>
        <p:spPr>
          <a:xfrm xmlns:a="http://schemas.openxmlformats.org/drawingml/2006/main">
            <a:off x="4333875" y="1476375"/>
            <a:ext cx="3524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0">
                <a:solidFill>
                  <a:srgbClr val="F3B7D6"/>
                </a:solidFill>
                <a:latin typeface="DejaVu Sans"/>
                <a:ea typeface="DejaVu Sans"/>
                <a:cs typeface="DejaVu Sans"/>
              </a:defRPr>
            </a:defPPr>
            <a:lvl1pPr algn="ctr">
              <a:defRPr sz="1800" b="0">
                <a:solidFill>
                  <a:srgbClr val="F3B7D6"/>
                </a:solidFill>
                <a:latin typeface="DejaVu Sans"/>
                <a:ea typeface="DejaVu Sans"/>
                <a:cs typeface="DejaVu Sans"/>
              </a:defRPr>
            </a:lvl1pPr>
            <a:lvl2pPr algn="ctr">
              <a:defRPr sz="1800" b="0">
                <a:solidFill>
                  <a:srgbClr val="F3B7D6"/>
                </a:solidFill>
                <a:latin typeface="DejaVu Sans"/>
                <a:ea typeface="DejaVu Sans"/>
                <a:cs typeface="DejaVu Sans"/>
              </a:defRPr>
            </a:lvl2pPr>
            <a:lvl3pPr algn="ctr">
              <a:defRPr sz="1800" b="0">
                <a:solidFill>
                  <a:srgbClr val="F3B7D6"/>
                </a:solidFill>
                <a:latin typeface="DejaVu Sans"/>
                <a:ea typeface="DejaVu Sans"/>
                <a:cs typeface="DejaVu Sans"/>
              </a:defRPr>
            </a:lvl3pPr>
            <a:lvl4pPr algn="ctr">
              <a:defRPr sz="1800" b="0">
                <a:solidFill>
                  <a:srgbClr val="F3B7D6"/>
                </a:solidFill>
                <a:latin typeface="DejaVu Sans"/>
                <a:ea typeface="DejaVu Sans"/>
                <a:cs typeface="DejaVu Sans"/>
              </a:defRPr>
            </a:lvl4pPr>
            <a:lvl5pPr algn="ctr">
              <a:defRPr sz="1800" b="0">
                <a:solidFill>
                  <a:srgbClr val="F3B7D6"/>
                </a:solidFill>
                <a:latin typeface="DejaVu Sans"/>
                <a:ea typeface="DejaVu Sans"/>
                <a:cs typeface="DejaVu Sans"/>
              </a:defRPr>
            </a:lvl5pPr>
            <a:lvl6pPr algn="ctr">
              <a:defRPr sz="1800" b="0">
                <a:solidFill>
                  <a:srgbClr val="F3B7D6"/>
                </a:solidFill>
                <a:latin typeface="DejaVu Sans"/>
                <a:ea typeface="DejaVu Sans"/>
                <a:cs typeface="DejaVu Sans"/>
              </a:defRPr>
            </a:lvl6pPr>
            <a:lvl7pPr algn="ctr">
              <a:defRPr sz="1800" b="0">
                <a:solidFill>
                  <a:srgbClr val="F3B7D6"/>
                </a:solidFill>
                <a:latin typeface="DejaVu Sans"/>
                <a:ea typeface="DejaVu Sans"/>
                <a:cs typeface="DejaVu Sans"/>
              </a:defRPr>
            </a:lvl7pPr>
            <a:lvl8pPr algn="ctr">
              <a:defRPr sz="1800" b="0">
                <a:solidFill>
                  <a:srgbClr val="F3B7D6"/>
                </a:solidFill>
                <a:latin typeface="DejaVu Sans"/>
                <a:ea typeface="DejaVu Sans"/>
                <a:cs typeface="DejaVu Sans"/>
              </a:defRPr>
            </a:lvl8pPr>
            <a:lvl9pPr algn="ctr">
              <a:defRPr sz="1800" b="0">
                <a:solidFill>
                  <a:srgbClr val="F3B7D6"/>
                </a:solidFill>
                <a:latin typeface="DejaVu Sans"/>
                <a:ea typeface="DejaVu Sans"/>
                <a:cs typeface="DejaVu Sans"/>
              </a:defRPr>
            </a:lvl9pPr>
          </a:lstStyle>
          <a:p xmlns:a="http://schemas.openxmlformats.org/drawingml/2006/main">
            <a:pPr algn="ctr">
              <a:defRPr sz="1800" b="0">
                <a:solidFill>
                  <a:srgbClr val="F3B7D6"/>
                </a:solidFill>
                <a:latin typeface="DejaVu Sans"/>
                <a:ea typeface="DejaVu Sans"/>
                <a:cs typeface="DejaVu Sans"/>
              </a:defRPr>
            </a:pPr>
            <a:r>
              <a:rPr sz="1800" b="0">
                <a:solidFill>
                  <a:srgbClr val="F3B7D6"/>
                </a:solidFill>
                <a:latin typeface="DejaVu Sans"/>
                <a:ea typeface="DejaVu Sans"/>
                <a:cs typeface="DejaVu Sans"/>
              </a:rPr>
              <a:t>Patent applications</a:t>
            </a:r>
          </a:p>
        </p:txBody>
      </p:sp>
      <p:sp>
        <p:nvSpPr>
          <p:cNvPr id="10" name="">
            <a:extLst xmlns:a="http://schemas.openxmlformats.org/drawingml/2006/main">
              <a:ext uri="{FF2B5EF4-FFF2-40B4-BE49-F238E27FC236}">
                <a16:creationId xmlns:a16="http://schemas.microsoft.com/office/drawing/2014/main" id="{C3574BF0-2522-43D6-B493-729796C8630B}"/>
              </a:ext>
            </a:extLst>
          </p:cNvPr>
          <p:cNvSpPr>
            <a:spLocks xmlns:a="http://schemas.openxmlformats.org/drawingml/2006/main" noGrp="1"/>
          </p:cNvSpPr>
          <p:nvPr/>
        </p:nvSpPr>
        <p:spPr>
          <a:xfrm xmlns:a="http://schemas.openxmlformats.org/drawingml/2006/main">
            <a:off x="4191000" y="1809750"/>
            <a:ext cx="3810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Seller fraud / Counterfeit / H&amp;B</a:t>
            </a:r>
          </a:p>
        </p:txBody>
      </p:sp>
      <p:sp>
        <p:nvSpPr>
          <p:cNvPr id="11" name="">
            <a:extLst xmlns:a="http://schemas.openxmlformats.org/drawingml/2006/main">
              <a:ext uri="{FF2B5EF4-FFF2-40B4-BE49-F238E27FC236}">
                <a16:creationId xmlns:a16="http://schemas.microsoft.com/office/drawing/2014/main" id="{CA0419F2-D363-409C-AC51-E8768F02A9EF}"/>
              </a:ext>
            </a:extLst>
          </p:cNvPr>
          <p:cNvSpPr>
            <a:spLocks xmlns:a="http://schemas.openxmlformats.org/drawingml/2006/main" noGrp="1"/>
          </p:cNvSpPr>
          <p:nvPr/>
        </p:nvSpPr>
        <p:spPr>
          <a:xfrm xmlns:a="http://schemas.openxmlformats.org/drawingml/2006/main">
            <a:off x="9563100" y="1990725"/>
            <a:ext cx="304800" cy="304800"/>
          </a:xfrm>
          <a:prstGeom xmlns:a="http://schemas.openxmlformats.org/drawingml/2006/main" prst="ellipse">
            <a:avLst/>
          </a:prstGeom>
          <a:solidFill xmlns:a="http://schemas.openxmlformats.org/drawingml/2006/main">
            <a:srgbClr val="5DC9A2"/>
          </a:solidFill>
          <a:ln xmlns:a="http://schemas.openxmlformats.org/drawingml/2006/main" w="14288">
            <a:solidFill>
              <a:srgbClr val="DCE8F3"/>
            </a:solidFill>
            <a:prstDash val="solid"/>
          </a:ln>
        </p:spPr>
      </p:sp>
      <p:sp>
        <p:nvSpPr>
          <p:cNvPr id="12" name="">
            <a:extLst xmlns:a="http://schemas.openxmlformats.org/drawingml/2006/main">
              <a:ext uri="{FF2B5EF4-FFF2-40B4-BE49-F238E27FC236}">
                <a16:creationId xmlns:a16="http://schemas.microsoft.com/office/drawing/2014/main" id="{49DB2E7A-8350-4BAF-BCF1-6F4B5B1106AE}"/>
              </a:ext>
            </a:extLst>
          </p:cNvPr>
          <p:cNvSpPr>
            <a:spLocks xmlns:a="http://schemas.openxmlformats.org/drawingml/2006/main" noGrp="1"/>
          </p:cNvSpPr>
          <p:nvPr/>
        </p:nvSpPr>
        <p:spPr>
          <a:xfrm xmlns:a="http://schemas.openxmlformats.org/drawingml/2006/main">
            <a:off x="8096250" y="1476375"/>
            <a:ext cx="3429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0">
                <a:solidFill>
                  <a:srgbClr val="A0E5C9"/>
                </a:solidFill>
                <a:latin typeface="DejaVu Sans"/>
                <a:ea typeface="DejaVu Sans"/>
                <a:cs typeface="DejaVu Sans"/>
              </a:defRPr>
            </a:defPPr>
            <a:lvl1pPr algn="ctr">
              <a:defRPr sz="1800" b="0">
                <a:solidFill>
                  <a:srgbClr val="A0E5C9"/>
                </a:solidFill>
                <a:latin typeface="DejaVu Sans"/>
                <a:ea typeface="DejaVu Sans"/>
                <a:cs typeface="DejaVu Sans"/>
              </a:defRPr>
            </a:lvl1pPr>
            <a:lvl2pPr algn="ctr">
              <a:defRPr sz="1800" b="0">
                <a:solidFill>
                  <a:srgbClr val="A0E5C9"/>
                </a:solidFill>
                <a:latin typeface="DejaVu Sans"/>
                <a:ea typeface="DejaVu Sans"/>
                <a:cs typeface="DejaVu Sans"/>
              </a:defRPr>
            </a:lvl2pPr>
            <a:lvl3pPr algn="ctr">
              <a:defRPr sz="1800" b="0">
                <a:solidFill>
                  <a:srgbClr val="A0E5C9"/>
                </a:solidFill>
                <a:latin typeface="DejaVu Sans"/>
                <a:ea typeface="DejaVu Sans"/>
                <a:cs typeface="DejaVu Sans"/>
              </a:defRPr>
            </a:lvl3pPr>
            <a:lvl4pPr algn="ctr">
              <a:defRPr sz="1800" b="0">
                <a:solidFill>
                  <a:srgbClr val="A0E5C9"/>
                </a:solidFill>
                <a:latin typeface="DejaVu Sans"/>
                <a:ea typeface="DejaVu Sans"/>
                <a:cs typeface="DejaVu Sans"/>
              </a:defRPr>
            </a:lvl4pPr>
            <a:lvl5pPr algn="ctr">
              <a:defRPr sz="1800" b="0">
                <a:solidFill>
                  <a:srgbClr val="A0E5C9"/>
                </a:solidFill>
                <a:latin typeface="DejaVu Sans"/>
                <a:ea typeface="DejaVu Sans"/>
                <a:cs typeface="DejaVu Sans"/>
              </a:defRPr>
            </a:lvl5pPr>
            <a:lvl6pPr algn="ctr">
              <a:defRPr sz="1800" b="0">
                <a:solidFill>
                  <a:srgbClr val="A0E5C9"/>
                </a:solidFill>
                <a:latin typeface="DejaVu Sans"/>
                <a:ea typeface="DejaVu Sans"/>
                <a:cs typeface="DejaVu Sans"/>
              </a:defRPr>
            </a:lvl6pPr>
            <a:lvl7pPr algn="ctr">
              <a:defRPr sz="1800" b="0">
                <a:solidFill>
                  <a:srgbClr val="A0E5C9"/>
                </a:solidFill>
                <a:latin typeface="DejaVu Sans"/>
                <a:ea typeface="DejaVu Sans"/>
                <a:cs typeface="DejaVu Sans"/>
              </a:defRPr>
            </a:lvl7pPr>
            <a:lvl8pPr algn="ctr">
              <a:defRPr sz="1800" b="0">
                <a:solidFill>
                  <a:srgbClr val="A0E5C9"/>
                </a:solidFill>
                <a:latin typeface="DejaVu Sans"/>
                <a:ea typeface="DejaVu Sans"/>
                <a:cs typeface="DejaVu Sans"/>
              </a:defRPr>
            </a:lvl8pPr>
            <a:lvl9pPr algn="ctr">
              <a:defRPr sz="1800" b="0">
                <a:solidFill>
                  <a:srgbClr val="A0E5C9"/>
                </a:solidFill>
                <a:latin typeface="DejaVu Sans"/>
                <a:ea typeface="DejaVu Sans"/>
                <a:cs typeface="DejaVu Sans"/>
              </a:defRPr>
            </a:lvl9pPr>
          </a:lstStyle>
          <a:p xmlns:a="http://schemas.openxmlformats.org/drawingml/2006/main">
            <a:pPr algn="ctr">
              <a:defRPr sz="1800" b="0">
                <a:solidFill>
                  <a:srgbClr val="A0E5C9"/>
                </a:solidFill>
                <a:latin typeface="DejaVu Sans"/>
                <a:ea typeface="DejaVu Sans"/>
                <a:cs typeface="DejaVu Sans"/>
              </a:defRPr>
            </a:pPr>
            <a:r>
              <a:rPr sz="1800" b="0">
                <a:solidFill>
                  <a:srgbClr val="A0E5C9"/>
                </a:solidFill>
                <a:latin typeface="DejaVu Sans"/>
                <a:ea typeface="DejaVu Sans"/>
                <a:cs typeface="DejaVu Sans"/>
              </a:rPr>
              <a:t>Novartis, third chapter</a:t>
            </a:r>
          </a:p>
        </p:txBody>
      </p:sp>
      <p:sp>
        <p:nvSpPr>
          <p:cNvPr id="13" name="">
            <a:extLst xmlns:a="http://schemas.openxmlformats.org/drawingml/2006/main">
              <a:ext uri="{FF2B5EF4-FFF2-40B4-BE49-F238E27FC236}">
                <a16:creationId xmlns:a16="http://schemas.microsoft.com/office/drawing/2014/main" id="{92BA0FEE-84B0-45D3-9FF4-4EB9105B8467}"/>
              </a:ext>
            </a:extLst>
          </p:cNvPr>
          <p:cNvSpPr>
            <a:spLocks xmlns:a="http://schemas.openxmlformats.org/drawingml/2006/main" noGrp="1"/>
          </p:cNvSpPr>
          <p:nvPr/>
        </p:nvSpPr>
        <p:spPr>
          <a:xfrm xmlns:a="http://schemas.openxmlformats.org/drawingml/2006/main">
            <a:off x="7839075" y="1809750"/>
            <a:ext cx="3933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v1 Conext / v2 NBS IT / v3 DS&amp;AI</a:t>
            </a:r>
          </a:p>
        </p:txBody>
      </p:sp>
      <p:sp>
        <p:nvSpPr>
          <p:cNvPr id="14" name="">
            <a:extLst xmlns:a="http://schemas.openxmlformats.org/drawingml/2006/main">
              <a:ext uri="{FF2B5EF4-FFF2-40B4-BE49-F238E27FC236}">
                <a16:creationId xmlns:a16="http://schemas.microsoft.com/office/drawing/2014/main" id="{A346DBD1-A8A0-427E-85A0-9A5E10FC12AF}"/>
              </a:ext>
            </a:extLst>
          </p:cNvPr>
          <p:cNvSpPr>
            <a:spLocks xmlns:a="http://schemas.openxmlformats.org/drawingml/2006/main" noGrp="1"/>
          </p:cNvSpPr>
          <p:nvPr/>
        </p:nvSpPr>
        <p:spPr>
          <a:xfrm xmlns:a="http://schemas.openxmlformats.org/drawingml/2006/main">
            <a:off x="2038350" y="3790950"/>
            <a:ext cx="304800" cy="304800"/>
          </a:xfrm>
          <a:prstGeom xmlns:a="http://schemas.openxmlformats.org/drawingml/2006/main" prst="ellipse">
            <a:avLst/>
          </a:prstGeom>
          <a:solidFill xmlns:a="http://schemas.openxmlformats.org/drawingml/2006/main">
            <a:srgbClr val="E6A578"/>
          </a:solidFill>
          <a:ln xmlns:a="http://schemas.openxmlformats.org/drawingml/2006/main" w="14288">
            <a:solidFill>
              <a:srgbClr val="DCE8F3"/>
            </a:solidFill>
            <a:prstDash val="solid"/>
          </a:ln>
        </p:spPr>
      </p:sp>
      <p:sp>
        <p:nvSpPr>
          <p:cNvPr id="15" name="">
            <a:extLst xmlns:a="http://schemas.openxmlformats.org/drawingml/2006/main">
              <a:ext uri="{FF2B5EF4-FFF2-40B4-BE49-F238E27FC236}">
                <a16:creationId xmlns:a16="http://schemas.microsoft.com/office/drawing/2014/main" id="{4F9064D8-E593-4701-9C72-FE98F0605955}"/>
              </a:ext>
            </a:extLst>
          </p:cNvPr>
          <p:cNvSpPr>
            <a:spLocks xmlns:a="http://schemas.openxmlformats.org/drawingml/2006/main" noGrp="1"/>
          </p:cNvSpPr>
          <p:nvPr/>
        </p:nvSpPr>
        <p:spPr>
          <a:xfrm xmlns:a="http://schemas.openxmlformats.org/drawingml/2006/main">
            <a:off x="781050" y="4286250"/>
            <a:ext cx="276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0">
                <a:solidFill>
                  <a:srgbClr val="FFC6A0"/>
                </a:solidFill>
                <a:latin typeface="DejaVu Sans"/>
                <a:ea typeface="DejaVu Sans"/>
                <a:cs typeface="DejaVu Sans"/>
              </a:defRPr>
            </a:defPPr>
            <a:lvl1pPr algn="ctr">
              <a:defRPr sz="1800" b="0">
                <a:solidFill>
                  <a:srgbClr val="FFC6A0"/>
                </a:solidFill>
                <a:latin typeface="DejaVu Sans"/>
                <a:ea typeface="DejaVu Sans"/>
                <a:cs typeface="DejaVu Sans"/>
              </a:defRPr>
            </a:lvl1pPr>
            <a:lvl2pPr algn="ctr">
              <a:defRPr sz="1800" b="0">
                <a:solidFill>
                  <a:srgbClr val="FFC6A0"/>
                </a:solidFill>
                <a:latin typeface="DejaVu Sans"/>
                <a:ea typeface="DejaVu Sans"/>
                <a:cs typeface="DejaVu Sans"/>
              </a:defRPr>
            </a:lvl2pPr>
            <a:lvl3pPr algn="ctr">
              <a:defRPr sz="1800" b="0">
                <a:solidFill>
                  <a:srgbClr val="FFC6A0"/>
                </a:solidFill>
                <a:latin typeface="DejaVu Sans"/>
                <a:ea typeface="DejaVu Sans"/>
                <a:cs typeface="DejaVu Sans"/>
              </a:defRPr>
            </a:lvl3pPr>
            <a:lvl4pPr algn="ctr">
              <a:defRPr sz="1800" b="0">
                <a:solidFill>
                  <a:srgbClr val="FFC6A0"/>
                </a:solidFill>
                <a:latin typeface="DejaVu Sans"/>
                <a:ea typeface="DejaVu Sans"/>
                <a:cs typeface="DejaVu Sans"/>
              </a:defRPr>
            </a:lvl4pPr>
            <a:lvl5pPr algn="ctr">
              <a:defRPr sz="1800" b="0">
                <a:solidFill>
                  <a:srgbClr val="FFC6A0"/>
                </a:solidFill>
                <a:latin typeface="DejaVu Sans"/>
                <a:ea typeface="DejaVu Sans"/>
                <a:cs typeface="DejaVu Sans"/>
              </a:defRPr>
            </a:lvl5pPr>
            <a:lvl6pPr algn="ctr">
              <a:defRPr sz="1800" b="0">
                <a:solidFill>
                  <a:srgbClr val="FFC6A0"/>
                </a:solidFill>
                <a:latin typeface="DejaVu Sans"/>
                <a:ea typeface="DejaVu Sans"/>
                <a:cs typeface="DejaVu Sans"/>
              </a:defRPr>
            </a:lvl6pPr>
            <a:lvl7pPr algn="ctr">
              <a:defRPr sz="1800" b="0">
                <a:solidFill>
                  <a:srgbClr val="FFC6A0"/>
                </a:solidFill>
                <a:latin typeface="DejaVu Sans"/>
                <a:ea typeface="DejaVu Sans"/>
                <a:cs typeface="DejaVu Sans"/>
              </a:defRPr>
            </a:lvl7pPr>
            <a:lvl8pPr algn="ctr">
              <a:defRPr sz="1800" b="0">
                <a:solidFill>
                  <a:srgbClr val="FFC6A0"/>
                </a:solidFill>
                <a:latin typeface="DejaVu Sans"/>
                <a:ea typeface="DejaVu Sans"/>
                <a:cs typeface="DejaVu Sans"/>
              </a:defRPr>
            </a:lvl8pPr>
            <a:lvl9pPr algn="ctr">
              <a:defRPr sz="1800" b="0">
                <a:solidFill>
                  <a:srgbClr val="FFC6A0"/>
                </a:solidFill>
                <a:latin typeface="DejaVu Sans"/>
                <a:ea typeface="DejaVu Sans"/>
                <a:cs typeface="DejaVu Sans"/>
              </a:defRPr>
            </a:lvl9pPr>
          </a:lstStyle>
          <a:p xmlns:a="http://schemas.openxmlformats.org/drawingml/2006/main">
            <a:pPr algn="ctr">
              <a:defRPr sz="1800" b="0">
                <a:solidFill>
                  <a:srgbClr val="FFC6A0"/>
                </a:solidFill>
                <a:latin typeface="DejaVu Sans"/>
                <a:ea typeface="DejaVu Sans"/>
                <a:cs typeface="DejaVu Sans"/>
              </a:defRPr>
            </a:pPr>
            <a:r>
              <a:rPr sz="1800" b="0">
                <a:solidFill>
                  <a:srgbClr val="FFC6A0"/>
                </a:solidFill>
                <a:latin typeface="DejaVu Sans"/>
                <a:ea typeface="DejaVu Sans"/>
                <a:cs typeface="DejaVu Sans"/>
              </a:rPr>
              <a:t>Two sons</a:t>
            </a:r>
          </a:p>
        </p:txBody>
      </p:sp>
      <p:sp>
        <p:nvSpPr>
          <p:cNvPr id="16" name="">
            <a:extLst xmlns:a="http://schemas.openxmlformats.org/drawingml/2006/main">
              <a:ext uri="{FF2B5EF4-FFF2-40B4-BE49-F238E27FC236}">
                <a16:creationId xmlns:a16="http://schemas.microsoft.com/office/drawing/2014/main" id="{22B815AC-EDE4-4F2D-A29F-A9751FC99164}"/>
              </a:ext>
            </a:extLst>
          </p:cNvPr>
          <p:cNvSpPr>
            <a:spLocks xmlns:a="http://schemas.openxmlformats.org/drawingml/2006/main" noGrp="1"/>
          </p:cNvSpPr>
          <p:nvPr/>
        </p:nvSpPr>
        <p:spPr>
          <a:xfrm xmlns:a="http://schemas.openxmlformats.org/drawingml/2006/main">
            <a:off x="781050" y="4610100"/>
            <a:ext cx="276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Infinite interrupts</a:t>
            </a:r>
          </a:p>
        </p:txBody>
      </p:sp>
      <p:sp>
        <p:nvSpPr>
          <p:cNvPr id="17" name="">
            <a:extLst xmlns:a="http://schemas.openxmlformats.org/drawingml/2006/main">
              <a:ext uri="{FF2B5EF4-FFF2-40B4-BE49-F238E27FC236}">
                <a16:creationId xmlns:a16="http://schemas.microsoft.com/office/drawing/2014/main" id="{D15D94B8-283C-4475-AB2A-A5138A8F622B}"/>
              </a:ext>
            </a:extLst>
          </p:cNvPr>
          <p:cNvSpPr>
            <a:spLocks xmlns:a="http://schemas.openxmlformats.org/drawingml/2006/main" noGrp="1"/>
          </p:cNvSpPr>
          <p:nvPr/>
        </p:nvSpPr>
        <p:spPr>
          <a:xfrm xmlns:a="http://schemas.openxmlformats.org/drawingml/2006/main">
            <a:off x="9848850" y="3790950"/>
            <a:ext cx="304800" cy="304800"/>
          </a:xfrm>
          <a:prstGeom xmlns:a="http://schemas.openxmlformats.org/drawingml/2006/main" prst="ellipse">
            <a:avLst/>
          </a:prstGeom>
          <a:solidFill xmlns:a="http://schemas.openxmlformats.org/drawingml/2006/main">
            <a:srgbClr val="75A9F0"/>
          </a:solidFill>
          <a:ln xmlns:a="http://schemas.openxmlformats.org/drawingml/2006/main" w="14288">
            <a:solidFill>
              <a:srgbClr val="DCE8F3"/>
            </a:solidFill>
            <a:prstDash val="solid"/>
          </a:ln>
        </p:spPr>
      </p:sp>
      <p:sp>
        <p:nvSpPr>
          <p:cNvPr id="18" name="">
            <a:extLst xmlns:a="http://schemas.openxmlformats.org/drawingml/2006/main">
              <a:ext uri="{FF2B5EF4-FFF2-40B4-BE49-F238E27FC236}">
                <a16:creationId xmlns:a16="http://schemas.microsoft.com/office/drawing/2014/main" id="{B6286BBD-053B-4830-B7E2-62C478DCA1B0}"/>
              </a:ext>
            </a:extLst>
          </p:cNvPr>
          <p:cNvSpPr>
            <a:spLocks xmlns:a="http://schemas.openxmlformats.org/drawingml/2006/main" noGrp="1"/>
          </p:cNvSpPr>
          <p:nvPr/>
        </p:nvSpPr>
        <p:spPr>
          <a:xfrm xmlns:a="http://schemas.openxmlformats.org/drawingml/2006/main">
            <a:off x="8763000" y="4286250"/>
            <a:ext cx="3000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800" b="0">
                <a:solidFill>
                  <a:srgbClr val="AFCFFF"/>
                </a:solidFill>
                <a:latin typeface="DejaVu Sans"/>
                <a:ea typeface="DejaVu Sans"/>
                <a:cs typeface="DejaVu Sans"/>
              </a:defRPr>
            </a:defPPr>
            <a:lvl1pPr algn="ctr">
              <a:defRPr sz="1800" b="0">
                <a:solidFill>
                  <a:srgbClr val="AFCFFF"/>
                </a:solidFill>
                <a:latin typeface="DejaVu Sans"/>
                <a:ea typeface="DejaVu Sans"/>
                <a:cs typeface="DejaVu Sans"/>
              </a:defRPr>
            </a:lvl1pPr>
            <a:lvl2pPr algn="ctr">
              <a:defRPr sz="1800" b="0">
                <a:solidFill>
                  <a:srgbClr val="AFCFFF"/>
                </a:solidFill>
                <a:latin typeface="DejaVu Sans"/>
                <a:ea typeface="DejaVu Sans"/>
                <a:cs typeface="DejaVu Sans"/>
              </a:defRPr>
            </a:lvl2pPr>
            <a:lvl3pPr algn="ctr">
              <a:defRPr sz="1800" b="0">
                <a:solidFill>
                  <a:srgbClr val="AFCFFF"/>
                </a:solidFill>
                <a:latin typeface="DejaVu Sans"/>
                <a:ea typeface="DejaVu Sans"/>
                <a:cs typeface="DejaVu Sans"/>
              </a:defRPr>
            </a:lvl3pPr>
            <a:lvl4pPr algn="ctr">
              <a:defRPr sz="1800" b="0">
                <a:solidFill>
                  <a:srgbClr val="AFCFFF"/>
                </a:solidFill>
                <a:latin typeface="DejaVu Sans"/>
                <a:ea typeface="DejaVu Sans"/>
                <a:cs typeface="DejaVu Sans"/>
              </a:defRPr>
            </a:lvl4pPr>
            <a:lvl5pPr algn="ctr">
              <a:defRPr sz="1800" b="0">
                <a:solidFill>
                  <a:srgbClr val="AFCFFF"/>
                </a:solidFill>
                <a:latin typeface="DejaVu Sans"/>
                <a:ea typeface="DejaVu Sans"/>
                <a:cs typeface="DejaVu Sans"/>
              </a:defRPr>
            </a:lvl5pPr>
            <a:lvl6pPr algn="ctr">
              <a:defRPr sz="1800" b="0">
                <a:solidFill>
                  <a:srgbClr val="AFCFFF"/>
                </a:solidFill>
                <a:latin typeface="DejaVu Sans"/>
                <a:ea typeface="DejaVu Sans"/>
                <a:cs typeface="DejaVu Sans"/>
              </a:defRPr>
            </a:lvl6pPr>
            <a:lvl7pPr algn="ctr">
              <a:defRPr sz="1800" b="0">
                <a:solidFill>
                  <a:srgbClr val="AFCFFF"/>
                </a:solidFill>
                <a:latin typeface="DejaVu Sans"/>
                <a:ea typeface="DejaVu Sans"/>
                <a:cs typeface="DejaVu Sans"/>
              </a:defRPr>
            </a:lvl7pPr>
            <a:lvl8pPr algn="ctr">
              <a:defRPr sz="1800" b="0">
                <a:solidFill>
                  <a:srgbClr val="AFCFFF"/>
                </a:solidFill>
                <a:latin typeface="DejaVu Sans"/>
                <a:ea typeface="DejaVu Sans"/>
                <a:cs typeface="DejaVu Sans"/>
              </a:defRPr>
            </a:lvl8pPr>
            <a:lvl9pPr algn="ctr">
              <a:defRPr sz="1800" b="0">
                <a:solidFill>
                  <a:srgbClr val="AFCFFF"/>
                </a:solidFill>
                <a:latin typeface="DejaVu Sans"/>
                <a:ea typeface="DejaVu Sans"/>
                <a:cs typeface="DejaVu Sans"/>
              </a:defRPr>
            </a:lvl9pPr>
          </a:lstStyle>
          <a:p xmlns:a="http://schemas.openxmlformats.org/drawingml/2006/main">
            <a:pPr algn="ctr">
              <a:defRPr sz="1800" b="0">
                <a:solidFill>
                  <a:srgbClr val="AFCFFF"/>
                </a:solidFill>
                <a:latin typeface="DejaVu Sans"/>
                <a:ea typeface="DejaVu Sans"/>
                <a:cs typeface="DejaVu Sans"/>
              </a:defRPr>
            </a:pPr>
            <a:r>
              <a:rPr sz="1800" b="0">
                <a:solidFill>
                  <a:srgbClr val="AFCFFF"/>
                </a:solidFill>
                <a:latin typeface="DejaVu Sans"/>
                <a:ea typeface="DejaVu Sans"/>
                <a:cs typeface="DejaVu Sans"/>
              </a:rPr>
              <a:t>Walmart + Optum</a:t>
            </a:r>
          </a:p>
        </p:txBody>
      </p:sp>
      <p:sp>
        <p:nvSpPr>
          <p:cNvPr id="19" name="">
            <a:extLst xmlns:a="http://schemas.openxmlformats.org/drawingml/2006/main">
              <a:ext uri="{FF2B5EF4-FFF2-40B4-BE49-F238E27FC236}">
                <a16:creationId xmlns:a16="http://schemas.microsoft.com/office/drawing/2014/main" id="{A921DC82-5F9A-4EB0-B676-6834275503C9}"/>
              </a:ext>
            </a:extLst>
          </p:cNvPr>
          <p:cNvSpPr>
            <a:spLocks xmlns:a="http://schemas.openxmlformats.org/drawingml/2006/main" noGrp="1"/>
          </p:cNvSpPr>
          <p:nvPr/>
        </p:nvSpPr>
        <p:spPr>
          <a:xfrm xmlns:a="http://schemas.openxmlformats.org/drawingml/2006/main">
            <a:off x="8572500" y="46101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Retail and healthcare AI</a:t>
            </a:r>
          </a:p>
        </p:txBody>
      </p:sp>
      <p:sp>
        <p:nvSpPr>
          <p:cNvPr id="20" name="">
            <a:extLst xmlns:a="http://schemas.openxmlformats.org/drawingml/2006/main">
              <a:ext uri="{FF2B5EF4-FFF2-40B4-BE49-F238E27FC236}">
                <a16:creationId xmlns:a16="http://schemas.microsoft.com/office/drawing/2014/main" id="{6065AF38-8B69-40DE-95FB-AFECDACE4FC1}"/>
              </a:ext>
            </a:extLst>
          </p:cNvPr>
          <p:cNvSpPr>
            <a:spLocks xmlns:a="http://schemas.openxmlformats.org/drawingml/2006/main" noGrp="1"/>
          </p:cNvSpPr>
          <p:nvPr/>
        </p:nvSpPr>
        <p:spPr>
          <a:xfrm xmlns:a="http://schemas.openxmlformats.org/drawingml/2006/main">
            <a:off x="2705100" y="5353050"/>
            <a:ext cx="304800" cy="304800"/>
          </a:xfrm>
          <a:prstGeom xmlns:a="http://schemas.openxmlformats.org/drawingml/2006/main" prst="ellipse">
            <a:avLst/>
          </a:prstGeom>
          <a:solidFill xmlns:a="http://schemas.openxmlformats.org/drawingml/2006/main">
            <a:srgbClr val="E3BE64"/>
          </a:solidFill>
          <a:ln xmlns:a="http://schemas.openxmlformats.org/drawingml/2006/main" w="14288">
            <a:solidFill>
              <a:srgbClr val="DCE8F3"/>
            </a:solidFill>
            <a:prstDash val="solid"/>
          </a:ln>
        </p:spPr>
      </p:sp>
      <p:sp>
        <p:nvSpPr>
          <p:cNvPr id="21" name="">
            <a:extLst xmlns:a="http://schemas.openxmlformats.org/drawingml/2006/main">
              <a:ext uri="{FF2B5EF4-FFF2-40B4-BE49-F238E27FC236}">
                <a16:creationId xmlns:a16="http://schemas.microsoft.com/office/drawing/2014/main" id="{1A5EC6BB-31F9-4C88-B317-F406813DD141}"/>
              </a:ext>
            </a:extLst>
          </p:cNvPr>
          <p:cNvSpPr>
            <a:spLocks xmlns:a="http://schemas.openxmlformats.org/drawingml/2006/main" noGrp="1"/>
          </p:cNvSpPr>
          <p:nvPr/>
        </p:nvSpPr>
        <p:spPr>
          <a:xfrm xmlns:a="http://schemas.openxmlformats.org/drawingml/2006/main">
            <a:off x="1143000" y="5867400"/>
            <a:ext cx="3429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725" b="0">
                <a:solidFill>
                  <a:srgbClr val="F7D88E"/>
                </a:solidFill>
                <a:latin typeface="DejaVu Sans"/>
                <a:ea typeface="DejaVu Sans"/>
                <a:cs typeface="DejaVu Sans"/>
              </a:defRPr>
            </a:defPPr>
            <a:lvl1pPr algn="ctr">
              <a:defRPr sz="1725" b="0">
                <a:solidFill>
                  <a:srgbClr val="F7D88E"/>
                </a:solidFill>
                <a:latin typeface="DejaVu Sans"/>
                <a:ea typeface="DejaVu Sans"/>
                <a:cs typeface="DejaVu Sans"/>
              </a:defRPr>
            </a:lvl1pPr>
            <a:lvl2pPr algn="ctr">
              <a:defRPr sz="1725" b="0">
                <a:solidFill>
                  <a:srgbClr val="F7D88E"/>
                </a:solidFill>
                <a:latin typeface="DejaVu Sans"/>
                <a:ea typeface="DejaVu Sans"/>
                <a:cs typeface="DejaVu Sans"/>
              </a:defRPr>
            </a:lvl2pPr>
            <a:lvl3pPr algn="ctr">
              <a:defRPr sz="1725" b="0">
                <a:solidFill>
                  <a:srgbClr val="F7D88E"/>
                </a:solidFill>
                <a:latin typeface="DejaVu Sans"/>
                <a:ea typeface="DejaVu Sans"/>
                <a:cs typeface="DejaVu Sans"/>
              </a:defRPr>
            </a:lvl3pPr>
            <a:lvl4pPr algn="ctr">
              <a:defRPr sz="1725" b="0">
                <a:solidFill>
                  <a:srgbClr val="F7D88E"/>
                </a:solidFill>
                <a:latin typeface="DejaVu Sans"/>
                <a:ea typeface="DejaVu Sans"/>
                <a:cs typeface="DejaVu Sans"/>
              </a:defRPr>
            </a:lvl4pPr>
            <a:lvl5pPr algn="ctr">
              <a:defRPr sz="1725" b="0">
                <a:solidFill>
                  <a:srgbClr val="F7D88E"/>
                </a:solidFill>
                <a:latin typeface="DejaVu Sans"/>
                <a:ea typeface="DejaVu Sans"/>
                <a:cs typeface="DejaVu Sans"/>
              </a:defRPr>
            </a:lvl5pPr>
            <a:lvl6pPr algn="ctr">
              <a:defRPr sz="1725" b="0">
                <a:solidFill>
                  <a:srgbClr val="F7D88E"/>
                </a:solidFill>
                <a:latin typeface="DejaVu Sans"/>
                <a:ea typeface="DejaVu Sans"/>
                <a:cs typeface="DejaVu Sans"/>
              </a:defRPr>
            </a:lvl6pPr>
            <a:lvl7pPr algn="ctr">
              <a:defRPr sz="1725" b="0">
                <a:solidFill>
                  <a:srgbClr val="F7D88E"/>
                </a:solidFill>
                <a:latin typeface="DejaVu Sans"/>
                <a:ea typeface="DejaVu Sans"/>
                <a:cs typeface="DejaVu Sans"/>
              </a:defRPr>
            </a:lvl7pPr>
            <a:lvl8pPr algn="ctr">
              <a:defRPr sz="1725" b="0">
                <a:solidFill>
                  <a:srgbClr val="F7D88E"/>
                </a:solidFill>
                <a:latin typeface="DejaVu Sans"/>
                <a:ea typeface="DejaVu Sans"/>
                <a:cs typeface="DejaVu Sans"/>
              </a:defRPr>
            </a:lvl8pPr>
            <a:lvl9pPr algn="ctr">
              <a:defRPr sz="1725" b="0">
                <a:solidFill>
                  <a:srgbClr val="F7D88E"/>
                </a:solidFill>
                <a:latin typeface="DejaVu Sans"/>
                <a:ea typeface="DejaVu Sans"/>
                <a:cs typeface="DejaVu Sans"/>
              </a:defRPr>
            </a:lvl9pPr>
          </a:lstStyle>
          <a:p xmlns:a="http://schemas.openxmlformats.org/drawingml/2006/main">
            <a:pPr algn="ctr">
              <a:defRPr sz="1725" b="0">
                <a:solidFill>
                  <a:srgbClr val="F7D88E"/>
                </a:solidFill>
                <a:latin typeface="DejaVu Sans"/>
                <a:ea typeface="DejaVu Sans"/>
                <a:cs typeface="DejaVu Sans"/>
              </a:defRPr>
            </a:pPr>
            <a:r>
              <a:rPr sz="1725" b="0">
                <a:solidFill>
                  <a:srgbClr val="F7D88E"/>
                </a:solidFill>
                <a:latin typeface="DejaVu Sans"/>
                <a:ea typeface="DejaVu Sans"/>
                <a:cs typeface="DejaVu Sans"/>
              </a:rPr>
              <a:t>Hobbies: extinct</a:t>
            </a:r>
          </a:p>
        </p:txBody>
      </p:sp>
      <p:sp>
        <p:nvSpPr>
          <p:cNvPr id="22" name="">
            <a:extLst xmlns:a="http://schemas.openxmlformats.org/drawingml/2006/main">
              <a:ext uri="{FF2B5EF4-FFF2-40B4-BE49-F238E27FC236}">
                <a16:creationId xmlns:a16="http://schemas.microsoft.com/office/drawing/2014/main" id="{7A6F2DF2-2CF6-41B8-8A0D-460DAB0C06BC}"/>
              </a:ext>
            </a:extLst>
          </p:cNvPr>
          <p:cNvSpPr>
            <a:spLocks xmlns:a="http://schemas.openxmlformats.org/drawingml/2006/main" noGrp="1"/>
          </p:cNvSpPr>
          <p:nvPr/>
        </p:nvSpPr>
        <p:spPr>
          <a:xfrm xmlns:a="http://schemas.openxmlformats.org/drawingml/2006/main">
            <a:off x="1143000" y="6191250"/>
            <a:ext cx="3429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free_time = null</a:t>
            </a:r>
          </a:p>
        </p:txBody>
      </p:sp>
      <p:sp>
        <p:nvSpPr>
          <p:cNvPr id="23" name="">
            <a:extLst xmlns:a="http://schemas.openxmlformats.org/drawingml/2006/main">
              <a:ext uri="{FF2B5EF4-FFF2-40B4-BE49-F238E27FC236}">
                <a16:creationId xmlns:a16="http://schemas.microsoft.com/office/drawing/2014/main" id="{4D9C0CE7-C256-4896-AC46-5D12CB63ACE2}"/>
              </a:ext>
            </a:extLst>
          </p:cNvPr>
          <p:cNvSpPr>
            <a:spLocks xmlns:a="http://schemas.openxmlformats.org/drawingml/2006/main" noGrp="1"/>
          </p:cNvSpPr>
          <p:nvPr/>
        </p:nvSpPr>
        <p:spPr>
          <a:xfrm xmlns:a="http://schemas.openxmlformats.org/drawingml/2006/main">
            <a:off x="5943600" y="5353050"/>
            <a:ext cx="304800" cy="304800"/>
          </a:xfrm>
          <a:prstGeom xmlns:a="http://schemas.openxmlformats.org/drawingml/2006/main" prst="ellipse">
            <a:avLst/>
          </a:prstGeom>
          <a:solidFill xmlns:a="http://schemas.openxmlformats.org/drawingml/2006/main">
            <a:srgbClr val="AD8BE0"/>
          </a:solidFill>
          <a:ln xmlns:a="http://schemas.openxmlformats.org/drawingml/2006/main" w="14288">
            <a:solidFill>
              <a:srgbClr val="DCE8F3"/>
            </a:solidFill>
            <a:prstDash val="solid"/>
          </a:ln>
        </p:spPr>
      </p:sp>
      <p:sp>
        <p:nvSpPr>
          <p:cNvPr id="24" name="">
            <a:extLst xmlns:a="http://schemas.openxmlformats.org/drawingml/2006/main">
              <a:ext uri="{FF2B5EF4-FFF2-40B4-BE49-F238E27FC236}">
                <a16:creationId xmlns:a16="http://schemas.microsoft.com/office/drawing/2014/main" id="{59E3813C-8D57-4A4B-9574-3D8C37A55318}"/>
              </a:ext>
            </a:extLst>
          </p:cNvPr>
          <p:cNvSpPr>
            <a:spLocks xmlns:a="http://schemas.openxmlformats.org/drawingml/2006/main" noGrp="1"/>
          </p:cNvSpPr>
          <p:nvPr/>
        </p:nvSpPr>
        <p:spPr>
          <a:xfrm xmlns:a="http://schemas.openxmlformats.org/drawingml/2006/main">
            <a:off x="4191000" y="5867400"/>
            <a:ext cx="3810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500" b="0">
                <a:solidFill>
                  <a:srgbClr val="D4B9FA"/>
                </a:solidFill>
                <a:latin typeface="DejaVu Sans"/>
                <a:ea typeface="DejaVu Sans"/>
                <a:cs typeface="DejaVu Sans"/>
              </a:defRPr>
            </a:defPPr>
            <a:lvl1pPr algn="ctr">
              <a:defRPr sz="1500" b="0">
                <a:solidFill>
                  <a:srgbClr val="D4B9FA"/>
                </a:solidFill>
                <a:latin typeface="DejaVu Sans"/>
                <a:ea typeface="DejaVu Sans"/>
                <a:cs typeface="DejaVu Sans"/>
              </a:defRPr>
            </a:lvl1pPr>
            <a:lvl2pPr algn="ctr">
              <a:defRPr sz="1500" b="0">
                <a:solidFill>
                  <a:srgbClr val="D4B9FA"/>
                </a:solidFill>
                <a:latin typeface="DejaVu Sans"/>
                <a:ea typeface="DejaVu Sans"/>
                <a:cs typeface="DejaVu Sans"/>
              </a:defRPr>
            </a:lvl2pPr>
            <a:lvl3pPr algn="ctr">
              <a:defRPr sz="1500" b="0">
                <a:solidFill>
                  <a:srgbClr val="D4B9FA"/>
                </a:solidFill>
                <a:latin typeface="DejaVu Sans"/>
                <a:ea typeface="DejaVu Sans"/>
                <a:cs typeface="DejaVu Sans"/>
              </a:defRPr>
            </a:lvl3pPr>
            <a:lvl4pPr algn="ctr">
              <a:defRPr sz="1500" b="0">
                <a:solidFill>
                  <a:srgbClr val="D4B9FA"/>
                </a:solidFill>
                <a:latin typeface="DejaVu Sans"/>
                <a:ea typeface="DejaVu Sans"/>
                <a:cs typeface="DejaVu Sans"/>
              </a:defRPr>
            </a:lvl4pPr>
            <a:lvl5pPr algn="ctr">
              <a:defRPr sz="1500" b="0">
                <a:solidFill>
                  <a:srgbClr val="D4B9FA"/>
                </a:solidFill>
                <a:latin typeface="DejaVu Sans"/>
                <a:ea typeface="DejaVu Sans"/>
                <a:cs typeface="DejaVu Sans"/>
              </a:defRPr>
            </a:lvl5pPr>
            <a:lvl6pPr algn="ctr">
              <a:defRPr sz="1500" b="0">
                <a:solidFill>
                  <a:srgbClr val="D4B9FA"/>
                </a:solidFill>
                <a:latin typeface="DejaVu Sans"/>
                <a:ea typeface="DejaVu Sans"/>
                <a:cs typeface="DejaVu Sans"/>
              </a:defRPr>
            </a:lvl6pPr>
            <a:lvl7pPr algn="ctr">
              <a:defRPr sz="1500" b="0">
                <a:solidFill>
                  <a:srgbClr val="D4B9FA"/>
                </a:solidFill>
                <a:latin typeface="DejaVu Sans"/>
                <a:ea typeface="DejaVu Sans"/>
                <a:cs typeface="DejaVu Sans"/>
              </a:defRPr>
            </a:lvl7pPr>
            <a:lvl8pPr algn="ctr">
              <a:defRPr sz="1500" b="0">
                <a:solidFill>
                  <a:srgbClr val="D4B9FA"/>
                </a:solidFill>
                <a:latin typeface="DejaVu Sans"/>
                <a:ea typeface="DejaVu Sans"/>
                <a:cs typeface="DejaVu Sans"/>
              </a:defRPr>
            </a:lvl8pPr>
            <a:lvl9pPr algn="ctr">
              <a:defRPr sz="1500" b="0">
                <a:solidFill>
                  <a:srgbClr val="D4B9FA"/>
                </a:solidFill>
                <a:latin typeface="DejaVu Sans"/>
                <a:ea typeface="DejaVu Sans"/>
                <a:cs typeface="DejaVu Sans"/>
              </a:defRPr>
            </a:lvl9pPr>
          </a:lstStyle>
          <a:p xmlns:a="http://schemas.openxmlformats.org/drawingml/2006/main">
            <a:pPr algn="ctr">
              <a:defRPr sz="1500" b="0">
                <a:solidFill>
                  <a:srgbClr val="D4B9FA"/>
                </a:solidFill>
                <a:latin typeface="DejaVu Sans"/>
                <a:ea typeface="DejaVu Sans"/>
                <a:cs typeface="DejaVu Sans"/>
              </a:defRPr>
            </a:pPr>
            <a:r>
              <a:rPr sz="1500" b="0">
                <a:solidFill>
                  <a:srgbClr val="D4B9FA"/>
                </a:solidFill>
                <a:latin typeface="DejaVu Sans"/>
                <a:ea typeface="DejaVu Sans"/>
                <a:cs typeface="DejaVu Sans"/>
              </a:rPr>
              <a:t>Graphs / Multimodal / LLMs</a:t>
            </a:r>
          </a:p>
        </p:txBody>
      </p:sp>
      <p:sp>
        <p:nvSpPr>
          <p:cNvPr id="25" name="">
            <a:extLst xmlns:a="http://schemas.openxmlformats.org/drawingml/2006/main">
              <a:ext uri="{FF2B5EF4-FFF2-40B4-BE49-F238E27FC236}">
                <a16:creationId xmlns:a16="http://schemas.microsoft.com/office/drawing/2014/main" id="{F54B2706-4EF1-4A91-BE1D-CB279E1685AE}"/>
              </a:ext>
            </a:extLst>
          </p:cNvPr>
          <p:cNvSpPr>
            <a:spLocks xmlns:a="http://schemas.openxmlformats.org/drawingml/2006/main" noGrp="1"/>
          </p:cNvSpPr>
          <p:nvPr/>
        </p:nvSpPr>
        <p:spPr>
          <a:xfrm xmlns:a="http://schemas.openxmlformats.org/drawingml/2006/main">
            <a:off x="3810000" y="6191250"/>
            <a:ext cx="4572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275" b="0">
                <a:solidFill>
                  <a:srgbClr val="BECDE2"/>
                </a:solidFill>
                <a:latin typeface="DejaVu Sans"/>
                <a:ea typeface="DejaVu Sans"/>
                <a:cs typeface="DejaVu Sans"/>
              </a:defRPr>
            </a:defPPr>
            <a:lvl1pPr algn="ctr">
              <a:defRPr sz="1275" b="0">
                <a:solidFill>
                  <a:srgbClr val="BECDE2"/>
                </a:solidFill>
                <a:latin typeface="DejaVu Sans"/>
                <a:ea typeface="DejaVu Sans"/>
                <a:cs typeface="DejaVu Sans"/>
              </a:defRPr>
            </a:lvl1pPr>
            <a:lvl2pPr algn="ctr">
              <a:defRPr sz="1275" b="0">
                <a:solidFill>
                  <a:srgbClr val="BECDE2"/>
                </a:solidFill>
                <a:latin typeface="DejaVu Sans"/>
                <a:ea typeface="DejaVu Sans"/>
                <a:cs typeface="DejaVu Sans"/>
              </a:defRPr>
            </a:lvl2pPr>
            <a:lvl3pPr algn="ctr">
              <a:defRPr sz="1275" b="0">
                <a:solidFill>
                  <a:srgbClr val="BECDE2"/>
                </a:solidFill>
                <a:latin typeface="DejaVu Sans"/>
                <a:ea typeface="DejaVu Sans"/>
                <a:cs typeface="DejaVu Sans"/>
              </a:defRPr>
            </a:lvl3pPr>
            <a:lvl4pPr algn="ctr">
              <a:defRPr sz="1275" b="0">
                <a:solidFill>
                  <a:srgbClr val="BECDE2"/>
                </a:solidFill>
                <a:latin typeface="DejaVu Sans"/>
                <a:ea typeface="DejaVu Sans"/>
                <a:cs typeface="DejaVu Sans"/>
              </a:defRPr>
            </a:lvl4pPr>
            <a:lvl5pPr algn="ctr">
              <a:defRPr sz="1275" b="0">
                <a:solidFill>
                  <a:srgbClr val="BECDE2"/>
                </a:solidFill>
                <a:latin typeface="DejaVu Sans"/>
                <a:ea typeface="DejaVu Sans"/>
                <a:cs typeface="DejaVu Sans"/>
              </a:defRPr>
            </a:lvl5pPr>
            <a:lvl6pPr algn="ctr">
              <a:defRPr sz="1275" b="0">
                <a:solidFill>
                  <a:srgbClr val="BECDE2"/>
                </a:solidFill>
                <a:latin typeface="DejaVu Sans"/>
                <a:ea typeface="DejaVu Sans"/>
                <a:cs typeface="DejaVu Sans"/>
              </a:defRPr>
            </a:lvl6pPr>
            <a:lvl7pPr algn="ctr">
              <a:defRPr sz="1275" b="0">
                <a:solidFill>
                  <a:srgbClr val="BECDE2"/>
                </a:solidFill>
                <a:latin typeface="DejaVu Sans"/>
                <a:ea typeface="DejaVu Sans"/>
                <a:cs typeface="DejaVu Sans"/>
              </a:defRPr>
            </a:lvl7pPr>
            <a:lvl8pPr algn="ctr">
              <a:defRPr sz="1275" b="0">
                <a:solidFill>
                  <a:srgbClr val="BECDE2"/>
                </a:solidFill>
                <a:latin typeface="DejaVu Sans"/>
                <a:ea typeface="DejaVu Sans"/>
                <a:cs typeface="DejaVu Sans"/>
              </a:defRPr>
            </a:lvl8pPr>
            <a:lvl9pPr algn="ctr">
              <a:defRPr sz="1275" b="0">
                <a:solidFill>
                  <a:srgbClr val="BECDE2"/>
                </a:solidFill>
                <a:latin typeface="DejaVu Sans"/>
                <a:ea typeface="DejaVu Sans"/>
                <a:cs typeface="DejaVu Sans"/>
              </a:defRPr>
            </a:lvl9pPr>
          </a:lstStyle>
          <a:p xmlns:a="http://schemas.openxmlformats.org/drawingml/2006/main">
            <a:pPr algn="ctr">
              <a:defRPr sz="1275" b="0">
                <a:solidFill>
                  <a:srgbClr val="BECDE2"/>
                </a:solidFill>
                <a:latin typeface="DejaVu Sans"/>
                <a:ea typeface="DejaVu Sans"/>
                <a:cs typeface="DejaVu Sans"/>
              </a:defRPr>
            </a:pPr>
            <a:r>
              <a:rPr sz="1275" b="0">
                <a:solidFill>
                  <a:srgbClr val="BECDE2"/>
                </a:solidFill>
                <a:latin typeface="DejaVu Sans"/>
                <a:ea typeface="DejaVu Sans"/>
                <a:cs typeface="DejaVu Sans"/>
              </a:rPr>
              <a:t>GNNs / GraphRAG / SFT / DPO / RLAI</a:t>
            </a:r>
          </a:p>
        </p:txBody>
      </p:sp>
      <p:sp>
        <p:nvSpPr>
          <p:cNvPr id="26" name="">
            <a:extLst xmlns:a="http://schemas.openxmlformats.org/drawingml/2006/main">
              <a:ext uri="{FF2B5EF4-FFF2-40B4-BE49-F238E27FC236}">
                <a16:creationId xmlns:a16="http://schemas.microsoft.com/office/drawing/2014/main" id="{C1B9240D-DE68-4DEE-A218-C335A6B09B18}"/>
              </a:ext>
            </a:extLst>
          </p:cNvPr>
          <p:cNvSpPr>
            <a:spLocks xmlns:a="http://schemas.openxmlformats.org/drawingml/2006/main" noGrp="1"/>
          </p:cNvSpPr>
          <p:nvPr/>
        </p:nvSpPr>
        <p:spPr>
          <a:xfrm xmlns:a="http://schemas.openxmlformats.org/drawingml/2006/main">
            <a:off x="9372600" y="5353050"/>
            <a:ext cx="304800" cy="304800"/>
          </a:xfrm>
          <a:prstGeom xmlns:a="http://schemas.openxmlformats.org/drawingml/2006/main" prst="ellipse">
            <a:avLst/>
          </a:prstGeom>
          <a:solidFill xmlns:a="http://schemas.openxmlformats.org/drawingml/2006/main">
            <a:srgbClr val="70C2D0"/>
          </a:solidFill>
          <a:ln xmlns:a="http://schemas.openxmlformats.org/drawingml/2006/main" w="14288">
            <a:solidFill>
              <a:srgbClr val="DCE8F3"/>
            </a:solidFill>
            <a:prstDash val="solid"/>
          </a:ln>
        </p:spPr>
      </p:sp>
      <p:sp>
        <p:nvSpPr>
          <p:cNvPr id="27" name="">
            <a:extLst xmlns:a="http://schemas.openxmlformats.org/drawingml/2006/main">
              <a:ext uri="{FF2B5EF4-FFF2-40B4-BE49-F238E27FC236}">
                <a16:creationId xmlns:a16="http://schemas.microsoft.com/office/drawing/2014/main" id="{DA3B1272-4058-4C33-81A4-C68953D48B71}"/>
              </a:ext>
            </a:extLst>
          </p:cNvPr>
          <p:cNvSpPr>
            <a:spLocks xmlns:a="http://schemas.openxmlformats.org/drawingml/2006/main" noGrp="1"/>
          </p:cNvSpPr>
          <p:nvPr/>
        </p:nvSpPr>
        <p:spPr>
          <a:xfrm xmlns:a="http://schemas.openxmlformats.org/drawingml/2006/main">
            <a:off x="8410575" y="58674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500" b="0">
                <a:solidFill>
                  <a:srgbClr val="A1E2EB"/>
                </a:solidFill>
                <a:latin typeface="DejaVu Sans"/>
                <a:ea typeface="DejaVu Sans"/>
                <a:cs typeface="DejaVu Sans"/>
              </a:defRPr>
            </a:defPPr>
            <a:lvl1pPr algn="ctr">
              <a:defRPr sz="1500" b="0">
                <a:solidFill>
                  <a:srgbClr val="A1E2EB"/>
                </a:solidFill>
                <a:latin typeface="DejaVu Sans"/>
                <a:ea typeface="DejaVu Sans"/>
                <a:cs typeface="DejaVu Sans"/>
              </a:defRPr>
            </a:lvl1pPr>
            <a:lvl2pPr algn="ctr">
              <a:defRPr sz="1500" b="0">
                <a:solidFill>
                  <a:srgbClr val="A1E2EB"/>
                </a:solidFill>
                <a:latin typeface="DejaVu Sans"/>
                <a:ea typeface="DejaVu Sans"/>
                <a:cs typeface="DejaVu Sans"/>
              </a:defRPr>
            </a:lvl2pPr>
            <a:lvl3pPr algn="ctr">
              <a:defRPr sz="1500" b="0">
                <a:solidFill>
                  <a:srgbClr val="A1E2EB"/>
                </a:solidFill>
                <a:latin typeface="DejaVu Sans"/>
                <a:ea typeface="DejaVu Sans"/>
                <a:cs typeface="DejaVu Sans"/>
              </a:defRPr>
            </a:lvl3pPr>
            <a:lvl4pPr algn="ctr">
              <a:defRPr sz="1500" b="0">
                <a:solidFill>
                  <a:srgbClr val="A1E2EB"/>
                </a:solidFill>
                <a:latin typeface="DejaVu Sans"/>
                <a:ea typeface="DejaVu Sans"/>
                <a:cs typeface="DejaVu Sans"/>
              </a:defRPr>
            </a:lvl4pPr>
            <a:lvl5pPr algn="ctr">
              <a:defRPr sz="1500" b="0">
                <a:solidFill>
                  <a:srgbClr val="A1E2EB"/>
                </a:solidFill>
                <a:latin typeface="DejaVu Sans"/>
                <a:ea typeface="DejaVu Sans"/>
                <a:cs typeface="DejaVu Sans"/>
              </a:defRPr>
            </a:lvl5pPr>
            <a:lvl6pPr algn="ctr">
              <a:defRPr sz="1500" b="0">
                <a:solidFill>
                  <a:srgbClr val="A1E2EB"/>
                </a:solidFill>
                <a:latin typeface="DejaVu Sans"/>
                <a:ea typeface="DejaVu Sans"/>
                <a:cs typeface="DejaVu Sans"/>
              </a:defRPr>
            </a:lvl6pPr>
            <a:lvl7pPr algn="ctr">
              <a:defRPr sz="1500" b="0">
                <a:solidFill>
                  <a:srgbClr val="A1E2EB"/>
                </a:solidFill>
                <a:latin typeface="DejaVu Sans"/>
                <a:ea typeface="DejaVu Sans"/>
                <a:cs typeface="DejaVu Sans"/>
              </a:defRPr>
            </a:lvl7pPr>
            <a:lvl8pPr algn="ctr">
              <a:defRPr sz="1500" b="0">
                <a:solidFill>
                  <a:srgbClr val="A1E2EB"/>
                </a:solidFill>
                <a:latin typeface="DejaVu Sans"/>
                <a:ea typeface="DejaVu Sans"/>
                <a:cs typeface="DejaVu Sans"/>
              </a:defRPr>
            </a:lvl8pPr>
            <a:lvl9pPr algn="ctr">
              <a:defRPr sz="1500" b="0">
                <a:solidFill>
                  <a:srgbClr val="A1E2EB"/>
                </a:solidFill>
                <a:latin typeface="DejaVu Sans"/>
                <a:ea typeface="DejaVu Sans"/>
                <a:cs typeface="DejaVu Sans"/>
              </a:defRPr>
            </a:lvl9pPr>
          </a:lstStyle>
          <a:p xmlns:a="http://schemas.openxmlformats.org/drawingml/2006/main">
            <a:pPr algn="ctr">
              <a:defRPr sz="1500" b="0">
                <a:solidFill>
                  <a:srgbClr val="A1E2EB"/>
                </a:solidFill>
                <a:latin typeface="DejaVu Sans"/>
                <a:ea typeface="DejaVu Sans"/>
                <a:cs typeface="DejaVu Sans"/>
              </a:defRPr>
            </a:pPr>
            <a:r>
              <a:rPr sz="1500" b="0">
                <a:solidFill>
                  <a:srgbClr val="A1E2EB"/>
                </a:solidFill>
                <a:latin typeface="DejaVu Sans"/>
                <a:ea typeface="DejaVu Sans"/>
                <a:cs typeface="DejaVu Sans"/>
              </a:rPr>
              <a:t>Python / SQL / PySpark</a:t>
            </a:r>
          </a:p>
        </p:txBody>
      </p:sp>
      <p:sp>
        <p:nvSpPr>
          <p:cNvPr id="28" name="">
            <a:extLst xmlns:a="http://schemas.openxmlformats.org/drawingml/2006/main">
              <a:ext uri="{FF2B5EF4-FFF2-40B4-BE49-F238E27FC236}">
                <a16:creationId xmlns:a16="http://schemas.microsoft.com/office/drawing/2014/main" id="{6A05D6D7-04D1-4D52-B67C-C6F758B60565}"/>
              </a:ext>
            </a:extLst>
          </p:cNvPr>
          <p:cNvSpPr>
            <a:spLocks xmlns:a="http://schemas.openxmlformats.org/drawingml/2006/main" noGrp="1"/>
          </p:cNvSpPr>
          <p:nvPr/>
        </p:nvSpPr>
        <p:spPr>
          <a:xfrm xmlns:a="http://schemas.openxmlformats.org/drawingml/2006/main">
            <a:off x="7858125" y="6191250"/>
            <a:ext cx="37623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0">
                <a:solidFill>
                  <a:srgbClr val="BECDE2"/>
                </a:solidFill>
                <a:latin typeface="DejaVu Sans"/>
                <a:ea typeface="DejaVu Sans"/>
                <a:cs typeface="DejaVu Sans"/>
              </a:defRPr>
            </a:defPPr>
            <a:lvl1pPr algn="ctr">
              <a:defRPr sz="1350" b="0">
                <a:solidFill>
                  <a:srgbClr val="BECDE2"/>
                </a:solidFill>
                <a:latin typeface="DejaVu Sans"/>
                <a:ea typeface="DejaVu Sans"/>
                <a:cs typeface="DejaVu Sans"/>
              </a:defRPr>
            </a:lvl1pPr>
            <a:lvl2pPr algn="ctr">
              <a:defRPr sz="1350" b="0">
                <a:solidFill>
                  <a:srgbClr val="BECDE2"/>
                </a:solidFill>
                <a:latin typeface="DejaVu Sans"/>
                <a:ea typeface="DejaVu Sans"/>
                <a:cs typeface="DejaVu Sans"/>
              </a:defRPr>
            </a:lvl2pPr>
            <a:lvl3pPr algn="ctr">
              <a:defRPr sz="1350" b="0">
                <a:solidFill>
                  <a:srgbClr val="BECDE2"/>
                </a:solidFill>
                <a:latin typeface="DejaVu Sans"/>
                <a:ea typeface="DejaVu Sans"/>
                <a:cs typeface="DejaVu Sans"/>
              </a:defRPr>
            </a:lvl3pPr>
            <a:lvl4pPr algn="ctr">
              <a:defRPr sz="1350" b="0">
                <a:solidFill>
                  <a:srgbClr val="BECDE2"/>
                </a:solidFill>
                <a:latin typeface="DejaVu Sans"/>
                <a:ea typeface="DejaVu Sans"/>
                <a:cs typeface="DejaVu Sans"/>
              </a:defRPr>
            </a:lvl4pPr>
            <a:lvl5pPr algn="ctr">
              <a:defRPr sz="1350" b="0">
                <a:solidFill>
                  <a:srgbClr val="BECDE2"/>
                </a:solidFill>
                <a:latin typeface="DejaVu Sans"/>
                <a:ea typeface="DejaVu Sans"/>
                <a:cs typeface="DejaVu Sans"/>
              </a:defRPr>
            </a:lvl5pPr>
            <a:lvl6pPr algn="ctr">
              <a:defRPr sz="1350" b="0">
                <a:solidFill>
                  <a:srgbClr val="BECDE2"/>
                </a:solidFill>
                <a:latin typeface="DejaVu Sans"/>
                <a:ea typeface="DejaVu Sans"/>
                <a:cs typeface="DejaVu Sans"/>
              </a:defRPr>
            </a:lvl6pPr>
            <a:lvl7pPr algn="ctr">
              <a:defRPr sz="1350" b="0">
                <a:solidFill>
                  <a:srgbClr val="BECDE2"/>
                </a:solidFill>
                <a:latin typeface="DejaVu Sans"/>
                <a:ea typeface="DejaVu Sans"/>
                <a:cs typeface="DejaVu Sans"/>
              </a:defRPr>
            </a:lvl7pPr>
            <a:lvl8pPr algn="ctr">
              <a:defRPr sz="1350" b="0">
                <a:solidFill>
                  <a:srgbClr val="BECDE2"/>
                </a:solidFill>
                <a:latin typeface="DejaVu Sans"/>
                <a:ea typeface="DejaVu Sans"/>
                <a:cs typeface="DejaVu Sans"/>
              </a:defRPr>
            </a:lvl8pPr>
            <a:lvl9pPr algn="ctr">
              <a:defRPr sz="1350" b="0">
                <a:solidFill>
                  <a:srgbClr val="BECDE2"/>
                </a:solidFill>
                <a:latin typeface="DejaVu Sans"/>
                <a:ea typeface="DejaVu Sans"/>
                <a:cs typeface="DejaVu Sans"/>
              </a:defRPr>
            </a:lvl9pPr>
          </a:lstStyle>
          <a:p xmlns:a="http://schemas.openxmlformats.org/drawingml/2006/main">
            <a:pPr algn="ctr">
              <a:defRPr sz="1350" b="0">
                <a:solidFill>
                  <a:srgbClr val="BECDE2"/>
                </a:solidFill>
                <a:latin typeface="DejaVu Sans"/>
                <a:ea typeface="DejaVu Sans"/>
                <a:cs typeface="DejaVu Sans"/>
              </a:defRPr>
            </a:pPr>
            <a:r>
              <a:rPr sz="1350" b="0">
                <a:solidFill>
                  <a:srgbClr val="BECDE2"/>
                </a:solidFill>
                <a:latin typeface="DejaVu Sans"/>
                <a:ea typeface="DejaVu Sans"/>
                <a:cs typeface="DejaVu Sans"/>
              </a:rPr>
              <a:t>vLLM / MLflow / Kubernetes</a:t>
            </a:r>
          </a:p>
        </p:txBody>
      </p:sp>
      <p:sp>
        <p:nvSpPr>
          <p:cNvPr id="29" name="">
            <a:extLst xmlns:a="http://schemas.openxmlformats.org/drawingml/2006/main">
              <a:ext uri="{FF2B5EF4-FFF2-40B4-BE49-F238E27FC236}">
                <a16:creationId xmlns:a16="http://schemas.microsoft.com/office/drawing/2014/main" id="{D1C62027-271C-4AAF-9284-87518C3B8DF0}"/>
              </a:ext>
            </a:extLst>
          </p:cNvPr>
          <p:cNvSpPr>
            <a:spLocks xmlns:a="http://schemas.openxmlformats.org/drawingml/2006/main" noGrp="1"/>
          </p:cNvSpPr>
          <p:nvPr/>
        </p:nvSpPr>
        <p:spPr>
          <a:xfrm xmlns:a="http://schemas.openxmlformats.org/drawingml/2006/main">
            <a:off x="11172825" y="2933700"/>
            <a:ext cx="228600" cy="228600"/>
          </a:xfrm>
          <a:prstGeom xmlns:a="http://schemas.openxmlformats.org/drawingml/2006/main" prst="ellipse">
            <a:avLst/>
          </a:prstGeom>
          <a:solidFill xmlns:a="http://schemas.openxmlformats.org/drawingml/2006/main">
            <a:srgbClr val="E6A578"/>
          </a:solidFill>
          <a:ln xmlns:a="http://schemas.openxmlformats.org/drawingml/2006/main" w="14288">
            <a:solidFill>
              <a:srgbClr val="DCE8F3"/>
            </a:solidFill>
            <a:prstDash val="solid"/>
          </a:ln>
        </p:spPr>
      </p:sp>
      <p:sp>
        <p:nvSpPr>
          <p:cNvPr id="30" name="">
            <a:extLst xmlns:a="http://schemas.openxmlformats.org/drawingml/2006/main">
              <a:ext uri="{FF2B5EF4-FFF2-40B4-BE49-F238E27FC236}">
                <a16:creationId xmlns:a16="http://schemas.microsoft.com/office/drawing/2014/main" id="{F4A95FE0-6F6D-476E-AA7E-74F497A3D31E}"/>
              </a:ext>
            </a:extLst>
          </p:cNvPr>
          <p:cNvSpPr>
            <a:spLocks xmlns:a="http://schemas.openxmlformats.org/drawingml/2006/main" noGrp="1"/>
          </p:cNvSpPr>
          <p:nvPr/>
        </p:nvSpPr>
        <p:spPr>
          <a:xfrm xmlns:a="http://schemas.openxmlformats.org/drawingml/2006/main">
            <a:off x="10544175" y="3286125"/>
            <a:ext cx="1428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FFC6A0"/>
                </a:solidFill>
                <a:latin typeface="DejaVu Sans"/>
                <a:ea typeface="DejaVu Sans"/>
                <a:cs typeface="DejaVu Sans"/>
              </a:defRPr>
            </a:defPPr>
            <a:lvl1pPr algn="ctr">
              <a:defRPr sz="1425" b="0">
                <a:solidFill>
                  <a:srgbClr val="FFC6A0"/>
                </a:solidFill>
                <a:latin typeface="DejaVu Sans"/>
                <a:ea typeface="DejaVu Sans"/>
                <a:cs typeface="DejaVu Sans"/>
              </a:defRPr>
            </a:lvl1pPr>
            <a:lvl2pPr algn="ctr">
              <a:defRPr sz="1425" b="0">
                <a:solidFill>
                  <a:srgbClr val="FFC6A0"/>
                </a:solidFill>
                <a:latin typeface="DejaVu Sans"/>
                <a:ea typeface="DejaVu Sans"/>
                <a:cs typeface="DejaVu Sans"/>
              </a:defRPr>
            </a:lvl2pPr>
            <a:lvl3pPr algn="ctr">
              <a:defRPr sz="1425" b="0">
                <a:solidFill>
                  <a:srgbClr val="FFC6A0"/>
                </a:solidFill>
                <a:latin typeface="DejaVu Sans"/>
                <a:ea typeface="DejaVu Sans"/>
                <a:cs typeface="DejaVu Sans"/>
              </a:defRPr>
            </a:lvl3pPr>
            <a:lvl4pPr algn="ctr">
              <a:defRPr sz="1425" b="0">
                <a:solidFill>
                  <a:srgbClr val="FFC6A0"/>
                </a:solidFill>
                <a:latin typeface="DejaVu Sans"/>
                <a:ea typeface="DejaVu Sans"/>
                <a:cs typeface="DejaVu Sans"/>
              </a:defRPr>
            </a:lvl4pPr>
            <a:lvl5pPr algn="ctr">
              <a:defRPr sz="1425" b="0">
                <a:solidFill>
                  <a:srgbClr val="FFC6A0"/>
                </a:solidFill>
                <a:latin typeface="DejaVu Sans"/>
                <a:ea typeface="DejaVu Sans"/>
                <a:cs typeface="DejaVu Sans"/>
              </a:defRPr>
            </a:lvl5pPr>
            <a:lvl6pPr algn="ctr">
              <a:defRPr sz="1425" b="0">
                <a:solidFill>
                  <a:srgbClr val="FFC6A0"/>
                </a:solidFill>
                <a:latin typeface="DejaVu Sans"/>
                <a:ea typeface="DejaVu Sans"/>
                <a:cs typeface="DejaVu Sans"/>
              </a:defRPr>
            </a:lvl6pPr>
            <a:lvl7pPr algn="ctr">
              <a:defRPr sz="1425" b="0">
                <a:solidFill>
                  <a:srgbClr val="FFC6A0"/>
                </a:solidFill>
                <a:latin typeface="DejaVu Sans"/>
                <a:ea typeface="DejaVu Sans"/>
                <a:cs typeface="DejaVu Sans"/>
              </a:defRPr>
            </a:lvl7pPr>
            <a:lvl8pPr algn="ctr">
              <a:defRPr sz="1425" b="0">
                <a:solidFill>
                  <a:srgbClr val="FFC6A0"/>
                </a:solidFill>
                <a:latin typeface="DejaVu Sans"/>
                <a:ea typeface="DejaVu Sans"/>
                <a:cs typeface="DejaVu Sans"/>
              </a:defRPr>
            </a:lvl8pPr>
            <a:lvl9pPr algn="ctr">
              <a:defRPr sz="1425" b="0">
                <a:solidFill>
                  <a:srgbClr val="FFC6A0"/>
                </a:solidFill>
                <a:latin typeface="DejaVu Sans"/>
                <a:ea typeface="DejaVu Sans"/>
                <a:cs typeface="DejaVu Sans"/>
              </a:defRPr>
            </a:lvl9pPr>
          </a:lstStyle>
          <a:p xmlns:a="http://schemas.openxmlformats.org/drawingml/2006/main">
            <a:pPr algn="ctr">
              <a:defRPr sz="1425" b="0">
                <a:solidFill>
                  <a:srgbClr val="FFC6A0"/>
                </a:solidFill>
                <a:latin typeface="DejaVu Sans"/>
                <a:ea typeface="DejaVu Sans"/>
                <a:cs typeface="DejaVu Sans"/>
              </a:defRPr>
            </a:pPr>
            <a:r>
              <a:rPr sz="1425" b="0">
                <a:solidFill>
                  <a:srgbClr val="FFC6A0"/>
                </a:solidFill>
                <a:latin typeface="DejaVu Sans"/>
                <a:ea typeface="DejaVu Sans"/>
                <a:cs typeface="DejaVu Sans"/>
              </a:rPr>
              <a:t>Awards</a:t>
            </a:r>
          </a:p>
        </p:txBody>
      </p:sp>
      <p:sp>
        <p:nvSpPr>
          <p:cNvPr id="31" name="">
            <a:extLst xmlns:a="http://schemas.openxmlformats.org/drawingml/2006/main">
              <a:ext uri="{FF2B5EF4-FFF2-40B4-BE49-F238E27FC236}">
                <a16:creationId xmlns:a16="http://schemas.microsoft.com/office/drawing/2014/main" id="{CE683172-69E9-4EB1-BCC8-8F6BF6195DAE}"/>
              </a:ext>
            </a:extLst>
          </p:cNvPr>
          <p:cNvSpPr>
            <a:spLocks xmlns:a="http://schemas.openxmlformats.org/drawingml/2006/main" noGrp="1"/>
          </p:cNvSpPr>
          <p:nvPr/>
        </p:nvSpPr>
        <p:spPr>
          <a:xfrm xmlns:a="http://schemas.openxmlformats.org/drawingml/2006/main">
            <a:off x="10458450" y="35528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200" b="0">
                <a:solidFill>
                  <a:srgbClr val="BECDE2"/>
                </a:solidFill>
                <a:latin typeface="DejaVu Sans"/>
                <a:ea typeface="DejaVu Sans"/>
                <a:cs typeface="DejaVu Sans"/>
              </a:defRPr>
            </a:defPPr>
            <a:lvl1pPr algn="ctr">
              <a:defRPr sz="1200" b="0">
                <a:solidFill>
                  <a:srgbClr val="BECDE2"/>
                </a:solidFill>
                <a:latin typeface="DejaVu Sans"/>
                <a:ea typeface="DejaVu Sans"/>
                <a:cs typeface="DejaVu Sans"/>
              </a:defRPr>
            </a:lvl1pPr>
            <a:lvl2pPr algn="ctr">
              <a:defRPr sz="1200" b="0">
                <a:solidFill>
                  <a:srgbClr val="BECDE2"/>
                </a:solidFill>
                <a:latin typeface="DejaVu Sans"/>
                <a:ea typeface="DejaVu Sans"/>
                <a:cs typeface="DejaVu Sans"/>
              </a:defRPr>
            </a:lvl2pPr>
            <a:lvl3pPr algn="ctr">
              <a:defRPr sz="1200" b="0">
                <a:solidFill>
                  <a:srgbClr val="BECDE2"/>
                </a:solidFill>
                <a:latin typeface="DejaVu Sans"/>
                <a:ea typeface="DejaVu Sans"/>
                <a:cs typeface="DejaVu Sans"/>
              </a:defRPr>
            </a:lvl3pPr>
            <a:lvl4pPr algn="ctr">
              <a:defRPr sz="1200" b="0">
                <a:solidFill>
                  <a:srgbClr val="BECDE2"/>
                </a:solidFill>
                <a:latin typeface="DejaVu Sans"/>
                <a:ea typeface="DejaVu Sans"/>
                <a:cs typeface="DejaVu Sans"/>
              </a:defRPr>
            </a:lvl4pPr>
            <a:lvl5pPr algn="ctr">
              <a:defRPr sz="1200" b="0">
                <a:solidFill>
                  <a:srgbClr val="BECDE2"/>
                </a:solidFill>
                <a:latin typeface="DejaVu Sans"/>
                <a:ea typeface="DejaVu Sans"/>
                <a:cs typeface="DejaVu Sans"/>
              </a:defRPr>
            </a:lvl5pPr>
            <a:lvl6pPr algn="ctr">
              <a:defRPr sz="1200" b="0">
                <a:solidFill>
                  <a:srgbClr val="BECDE2"/>
                </a:solidFill>
                <a:latin typeface="DejaVu Sans"/>
                <a:ea typeface="DejaVu Sans"/>
                <a:cs typeface="DejaVu Sans"/>
              </a:defRPr>
            </a:lvl6pPr>
            <a:lvl7pPr algn="ctr">
              <a:defRPr sz="1200" b="0">
                <a:solidFill>
                  <a:srgbClr val="BECDE2"/>
                </a:solidFill>
                <a:latin typeface="DejaVu Sans"/>
                <a:ea typeface="DejaVu Sans"/>
                <a:cs typeface="DejaVu Sans"/>
              </a:defRPr>
            </a:lvl7pPr>
            <a:lvl8pPr algn="ctr">
              <a:defRPr sz="1200" b="0">
                <a:solidFill>
                  <a:srgbClr val="BECDE2"/>
                </a:solidFill>
                <a:latin typeface="DejaVu Sans"/>
                <a:ea typeface="DejaVu Sans"/>
                <a:cs typeface="DejaVu Sans"/>
              </a:defRPr>
            </a:lvl8pPr>
            <a:lvl9pPr algn="ctr">
              <a:defRPr sz="1200" b="0">
                <a:solidFill>
                  <a:srgbClr val="BECDE2"/>
                </a:solidFill>
                <a:latin typeface="DejaVu Sans"/>
                <a:ea typeface="DejaVu Sans"/>
                <a:cs typeface="DejaVu Sans"/>
              </a:defRPr>
            </a:lvl9pPr>
          </a:lstStyle>
          <a:p xmlns:a="http://schemas.openxmlformats.org/drawingml/2006/main">
            <a:pPr algn="ctr">
              <a:defRPr sz="1200" b="0">
                <a:solidFill>
                  <a:srgbClr val="BECDE2"/>
                </a:solidFill>
                <a:latin typeface="DejaVu Sans"/>
                <a:ea typeface="DejaVu Sans"/>
                <a:cs typeface="DejaVu Sans"/>
              </a:defRPr>
            </a:pPr>
            <a:r>
              <a:rPr sz="1200" b="0">
                <a:solidFill>
                  <a:srgbClr val="BECDE2"/>
                </a:solidFill>
                <a:latin typeface="DejaVu Sans"/>
                <a:ea typeface="DejaVu Sans"/>
                <a:cs typeface="DejaVu Sans"/>
              </a:rPr>
              <a:t>Hackathon</a:t>
            </a:r>
          </a:p>
          <a:p xmlns:a="http://schemas.openxmlformats.org/drawingml/2006/main">
            <a:pPr algn="ctr">
              <a:defRPr sz="1200" b="0">
                <a:solidFill>
                  <a:srgbClr val="BECDE2"/>
                </a:solidFill>
                <a:latin typeface="DejaVu Sans"/>
                <a:ea typeface="DejaVu Sans"/>
                <a:cs typeface="DejaVu Sans"/>
              </a:defRPr>
            </a:pPr>
            <a:r>
              <a:rPr sz="1200" b="0">
                <a:solidFill>
                  <a:srgbClr val="BECDE2"/>
                </a:solidFill>
                <a:latin typeface="DejaVu Sans"/>
                <a:ea typeface="DejaVu Sans"/>
                <a:cs typeface="DejaVu Sans"/>
              </a:rPr>
              <a:t>+ DSCON</a:t>
            </a:r>
          </a:p>
        </p:txBody>
      </p:sp>
      <p:sp>
        <p:nvSpPr>
          <p:cNvPr id="41" name="">
            <a:extLst xmlns:a="http://schemas.openxmlformats.org/drawingml/2006/main">
              <a:ext uri="{FF2B5EF4-FFF2-40B4-BE49-F238E27FC236}">
                <a16:creationId xmlns:a16="http://schemas.microsoft.com/office/drawing/2014/main" id="{B4688102-F6E8-4F14-8B02-46B86C096D33}"/>
              </a:ext>
            </a:extLst>
          </p:cNvPr>
          <p:cNvSpPr>
            <a:spLocks xmlns:a="http://schemas.openxmlformats.org/drawingml/2006/main" noGrp="1"/>
          </p:cNvSpPr>
          <p:nvPr/>
        </p:nvSpPr>
        <p:spPr>
          <a:xfrm xmlns:a="http://schemas.openxmlformats.org/drawingml/2006/main">
            <a:off x="3648075" y="2781300"/>
            <a:ext cx="119062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STUDIED_AT</a:t>
            </a:r>
          </a:p>
        </p:txBody>
      </p:sp>
      <p:sp>
        <p:nvSpPr>
          <p:cNvPr id="42" name="">
            <a:extLst xmlns:a="http://schemas.openxmlformats.org/drawingml/2006/main">
              <a:ext uri="{FF2B5EF4-FFF2-40B4-BE49-F238E27FC236}">
                <a16:creationId xmlns:a16="http://schemas.microsoft.com/office/drawing/2014/main" id="{21CA7F8F-9A1E-44B1-8C28-CCD5144E92F8}"/>
              </a:ext>
            </a:extLst>
          </p:cNvPr>
          <p:cNvSpPr>
            <a:spLocks xmlns:a="http://schemas.openxmlformats.org/drawingml/2006/main" noGrp="1"/>
          </p:cNvSpPr>
          <p:nvPr/>
        </p:nvSpPr>
        <p:spPr>
          <a:xfrm xmlns:a="http://schemas.openxmlformats.org/drawingml/2006/main">
            <a:off x="5381625" y="2857500"/>
            <a:ext cx="14287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CONTRIBUTED_TO</a:t>
            </a:r>
          </a:p>
        </p:txBody>
      </p:sp>
      <p:sp>
        <p:nvSpPr>
          <p:cNvPr id="43" name="">
            <a:extLst xmlns:a="http://schemas.openxmlformats.org/drawingml/2006/main">
              <a:ext uri="{FF2B5EF4-FFF2-40B4-BE49-F238E27FC236}">
                <a16:creationId xmlns:a16="http://schemas.microsoft.com/office/drawing/2014/main" id="{13D2E626-3D07-4A11-8D5A-C87FDF6ABDC9}"/>
              </a:ext>
            </a:extLst>
          </p:cNvPr>
          <p:cNvSpPr>
            <a:spLocks xmlns:a="http://schemas.openxmlformats.org/drawingml/2006/main" noGrp="1"/>
          </p:cNvSpPr>
          <p:nvPr/>
        </p:nvSpPr>
        <p:spPr>
          <a:xfrm xmlns:a="http://schemas.openxmlformats.org/drawingml/2006/main">
            <a:off x="7724775" y="2781300"/>
            <a:ext cx="87630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REJOINS</a:t>
            </a:r>
          </a:p>
        </p:txBody>
      </p:sp>
      <p:sp>
        <p:nvSpPr>
          <p:cNvPr id="44" name="">
            <a:extLst xmlns:a="http://schemas.openxmlformats.org/drawingml/2006/main">
              <a:ext uri="{FF2B5EF4-FFF2-40B4-BE49-F238E27FC236}">
                <a16:creationId xmlns:a16="http://schemas.microsoft.com/office/drawing/2014/main" id="{E5A1D52D-1200-426C-AC46-98D0789B5A59}"/>
              </a:ext>
            </a:extLst>
          </p:cNvPr>
          <p:cNvSpPr>
            <a:spLocks xmlns:a="http://schemas.openxmlformats.org/drawingml/2006/main" noGrp="1"/>
          </p:cNvSpPr>
          <p:nvPr/>
        </p:nvSpPr>
        <p:spPr>
          <a:xfrm xmlns:a="http://schemas.openxmlformats.org/drawingml/2006/main">
            <a:off x="3667125" y="3714750"/>
            <a:ext cx="8191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DAD_OF</a:t>
            </a:r>
          </a:p>
        </p:txBody>
      </p:sp>
      <p:sp>
        <p:nvSpPr>
          <p:cNvPr id="45" name="">
            <a:extLst xmlns:a="http://schemas.openxmlformats.org/drawingml/2006/main">
              <a:ext uri="{FF2B5EF4-FFF2-40B4-BE49-F238E27FC236}">
                <a16:creationId xmlns:a16="http://schemas.microsoft.com/office/drawing/2014/main" id="{203CE8A5-8A41-4F8A-9EE5-F448C32878C6}"/>
              </a:ext>
            </a:extLst>
          </p:cNvPr>
          <p:cNvSpPr>
            <a:spLocks xmlns:a="http://schemas.openxmlformats.org/drawingml/2006/main" noGrp="1"/>
          </p:cNvSpPr>
          <p:nvPr/>
        </p:nvSpPr>
        <p:spPr>
          <a:xfrm xmlns:a="http://schemas.openxmlformats.org/drawingml/2006/main">
            <a:off x="7620000" y="3714750"/>
            <a:ext cx="11239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BUILT_AI_AT</a:t>
            </a:r>
          </a:p>
        </p:txBody>
      </p:sp>
      <p:sp>
        <p:nvSpPr>
          <p:cNvPr id="46" name="">
            <a:extLst xmlns:a="http://schemas.openxmlformats.org/drawingml/2006/main">
              <a:ext uri="{FF2B5EF4-FFF2-40B4-BE49-F238E27FC236}">
                <a16:creationId xmlns:a16="http://schemas.microsoft.com/office/drawing/2014/main" id="{5861515A-56F4-488B-B5F2-7CA7530C0406}"/>
              </a:ext>
            </a:extLst>
          </p:cNvPr>
          <p:cNvSpPr>
            <a:spLocks xmlns:a="http://schemas.openxmlformats.org/drawingml/2006/main" noGrp="1"/>
          </p:cNvSpPr>
          <p:nvPr/>
        </p:nvSpPr>
        <p:spPr>
          <a:xfrm xmlns:a="http://schemas.openxmlformats.org/drawingml/2006/main">
            <a:off x="3714750" y="4791075"/>
            <a:ext cx="125730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NO_TIME_FOR</a:t>
            </a:r>
          </a:p>
        </p:txBody>
      </p:sp>
      <p:sp>
        <p:nvSpPr>
          <p:cNvPr id="47" name="">
            <a:extLst xmlns:a="http://schemas.openxmlformats.org/drawingml/2006/main">
              <a:ext uri="{FF2B5EF4-FFF2-40B4-BE49-F238E27FC236}">
                <a16:creationId xmlns:a16="http://schemas.microsoft.com/office/drawing/2014/main" id="{B3C1960F-DDA9-46C8-B40A-D4B44DA50A2A}"/>
              </a:ext>
            </a:extLst>
          </p:cNvPr>
          <p:cNvSpPr>
            <a:spLocks xmlns:a="http://schemas.openxmlformats.org/drawingml/2006/main" noGrp="1"/>
          </p:cNvSpPr>
          <p:nvPr/>
        </p:nvSpPr>
        <p:spPr>
          <a:xfrm xmlns:a="http://schemas.openxmlformats.org/drawingml/2006/main">
            <a:off x="5391150" y="4953000"/>
            <a:ext cx="14287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SPECIALISES_IN</a:t>
            </a:r>
          </a:p>
        </p:txBody>
      </p:sp>
      <p:sp>
        <p:nvSpPr>
          <p:cNvPr id="48" name="">
            <a:extLst xmlns:a="http://schemas.openxmlformats.org/drawingml/2006/main">
              <a:ext uri="{FF2B5EF4-FFF2-40B4-BE49-F238E27FC236}">
                <a16:creationId xmlns:a16="http://schemas.microsoft.com/office/drawing/2014/main" id="{BF49ECAA-8981-4131-834F-2E22491831B2}"/>
              </a:ext>
            </a:extLst>
          </p:cNvPr>
          <p:cNvSpPr>
            <a:spLocks xmlns:a="http://schemas.openxmlformats.org/drawingml/2006/main" noGrp="1"/>
          </p:cNvSpPr>
          <p:nvPr/>
        </p:nvSpPr>
        <p:spPr>
          <a:xfrm xmlns:a="http://schemas.openxmlformats.org/drawingml/2006/main">
            <a:off x="7600950" y="5334000"/>
            <a:ext cx="6286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A7B8D1"/>
                </a:solidFill>
                <a:latin typeface="DejaVu Sans"/>
                <a:ea typeface="DejaVu Sans"/>
                <a:cs typeface="DejaVu Sans"/>
              </a:defRPr>
            </a:defPPr>
            <a:lvl1pPr algn="ctr">
              <a:defRPr sz="1125" b="0">
                <a:solidFill>
                  <a:srgbClr val="A7B8D1"/>
                </a:solidFill>
                <a:latin typeface="DejaVu Sans"/>
                <a:ea typeface="DejaVu Sans"/>
                <a:cs typeface="DejaVu Sans"/>
              </a:defRPr>
            </a:lvl1pPr>
            <a:lvl2pPr algn="ctr">
              <a:defRPr sz="1125" b="0">
                <a:solidFill>
                  <a:srgbClr val="A7B8D1"/>
                </a:solidFill>
                <a:latin typeface="DejaVu Sans"/>
                <a:ea typeface="DejaVu Sans"/>
                <a:cs typeface="DejaVu Sans"/>
              </a:defRPr>
            </a:lvl2pPr>
            <a:lvl3pPr algn="ctr">
              <a:defRPr sz="1125" b="0">
                <a:solidFill>
                  <a:srgbClr val="A7B8D1"/>
                </a:solidFill>
                <a:latin typeface="DejaVu Sans"/>
                <a:ea typeface="DejaVu Sans"/>
                <a:cs typeface="DejaVu Sans"/>
              </a:defRPr>
            </a:lvl3pPr>
            <a:lvl4pPr algn="ctr">
              <a:defRPr sz="1125" b="0">
                <a:solidFill>
                  <a:srgbClr val="A7B8D1"/>
                </a:solidFill>
                <a:latin typeface="DejaVu Sans"/>
                <a:ea typeface="DejaVu Sans"/>
                <a:cs typeface="DejaVu Sans"/>
              </a:defRPr>
            </a:lvl4pPr>
            <a:lvl5pPr algn="ctr">
              <a:defRPr sz="1125" b="0">
                <a:solidFill>
                  <a:srgbClr val="A7B8D1"/>
                </a:solidFill>
                <a:latin typeface="DejaVu Sans"/>
                <a:ea typeface="DejaVu Sans"/>
                <a:cs typeface="DejaVu Sans"/>
              </a:defRPr>
            </a:lvl5pPr>
            <a:lvl6pPr algn="ctr">
              <a:defRPr sz="1125" b="0">
                <a:solidFill>
                  <a:srgbClr val="A7B8D1"/>
                </a:solidFill>
                <a:latin typeface="DejaVu Sans"/>
                <a:ea typeface="DejaVu Sans"/>
                <a:cs typeface="DejaVu Sans"/>
              </a:defRPr>
            </a:lvl6pPr>
            <a:lvl7pPr algn="ctr">
              <a:defRPr sz="1125" b="0">
                <a:solidFill>
                  <a:srgbClr val="A7B8D1"/>
                </a:solidFill>
                <a:latin typeface="DejaVu Sans"/>
                <a:ea typeface="DejaVu Sans"/>
                <a:cs typeface="DejaVu Sans"/>
              </a:defRPr>
            </a:lvl7pPr>
            <a:lvl8pPr algn="ctr">
              <a:defRPr sz="1125" b="0">
                <a:solidFill>
                  <a:srgbClr val="A7B8D1"/>
                </a:solidFill>
                <a:latin typeface="DejaVu Sans"/>
                <a:ea typeface="DejaVu Sans"/>
                <a:cs typeface="DejaVu Sans"/>
              </a:defRPr>
            </a:lvl8pPr>
            <a:lvl9pPr algn="ctr">
              <a:defRPr sz="1125" b="0">
                <a:solidFill>
                  <a:srgbClr val="A7B8D1"/>
                </a:solidFill>
                <a:latin typeface="DejaVu Sans"/>
                <a:ea typeface="DejaVu Sans"/>
                <a:cs typeface="DejaVu Sans"/>
              </a:defRPr>
            </a:lvl9pPr>
          </a:lstStyle>
          <a:p xmlns:a="http://schemas.openxmlformats.org/drawingml/2006/main">
            <a:pPr algn="ctr">
              <a:defRPr sz="1125" b="0">
                <a:solidFill>
                  <a:srgbClr val="A7B8D1"/>
                </a:solidFill>
                <a:latin typeface="DejaVu Sans"/>
                <a:ea typeface="DejaVu Sans"/>
                <a:cs typeface="DejaVu Sans"/>
              </a:defRPr>
            </a:pPr>
            <a:r>
              <a:rPr sz="1125" b="0">
                <a:solidFill>
                  <a:srgbClr val="A7B8D1"/>
                </a:solidFill>
                <a:latin typeface="DejaVu Sans"/>
                <a:ea typeface="DejaVu Sans"/>
                <a:cs typeface="DejaVu Sans"/>
              </a:rPr>
              <a:t>USES</a:t>
            </a:r>
          </a:p>
        </p:txBody>
      </p:sp>
    </p:spTree>
    <p:extLst>
      <p:ext uri="{BB962C8B-B14F-4D97-AF65-F5344CB8AC3E}">
        <p14:creationId xmlns:p14="http://schemas.microsoft.com/office/powerpoint/2010/main" val="1554161749"/>
      </p:ext>
    </p:extLst>
  </p:cSld>
</p:sld>
</file>

<file path=ppt/slides/slide3.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48FBA7A-70B8-441D-AEEB-9120845C2055}"/>
              </a:ext>
            </a:extLst>
          </p:cNvPr>
          <p:cNvSpPr>
            <a:spLocks xmlns:a="http://schemas.openxmlformats.org/drawingml/2006/main" noGrp="1"/>
          </p:cNvSpPr>
          <p:nvPr/>
        </p:nvSpPr>
        <p:spPr>
          <a:xfrm xmlns:a="http://schemas.openxmlformats.org/drawingml/2006/main">
            <a:off x="495300" y="295275"/>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75" b="1">
                <a:solidFill>
                  <a:srgbClr val="F2F5FC"/>
                </a:solidFill>
                <a:latin typeface="DejaVu Sans"/>
                <a:ea typeface="DejaVu Sans"/>
                <a:cs typeface="DejaVu Sans"/>
              </a:defRPr>
            </a:defPPr>
            <a:lvl1pPr>
              <a:defRPr sz="3375" b="1">
                <a:solidFill>
                  <a:srgbClr val="F2F5FC"/>
                </a:solidFill>
                <a:latin typeface="DejaVu Sans"/>
                <a:ea typeface="DejaVu Sans"/>
                <a:cs typeface="DejaVu Sans"/>
              </a:defRPr>
            </a:lvl1pPr>
            <a:lvl2pPr>
              <a:defRPr sz="3375" b="1">
                <a:solidFill>
                  <a:srgbClr val="F2F5FC"/>
                </a:solidFill>
                <a:latin typeface="DejaVu Sans"/>
                <a:ea typeface="DejaVu Sans"/>
                <a:cs typeface="DejaVu Sans"/>
              </a:defRPr>
            </a:lvl2pPr>
            <a:lvl3pPr>
              <a:defRPr sz="3375" b="1">
                <a:solidFill>
                  <a:srgbClr val="F2F5FC"/>
                </a:solidFill>
                <a:latin typeface="DejaVu Sans"/>
                <a:ea typeface="DejaVu Sans"/>
                <a:cs typeface="DejaVu Sans"/>
              </a:defRPr>
            </a:lvl3pPr>
            <a:lvl4pPr>
              <a:defRPr sz="3375" b="1">
                <a:solidFill>
                  <a:srgbClr val="F2F5FC"/>
                </a:solidFill>
                <a:latin typeface="DejaVu Sans"/>
                <a:ea typeface="DejaVu Sans"/>
                <a:cs typeface="DejaVu Sans"/>
              </a:defRPr>
            </a:lvl4pPr>
            <a:lvl5pPr>
              <a:defRPr sz="3375" b="1">
                <a:solidFill>
                  <a:srgbClr val="F2F5FC"/>
                </a:solidFill>
                <a:latin typeface="DejaVu Sans"/>
                <a:ea typeface="DejaVu Sans"/>
                <a:cs typeface="DejaVu Sans"/>
              </a:defRPr>
            </a:lvl5pPr>
            <a:lvl6pPr>
              <a:defRPr sz="3375" b="1">
                <a:solidFill>
                  <a:srgbClr val="F2F5FC"/>
                </a:solidFill>
                <a:latin typeface="DejaVu Sans"/>
                <a:ea typeface="DejaVu Sans"/>
                <a:cs typeface="DejaVu Sans"/>
              </a:defRPr>
            </a:lvl6pPr>
            <a:lvl7pPr>
              <a:defRPr sz="3375" b="1">
                <a:solidFill>
                  <a:srgbClr val="F2F5FC"/>
                </a:solidFill>
                <a:latin typeface="DejaVu Sans"/>
                <a:ea typeface="DejaVu Sans"/>
                <a:cs typeface="DejaVu Sans"/>
              </a:defRPr>
            </a:lvl7pPr>
            <a:lvl8pPr>
              <a:defRPr sz="3375" b="1">
                <a:solidFill>
                  <a:srgbClr val="F2F5FC"/>
                </a:solidFill>
                <a:latin typeface="DejaVu Sans"/>
                <a:ea typeface="DejaVu Sans"/>
                <a:cs typeface="DejaVu Sans"/>
              </a:defRPr>
            </a:lvl8pPr>
            <a:lvl9pPr>
              <a:defRPr sz="3375" b="1">
                <a:solidFill>
                  <a:srgbClr val="F2F5FC"/>
                </a:solidFill>
                <a:latin typeface="DejaVu Sans"/>
                <a:ea typeface="DejaVu Sans"/>
                <a:cs typeface="DejaVu Sans"/>
              </a:defRPr>
            </a:lvl9pPr>
          </a:lstStyle>
          <a:p xmlns:a="http://schemas.openxmlformats.org/drawingml/2006/main">
            <a:pPr>
              <a:defRPr sz="3375" b="1">
                <a:solidFill>
                  <a:srgbClr val="F2F5FC"/>
                </a:solidFill>
                <a:latin typeface="DejaVu Sans"/>
                <a:ea typeface="DejaVu Sans"/>
                <a:cs typeface="DejaVu Sans"/>
              </a:defRPr>
            </a:pPr>
            <a:r>
              <a:rPr sz="3375" b="1">
                <a:solidFill>
                  <a:srgbClr val="F2F5FC"/>
                </a:solidFill>
                <a:latin typeface="DejaVu Sans"/>
                <a:ea typeface="DejaVu Sans"/>
                <a:cs typeface="DejaVu Sans"/>
              </a:rPr>
              <a:t>Bimodal expertise profile</a:t>
            </a:r>
          </a:p>
        </p:txBody>
      </p:sp>
      <p:sp>
        <p:nvSpPr>
          <p:cNvPr id="2" name="">
            <a:extLst xmlns:a="http://schemas.openxmlformats.org/drawingml/2006/main">
              <a:ext uri="{FF2B5EF4-FFF2-40B4-BE49-F238E27FC236}">
                <a16:creationId xmlns:a16="http://schemas.microsoft.com/office/drawing/2014/main" id="{D43C07A9-D1FE-4D69-A506-895AD525F91B}"/>
              </a:ext>
            </a:extLst>
          </p:cNvPr>
          <p:cNvSpPr>
            <a:spLocks xmlns:a="http://schemas.openxmlformats.org/drawingml/2006/main" noGrp="1"/>
          </p:cNvSpPr>
          <p:nvPr/>
        </p:nvSpPr>
        <p:spPr>
          <a:xfrm xmlns:a="http://schemas.openxmlformats.org/drawingml/2006/main">
            <a:off x="514350" y="9715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78DDD0"/>
                </a:solidFill>
                <a:latin typeface="DejaVu Sans"/>
                <a:ea typeface="DejaVu Sans"/>
                <a:cs typeface="DejaVu Sans"/>
              </a:defRPr>
            </a:defPPr>
            <a:lvl1pPr>
              <a:defRPr sz="1950" b="0">
                <a:solidFill>
                  <a:srgbClr val="78DDD0"/>
                </a:solidFill>
                <a:latin typeface="DejaVu Sans"/>
                <a:ea typeface="DejaVu Sans"/>
                <a:cs typeface="DejaVu Sans"/>
              </a:defRPr>
            </a:lvl1pPr>
            <a:lvl2pPr>
              <a:defRPr sz="1950" b="0">
                <a:solidFill>
                  <a:srgbClr val="78DDD0"/>
                </a:solidFill>
                <a:latin typeface="DejaVu Sans"/>
                <a:ea typeface="DejaVu Sans"/>
                <a:cs typeface="DejaVu Sans"/>
              </a:defRPr>
            </a:lvl2pPr>
            <a:lvl3pPr>
              <a:defRPr sz="1950" b="0">
                <a:solidFill>
                  <a:srgbClr val="78DDD0"/>
                </a:solidFill>
                <a:latin typeface="DejaVu Sans"/>
                <a:ea typeface="DejaVu Sans"/>
                <a:cs typeface="DejaVu Sans"/>
              </a:defRPr>
            </a:lvl3pPr>
            <a:lvl4pPr>
              <a:defRPr sz="1950" b="0">
                <a:solidFill>
                  <a:srgbClr val="78DDD0"/>
                </a:solidFill>
                <a:latin typeface="DejaVu Sans"/>
                <a:ea typeface="DejaVu Sans"/>
                <a:cs typeface="DejaVu Sans"/>
              </a:defRPr>
            </a:lvl4pPr>
            <a:lvl5pPr>
              <a:defRPr sz="1950" b="0">
                <a:solidFill>
                  <a:srgbClr val="78DDD0"/>
                </a:solidFill>
                <a:latin typeface="DejaVu Sans"/>
                <a:ea typeface="DejaVu Sans"/>
                <a:cs typeface="DejaVu Sans"/>
              </a:defRPr>
            </a:lvl5pPr>
            <a:lvl6pPr>
              <a:defRPr sz="1950" b="0">
                <a:solidFill>
                  <a:srgbClr val="78DDD0"/>
                </a:solidFill>
                <a:latin typeface="DejaVu Sans"/>
                <a:ea typeface="DejaVu Sans"/>
                <a:cs typeface="DejaVu Sans"/>
              </a:defRPr>
            </a:lvl6pPr>
            <a:lvl7pPr>
              <a:defRPr sz="1950" b="0">
                <a:solidFill>
                  <a:srgbClr val="78DDD0"/>
                </a:solidFill>
                <a:latin typeface="DejaVu Sans"/>
                <a:ea typeface="DejaVu Sans"/>
                <a:cs typeface="DejaVu Sans"/>
              </a:defRPr>
            </a:lvl7pPr>
            <a:lvl8pPr>
              <a:defRPr sz="1950" b="0">
                <a:solidFill>
                  <a:srgbClr val="78DDD0"/>
                </a:solidFill>
                <a:latin typeface="DejaVu Sans"/>
                <a:ea typeface="DejaVu Sans"/>
                <a:cs typeface="DejaVu Sans"/>
              </a:defRPr>
            </a:lvl8pPr>
            <a:lvl9pPr>
              <a:defRPr sz="1950" b="0">
                <a:solidFill>
                  <a:srgbClr val="78DDD0"/>
                </a:solidFill>
                <a:latin typeface="DejaVu Sans"/>
                <a:ea typeface="DejaVu Sans"/>
                <a:cs typeface="DejaVu Sans"/>
              </a:defRPr>
            </a:lvl9pPr>
          </a:lstStyle>
          <a:p xmlns:a="http://schemas.openxmlformats.org/drawingml/2006/main">
            <a:pPr>
              <a:defRPr sz="1950" b="0">
                <a:solidFill>
                  <a:srgbClr val="78DDD0"/>
                </a:solidFill>
                <a:latin typeface="DejaVu Sans"/>
                <a:ea typeface="DejaVu Sans"/>
                <a:cs typeface="DejaVu Sans"/>
              </a:defRPr>
            </a:pPr>
            <a:r>
              <a:rPr sz="1950" b="0">
                <a:solidFill>
                  <a:srgbClr val="78DDD0"/>
                </a:solidFill>
                <a:latin typeface="DejaVu Sans"/>
                <a:ea typeface="DejaVu Sans"/>
                <a:cs typeface="DejaVu Sans"/>
              </a:rPr>
              <a:t>Primary peak: Graph AI. Secondary peak: SFT and RL post-training.</a:t>
            </a:r>
          </a:p>
        </p:txBody>
      </p:sp>
      <p:sp>
        <p:nvSpPr>
          <p:cNvPr id="3" name="">
            <a:extLst xmlns:a="http://schemas.openxmlformats.org/drawingml/2006/main">
              <a:ext uri="{FF2B5EF4-FFF2-40B4-BE49-F238E27FC236}">
                <a16:creationId xmlns:a16="http://schemas.microsoft.com/office/drawing/2014/main" id="{B124C537-3047-4E43-A9BB-E9B8797FB0CB}"/>
              </a:ext>
            </a:extLst>
          </p:cNvPr>
          <p:cNvSpPr>
            <a:spLocks xmlns:a="http://schemas.openxmlformats.org/drawingml/2006/main" noGrp="1"/>
          </p:cNvSpPr>
          <p:nvPr/>
        </p:nvSpPr>
        <p:spPr>
          <a:xfrm xmlns:a="http://schemas.openxmlformats.org/drawingml/2006/main">
            <a:off x="666750" y="1571625"/>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A6B5C9"/>
                </a:solidFill>
                <a:latin typeface="DejaVu Sans"/>
                <a:ea typeface="DejaVu Sans"/>
                <a:cs typeface="DejaVu Sans"/>
              </a:defRPr>
            </a:defPPr>
            <a:lvl1pPr>
              <a:defRPr sz="1350" b="0">
                <a:solidFill>
                  <a:srgbClr val="A6B5C9"/>
                </a:solidFill>
                <a:latin typeface="DejaVu Sans"/>
                <a:ea typeface="DejaVu Sans"/>
                <a:cs typeface="DejaVu Sans"/>
              </a:defRPr>
            </a:lvl1pPr>
            <a:lvl2pPr>
              <a:defRPr sz="1350" b="0">
                <a:solidFill>
                  <a:srgbClr val="A6B5C9"/>
                </a:solidFill>
                <a:latin typeface="DejaVu Sans"/>
                <a:ea typeface="DejaVu Sans"/>
                <a:cs typeface="DejaVu Sans"/>
              </a:defRPr>
            </a:lvl2pPr>
            <a:lvl3pPr>
              <a:defRPr sz="1350" b="0">
                <a:solidFill>
                  <a:srgbClr val="A6B5C9"/>
                </a:solidFill>
                <a:latin typeface="DejaVu Sans"/>
                <a:ea typeface="DejaVu Sans"/>
                <a:cs typeface="DejaVu Sans"/>
              </a:defRPr>
            </a:lvl3pPr>
            <a:lvl4pPr>
              <a:defRPr sz="1350" b="0">
                <a:solidFill>
                  <a:srgbClr val="A6B5C9"/>
                </a:solidFill>
                <a:latin typeface="DejaVu Sans"/>
                <a:ea typeface="DejaVu Sans"/>
                <a:cs typeface="DejaVu Sans"/>
              </a:defRPr>
            </a:lvl4pPr>
            <a:lvl5pPr>
              <a:defRPr sz="1350" b="0">
                <a:solidFill>
                  <a:srgbClr val="A6B5C9"/>
                </a:solidFill>
                <a:latin typeface="DejaVu Sans"/>
                <a:ea typeface="DejaVu Sans"/>
                <a:cs typeface="DejaVu Sans"/>
              </a:defRPr>
            </a:lvl5pPr>
            <a:lvl6pPr>
              <a:defRPr sz="1350" b="0">
                <a:solidFill>
                  <a:srgbClr val="A6B5C9"/>
                </a:solidFill>
                <a:latin typeface="DejaVu Sans"/>
                <a:ea typeface="DejaVu Sans"/>
                <a:cs typeface="DejaVu Sans"/>
              </a:defRPr>
            </a:lvl6pPr>
            <a:lvl7pPr>
              <a:defRPr sz="1350" b="0">
                <a:solidFill>
                  <a:srgbClr val="A6B5C9"/>
                </a:solidFill>
                <a:latin typeface="DejaVu Sans"/>
                <a:ea typeface="DejaVu Sans"/>
                <a:cs typeface="DejaVu Sans"/>
              </a:defRPr>
            </a:lvl7pPr>
            <a:lvl8pPr>
              <a:defRPr sz="1350" b="0">
                <a:solidFill>
                  <a:srgbClr val="A6B5C9"/>
                </a:solidFill>
                <a:latin typeface="DejaVu Sans"/>
                <a:ea typeface="DejaVu Sans"/>
                <a:cs typeface="DejaVu Sans"/>
              </a:defRPr>
            </a:lvl8pPr>
            <a:lvl9pPr>
              <a:defRPr sz="1350" b="0">
                <a:solidFill>
                  <a:srgbClr val="A6B5C9"/>
                </a:solidFill>
                <a:latin typeface="DejaVu Sans"/>
                <a:ea typeface="DejaVu Sans"/>
                <a:cs typeface="DejaVu Sans"/>
              </a:defRPr>
            </a:lvl9pPr>
          </a:lstStyle>
          <a:p xmlns:a="http://schemas.openxmlformats.org/drawingml/2006/main">
            <a:pPr>
              <a:defRPr sz="1350" b="0">
                <a:solidFill>
                  <a:srgbClr val="A6B5C9"/>
                </a:solidFill>
                <a:latin typeface="DejaVu Sans"/>
                <a:ea typeface="DejaVu Sans"/>
                <a:cs typeface="DejaVu Sans"/>
              </a:defRPr>
            </a:pPr>
            <a:r>
              <a:rPr sz="1350" b="0">
                <a:solidFill>
                  <a:srgbClr val="A6B5C9"/>
                </a:solidFill>
                <a:latin typeface="DejaVu Sans"/>
                <a:ea typeface="DejaVu Sans"/>
                <a:cs typeface="DejaVu Sans"/>
              </a:rPr>
              <a:t>RELATIVE DEPTH &amp; HANDS-ON FOCUS</a:t>
            </a:r>
          </a:p>
        </p:txBody>
      </p:sp>
      <p:graphicFrame>
        <p:nvGraphicFramePr>
          <p:cNvPr id="4" name="Chart">
            <a:extLst xmlns:a="http://schemas.openxmlformats.org/drawingml/2006/main">
              <a:ext uri="{FF2B5EF4-FFF2-40B4-BE49-F238E27FC236}">
                <a16:creationId xmlns:a16="http://schemas.microsoft.com/office/drawing/2014/main" id="{7516F6E9-E7DC-494A-9657-0E65B4F359E5}"/>
              </a:ext>
            </a:extLst>
          </p:cNvPr>
          <p:cNvGraphicFramePr/>
          <p:nvPr/>
        </p:nvGraphicFramePr>
        <p:xfrm>
          <a:off xmlns:a="http://schemas.openxmlformats.org/drawingml/2006/main" x="571500" y="1905000"/>
          <a:ext xmlns:a="http://schemas.openxmlformats.org/drawingml/2006/main" cx="10953750" cy="2714625"/>
        </p:xfrm>
        <a:graphic xmlns:a="http://schemas.openxmlformats.org/drawingml/2006/main">
          <a:graphicData uri="http://schemas.openxmlformats.org/drawingml/2006/chart">
            <c:chart xmlns:r="http://schemas.openxmlformats.org/officeDocument/2006/relationships" xmlns:c="http://schemas.openxmlformats.org/drawingml/2006/chart" r:id="R1d2c83979f3e402e"/>
          </a:graphicData>
        </a:graphic>
      </p:graphicFrame>
      <p:sp>
        <p:nvSpPr>
          <p:cNvPr id="5" name="">
            <a:extLst xmlns:a="http://schemas.openxmlformats.org/drawingml/2006/main">
              <a:ext uri="{FF2B5EF4-FFF2-40B4-BE49-F238E27FC236}">
                <a16:creationId xmlns:a16="http://schemas.microsoft.com/office/drawing/2014/main" id="{DC881AA1-7EE7-484F-81CC-8F73E41A203E}"/>
              </a:ext>
            </a:extLst>
          </p:cNvPr>
          <p:cNvSpPr>
            <a:spLocks xmlns:a="http://schemas.openxmlformats.org/drawingml/2006/main" noGrp="1"/>
          </p:cNvSpPr>
          <p:nvPr/>
        </p:nvSpPr>
        <p:spPr>
          <a:xfrm xmlns:a="http://schemas.openxmlformats.org/drawingml/2006/main">
            <a:off x="54292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Optimization</a:t>
            </a:r>
          </a:p>
        </p:txBody>
      </p:sp>
      <p:sp>
        <p:nvSpPr>
          <p:cNvPr id="6" name="">
            <a:extLst xmlns:a="http://schemas.openxmlformats.org/drawingml/2006/main">
              <a:ext uri="{FF2B5EF4-FFF2-40B4-BE49-F238E27FC236}">
                <a16:creationId xmlns:a16="http://schemas.microsoft.com/office/drawing/2014/main" id="{A574CBA1-A466-402F-B35A-ACE304263228}"/>
              </a:ext>
            </a:extLst>
          </p:cNvPr>
          <p:cNvSpPr>
            <a:spLocks xmlns:a="http://schemas.openxmlformats.org/drawingml/2006/main" noGrp="1"/>
          </p:cNvSpPr>
          <p:nvPr/>
        </p:nvSpPr>
        <p:spPr>
          <a:xfrm xmlns:a="http://schemas.openxmlformats.org/drawingml/2006/main">
            <a:off x="18573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Graph AI</a:t>
            </a:r>
          </a:p>
        </p:txBody>
      </p:sp>
      <p:sp>
        <p:nvSpPr>
          <p:cNvPr id="7" name="">
            <a:extLst xmlns:a="http://schemas.openxmlformats.org/drawingml/2006/main">
              <a:ext uri="{FF2B5EF4-FFF2-40B4-BE49-F238E27FC236}">
                <a16:creationId xmlns:a16="http://schemas.microsoft.com/office/drawing/2014/main" id="{BB55AD43-28E9-49BE-9B95-79660385DB11}"/>
              </a:ext>
            </a:extLst>
          </p:cNvPr>
          <p:cNvSpPr>
            <a:spLocks xmlns:a="http://schemas.openxmlformats.org/drawingml/2006/main" noGrp="1"/>
          </p:cNvSpPr>
          <p:nvPr/>
        </p:nvSpPr>
        <p:spPr>
          <a:xfrm xmlns:a="http://schemas.openxmlformats.org/drawingml/2006/main">
            <a:off x="44862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Post-training</a:t>
            </a:r>
          </a:p>
        </p:txBody>
      </p:sp>
      <p:sp>
        <p:nvSpPr>
          <p:cNvPr id="8" name="">
            <a:extLst xmlns:a="http://schemas.openxmlformats.org/drawingml/2006/main">
              <a:ext uri="{FF2B5EF4-FFF2-40B4-BE49-F238E27FC236}">
                <a16:creationId xmlns:a16="http://schemas.microsoft.com/office/drawing/2014/main" id="{3510EBA4-2C0E-4D13-A749-E03EC26C2E20}"/>
              </a:ext>
            </a:extLst>
          </p:cNvPr>
          <p:cNvSpPr>
            <a:spLocks xmlns:a="http://schemas.openxmlformats.org/drawingml/2006/main" noGrp="1"/>
          </p:cNvSpPr>
          <p:nvPr/>
        </p:nvSpPr>
        <p:spPr>
          <a:xfrm xmlns:a="http://schemas.openxmlformats.org/drawingml/2006/main">
            <a:off x="580072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Multimodal</a:t>
            </a:r>
          </a:p>
        </p:txBody>
      </p:sp>
      <p:sp>
        <p:nvSpPr>
          <p:cNvPr id="9" name="">
            <a:extLst xmlns:a="http://schemas.openxmlformats.org/drawingml/2006/main">
              <a:ext uri="{FF2B5EF4-FFF2-40B4-BE49-F238E27FC236}">
                <a16:creationId xmlns:a16="http://schemas.microsoft.com/office/drawing/2014/main" id="{A5A30C89-183A-45E0-B6B3-FC46BA532C70}"/>
              </a:ext>
            </a:extLst>
          </p:cNvPr>
          <p:cNvSpPr>
            <a:spLocks xmlns:a="http://schemas.openxmlformats.org/drawingml/2006/main" noGrp="1"/>
          </p:cNvSpPr>
          <p:nvPr/>
        </p:nvSpPr>
        <p:spPr>
          <a:xfrm xmlns:a="http://schemas.openxmlformats.org/drawingml/2006/main">
            <a:off x="71151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Classical ML</a:t>
            </a:r>
          </a:p>
        </p:txBody>
      </p:sp>
      <p:sp>
        <p:nvSpPr>
          <p:cNvPr id="10" name="">
            <a:extLst xmlns:a="http://schemas.openxmlformats.org/drawingml/2006/main">
              <a:ext uri="{FF2B5EF4-FFF2-40B4-BE49-F238E27FC236}">
                <a16:creationId xmlns:a16="http://schemas.microsoft.com/office/drawing/2014/main" id="{83F30B36-5510-4D7A-B6FE-C56326BE51A0}"/>
              </a:ext>
            </a:extLst>
          </p:cNvPr>
          <p:cNvSpPr>
            <a:spLocks xmlns:a="http://schemas.openxmlformats.org/drawingml/2006/main" noGrp="1"/>
          </p:cNvSpPr>
          <p:nvPr/>
        </p:nvSpPr>
        <p:spPr>
          <a:xfrm xmlns:a="http://schemas.openxmlformats.org/drawingml/2006/main">
            <a:off x="97440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Agentic AI</a:t>
            </a:r>
          </a:p>
        </p:txBody>
      </p:sp>
      <p:sp>
        <p:nvSpPr>
          <p:cNvPr id="11" name="">
            <a:extLst xmlns:a="http://schemas.openxmlformats.org/drawingml/2006/main">
              <a:ext uri="{FF2B5EF4-FFF2-40B4-BE49-F238E27FC236}">
                <a16:creationId xmlns:a16="http://schemas.microsoft.com/office/drawing/2014/main" id="{38644F66-5FA9-42E3-B060-BE4618EE8D38}"/>
              </a:ext>
            </a:extLst>
          </p:cNvPr>
          <p:cNvSpPr>
            <a:spLocks xmlns:a="http://schemas.openxmlformats.org/drawingml/2006/main" noGrp="1"/>
          </p:cNvSpPr>
          <p:nvPr/>
        </p:nvSpPr>
        <p:spPr>
          <a:xfrm xmlns:a="http://schemas.openxmlformats.org/drawingml/2006/main">
            <a:off x="514350" y="4695825"/>
            <a:ext cx="11049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F2F5FC"/>
                </a:solidFill>
                <a:latin typeface="DejaVu Sans"/>
                <a:ea typeface="DejaVu Sans"/>
                <a:cs typeface="DejaVu Sans"/>
              </a:defRPr>
            </a:defPPr>
            <a:lvl1pPr>
              <a:defRPr sz="2025" b="1">
                <a:solidFill>
                  <a:srgbClr val="F2F5FC"/>
                </a:solidFill>
                <a:latin typeface="DejaVu Sans"/>
                <a:ea typeface="DejaVu Sans"/>
                <a:cs typeface="DejaVu Sans"/>
              </a:defRPr>
            </a:lvl1pPr>
            <a:lvl2pPr>
              <a:defRPr sz="2025" b="1">
                <a:solidFill>
                  <a:srgbClr val="F2F5FC"/>
                </a:solidFill>
                <a:latin typeface="DejaVu Sans"/>
                <a:ea typeface="DejaVu Sans"/>
                <a:cs typeface="DejaVu Sans"/>
              </a:defRPr>
            </a:lvl2pPr>
            <a:lvl3pPr>
              <a:defRPr sz="2025" b="1">
                <a:solidFill>
                  <a:srgbClr val="F2F5FC"/>
                </a:solidFill>
                <a:latin typeface="DejaVu Sans"/>
                <a:ea typeface="DejaVu Sans"/>
                <a:cs typeface="DejaVu Sans"/>
              </a:defRPr>
            </a:lvl3pPr>
            <a:lvl4pPr>
              <a:defRPr sz="2025" b="1">
                <a:solidFill>
                  <a:srgbClr val="F2F5FC"/>
                </a:solidFill>
                <a:latin typeface="DejaVu Sans"/>
                <a:ea typeface="DejaVu Sans"/>
                <a:cs typeface="DejaVu Sans"/>
              </a:defRPr>
            </a:lvl4pPr>
            <a:lvl5pPr>
              <a:defRPr sz="2025" b="1">
                <a:solidFill>
                  <a:srgbClr val="F2F5FC"/>
                </a:solidFill>
                <a:latin typeface="DejaVu Sans"/>
                <a:ea typeface="DejaVu Sans"/>
                <a:cs typeface="DejaVu Sans"/>
              </a:defRPr>
            </a:lvl5pPr>
            <a:lvl6pPr>
              <a:defRPr sz="2025" b="1">
                <a:solidFill>
                  <a:srgbClr val="F2F5FC"/>
                </a:solidFill>
                <a:latin typeface="DejaVu Sans"/>
                <a:ea typeface="DejaVu Sans"/>
                <a:cs typeface="DejaVu Sans"/>
              </a:defRPr>
            </a:lvl6pPr>
            <a:lvl7pPr>
              <a:defRPr sz="2025" b="1">
                <a:solidFill>
                  <a:srgbClr val="F2F5FC"/>
                </a:solidFill>
                <a:latin typeface="DejaVu Sans"/>
                <a:ea typeface="DejaVu Sans"/>
                <a:cs typeface="DejaVu Sans"/>
              </a:defRPr>
            </a:lvl7pPr>
            <a:lvl8pPr>
              <a:defRPr sz="2025" b="1">
                <a:solidFill>
                  <a:srgbClr val="F2F5FC"/>
                </a:solidFill>
                <a:latin typeface="DejaVu Sans"/>
                <a:ea typeface="DejaVu Sans"/>
                <a:cs typeface="DejaVu Sans"/>
              </a:defRPr>
            </a:lvl8pPr>
            <a:lvl9pPr>
              <a:defRPr sz="2025" b="1">
                <a:solidFill>
                  <a:srgbClr val="F2F5FC"/>
                </a:solidFill>
                <a:latin typeface="DejaVu Sans"/>
                <a:ea typeface="DejaVu Sans"/>
                <a:cs typeface="DejaVu Sans"/>
              </a:defRPr>
            </a:lvl9pPr>
          </a:lstStyle>
          <a:p xmlns:a="http://schemas.openxmlformats.org/drawingml/2006/main">
            <a:pPr>
              <a:defRPr sz="2025" b="1">
                <a:solidFill>
                  <a:srgbClr val="F2F5FC"/>
                </a:solidFill>
                <a:latin typeface="DejaVu Sans"/>
                <a:ea typeface="DejaVu Sans"/>
                <a:cs typeface="DejaVu Sans"/>
              </a:defRPr>
            </a:pPr>
            <a:r>
              <a:rPr sz="2025" b="1">
                <a:solidFill>
                  <a:srgbClr val="F2F5FC"/>
                </a:solidFill>
                <a:latin typeface="DejaVu Sans"/>
                <a:ea typeface="DejaVu Sans"/>
                <a:cs typeface="DejaVu Sans"/>
              </a:rPr>
              <a:t>Two deep specialisations with broad supporting skills</a:t>
            </a:r>
          </a:p>
        </p:txBody>
      </p:sp>
      <p:sp>
        <p:nvSpPr>
          <p:cNvPr id="12" name="">
            <a:extLst xmlns:a="http://schemas.openxmlformats.org/drawingml/2006/main">
              <a:ext uri="{FF2B5EF4-FFF2-40B4-BE49-F238E27FC236}">
                <a16:creationId xmlns:a16="http://schemas.microsoft.com/office/drawing/2014/main" id="{1372357F-6271-4AEC-AC84-C026D707A706}"/>
              </a:ext>
            </a:extLst>
          </p:cNvPr>
          <p:cNvSpPr>
            <a:spLocks xmlns:a="http://schemas.openxmlformats.org/drawingml/2006/main" noGrp="1"/>
          </p:cNvSpPr>
          <p:nvPr/>
        </p:nvSpPr>
        <p:spPr>
          <a:xfrm xmlns:a="http://schemas.openxmlformats.org/drawingml/2006/main">
            <a:off x="51435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Optimization</a:t>
            </a:r>
          </a:p>
        </p:txBody>
      </p:sp>
      <p:sp>
        <p:nvSpPr>
          <p:cNvPr id="13" name="">
            <a:extLst xmlns:a="http://schemas.openxmlformats.org/drawingml/2006/main">
              <a:ext uri="{FF2B5EF4-FFF2-40B4-BE49-F238E27FC236}">
                <a16:creationId xmlns:a16="http://schemas.microsoft.com/office/drawing/2014/main" id="{048A28B8-E533-40A3-B3A1-76DDB8CBD684}"/>
              </a:ext>
            </a:extLst>
          </p:cNvPr>
          <p:cNvSpPr>
            <a:spLocks xmlns:a="http://schemas.openxmlformats.org/drawingml/2006/main" noGrp="1"/>
          </p:cNvSpPr>
          <p:nvPr/>
        </p:nvSpPr>
        <p:spPr>
          <a:xfrm xmlns:a="http://schemas.openxmlformats.org/drawingml/2006/main">
            <a:off x="51435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Decision variables</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Objectives + constraints</a:t>
            </a:r>
          </a:p>
        </p:txBody>
      </p:sp>
      <p:sp>
        <p:nvSpPr>
          <p:cNvPr id="14" name="">
            <a:extLst xmlns:a="http://schemas.openxmlformats.org/drawingml/2006/main">
              <a:ext uri="{FF2B5EF4-FFF2-40B4-BE49-F238E27FC236}">
                <a16:creationId xmlns:a16="http://schemas.microsoft.com/office/drawing/2014/main" id="{B68A8484-1E27-4812-BD9C-65851C6026A2}"/>
              </a:ext>
            </a:extLst>
          </p:cNvPr>
          <p:cNvSpPr>
            <a:spLocks xmlns:a="http://schemas.openxmlformats.org/drawingml/2006/main" noGrp="1"/>
          </p:cNvSpPr>
          <p:nvPr/>
        </p:nvSpPr>
        <p:spPr>
          <a:xfrm xmlns:a="http://schemas.openxmlformats.org/drawingml/2006/main">
            <a:off x="239077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Graph AI</a:t>
            </a:r>
          </a:p>
        </p:txBody>
      </p:sp>
      <p:sp>
        <p:nvSpPr>
          <p:cNvPr id="15" name="">
            <a:extLst xmlns:a="http://schemas.openxmlformats.org/drawingml/2006/main">
              <a:ext uri="{FF2B5EF4-FFF2-40B4-BE49-F238E27FC236}">
                <a16:creationId xmlns:a16="http://schemas.microsoft.com/office/drawing/2014/main" id="{5158275B-777B-461D-8F02-8EB4E090B388}"/>
              </a:ext>
            </a:extLst>
          </p:cNvPr>
          <p:cNvSpPr>
            <a:spLocks xmlns:a="http://schemas.openxmlformats.org/drawingml/2006/main" noGrp="1"/>
          </p:cNvSpPr>
          <p:nvPr/>
        </p:nvSpPr>
        <p:spPr>
          <a:xfrm xmlns:a="http://schemas.openxmlformats.org/drawingml/2006/main">
            <a:off x="239077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Relational structure</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Topology + neighborhoods</a:t>
            </a:r>
          </a:p>
        </p:txBody>
      </p:sp>
      <p:sp>
        <p:nvSpPr>
          <p:cNvPr id="16" name="">
            <a:extLst xmlns:a="http://schemas.openxmlformats.org/drawingml/2006/main">
              <a:ext uri="{FF2B5EF4-FFF2-40B4-BE49-F238E27FC236}">
                <a16:creationId xmlns:a16="http://schemas.microsoft.com/office/drawing/2014/main" id="{D2327348-C84E-4167-A42D-75647266E757}"/>
              </a:ext>
            </a:extLst>
          </p:cNvPr>
          <p:cNvSpPr>
            <a:spLocks xmlns:a="http://schemas.openxmlformats.org/drawingml/2006/main" noGrp="1"/>
          </p:cNvSpPr>
          <p:nvPr/>
        </p:nvSpPr>
        <p:spPr>
          <a:xfrm xmlns:a="http://schemas.openxmlformats.org/drawingml/2006/main">
            <a:off x="426720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Post-training</a:t>
            </a:r>
          </a:p>
        </p:txBody>
      </p:sp>
      <p:sp>
        <p:nvSpPr>
          <p:cNvPr id="17" name="">
            <a:extLst xmlns:a="http://schemas.openxmlformats.org/drawingml/2006/main">
              <a:ext uri="{FF2B5EF4-FFF2-40B4-BE49-F238E27FC236}">
                <a16:creationId xmlns:a16="http://schemas.microsoft.com/office/drawing/2014/main" id="{6E85C503-1641-4FE1-BBE5-3B34779CA413}"/>
              </a:ext>
            </a:extLst>
          </p:cNvPr>
          <p:cNvSpPr>
            <a:spLocks xmlns:a="http://schemas.openxmlformats.org/drawingml/2006/main" noGrp="1"/>
          </p:cNvSpPr>
          <p:nvPr/>
        </p:nvSpPr>
        <p:spPr>
          <a:xfrm xmlns:a="http://schemas.openxmlformats.org/drawingml/2006/main">
            <a:off x="426720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Model adaptation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SFT + reward / preference</a:t>
            </a:r>
          </a:p>
        </p:txBody>
      </p:sp>
      <p:sp>
        <p:nvSpPr>
          <p:cNvPr id="18" name="">
            <a:extLst xmlns:a="http://schemas.openxmlformats.org/drawingml/2006/main">
              <a:ext uri="{FF2B5EF4-FFF2-40B4-BE49-F238E27FC236}">
                <a16:creationId xmlns:a16="http://schemas.microsoft.com/office/drawing/2014/main" id="{2FCE7240-8907-46D8-B052-EE6EB85F09C2}"/>
              </a:ext>
            </a:extLst>
          </p:cNvPr>
          <p:cNvSpPr>
            <a:spLocks xmlns:a="http://schemas.openxmlformats.org/drawingml/2006/main" noGrp="1"/>
          </p:cNvSpPr>
          <p:nvPr/>
        </p:nvSpPr>
        <p:spPr>
          <a:xfrm xmlns:a="http://schemas.openxmlformats.org/drawingml/2006/main">
            <a:off x="614362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Multimodal</a:t>
            </a:r>
          </a:p>
        </p:txBody>
      </p:sp>
      <p:sp>
        <p:nvSpPr>
          <p:cNvPr id="19" name="">
            <a:extLst xmlns:a="http://schemas.openxmlformats.org/drawingml/2006/main">
              <a:ext uri="{FF2B5EF4-FFF2-40B4-BE49-F238E27FC236}">
                <a16:creationId xmlns:a16="http://schemas.microsoft.com/office/drawing/2014/main" id="{A43A5E68-EF2A-4DC7-BB3D-7AE3935542FE}"/>
              </a:ext>
            </a:extLst>
          </p:cNvPr>
          <p:cNvSpPr>
            <a:spLocks xmlns:a="http://schemas.openxmlformats.org/drawingml/2006/main" noGrp="1"/>
          </p:cNvSpPr>
          <p:nvPr/>
        </p:nvSpPr>
        <p:spPr>
          <a:xfrm xmlns:a="http://schemas.openxmlformats.org/drawingml/2006/main">
            <a:off x="614362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Input representation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Image + text alignment</a:t>
            </a:r>
          </a:p>
        </p:txBody>
      </p:sp>
      <p:sp>
        <p:nvSpPr>
          <p:cNvPr id="20" name="">
            <a:extLst xmlns:a="http://schemas.openxmlformats.org/drawingml/2006/main">
              <a:ext uri="{FF2B5EF4-FFF2-40B4-BE49-F238E27FC236}">
                <a16:creationId xmlns:a16="http://schemas.microsoft.com/office/drawing/2014/main" id="{AF78D484-69E2-45D7-888C-AEFDA44B6294}"/>
              </a:ext>
            </a:extLst>
          </p:cNvPr>
          <p:cNvSpPr>
            <a:spLocks xmlns:a="http://schemas.openxmlformats.org/drawingml/2006/main" noGrp="1"/>
          </p:cNvSpPr>
          <p:nvPr/>
        </p:nvSpPr>
        <p:spPr>
          <a:xfrm xmlns:a="http://schemas.openxmlformats.org/drawingml/2006/main">
            <a:off x="802005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Classical ML</a:t>
            </a:r>
          </a:p>
        </p:txBody>
      </p:sp>
      <p:sp>
        <p:nvSpPr>
          <p:cNvPr id="21" name="">
            <a:extLst xmlns:a="http://schemas.openxmlformats.org/drawingml/2006/main">
              <a:ext uri="{FF2B5EF4-FFF2-40B4-BE49-F238E27FC236}">
                <a16:creationId xmlns:a16="http://schemas.microsoft.com/office/drawing/2014/main" id="{C86F2318-2CA2-4D0B-8DE3-7BEBA0C6B094}"/>
              </a:ext>
            </a:extLst>
          </p:cNvPr>
          <p:cNvSpPr>
            <a:spLocks xmlns:a="http://schemas.openxmlformats.org/drawingml/2006/main" noGrp="1"/>
          </p:cNvSpPr>
          <p:nvPr/>
        </p:nvSpPr>
        <p:spPr>
          <a:xfrm xmlns:a="http://schemas.openxmlformats.org/drawingml/2006/main">
            <a:off x="802005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Statistical prediction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Tabular + temporal signals</a:t>
            </a:r>
          </a:p>
        </p:txBody>
      </p:sp>
      <p:sp>
        <p:nvSpPr>
          <p:cNvPr id="22" name="">
            <a:extLst xmlns:a="http://schemas.openxmlformats.org/drawingml/2006/main">
              <a:ext uri="{FF2B5EF4-FFF2-40B4-BE49-F238E27FC236}">
                <a16:creationId xmlns:a16="http://schemas.microsoft.com/office/drawing/2014/main" id="{5637C1FE-A918-419D-849A-11E6FC923E94}"/>
              </a:ext>
            </a:extLst>
          </p:cNvPr>
          <p:cNvSpPr>
            <a:spLocks xmlns:a="http://schemas.openxmlformats.org/drawingml/2006/main" noGrp="1"/>
          </p:cNvSpPr>
          <p:nvPr/>
        </p:nvSpPr>
        <p:spPr>
          <a:xfrm xmlns:a="http://schemas.openxmlformats.org/drawingml/2006/main">
            <a:off x="989647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Agentic AI</a:t>
            </a:r>
          </a:p>
        </p:txBody>
      </p:sp>
      <p:sp>
        <p:nvSpPr>
          <p:cNvPr id="23" name="">
            <a:extLst xmlns:a="http://schemas.openxmlformats.org/drawingml/2006/main">
              <a:ext uri="{FF2B5EF4-FFF2-40B4-BE49-F238E27FC236}">
                <a16:creationId xmlns:a16="http://schemas.microsoft.com/office/drawing/2014/main" id="{83C51A9F-2527-46EB-98DE-91E257B92699}"/>
              </a:ext>
            </a:extLst>
          </p:cNvPr>
          <p:cNvSpPr>
            <a:spLocks xmlns:a="http://schemas.openxmlformats.org/drawingml/2006/main" noGrp="1"/>
          </p:cNvSpPr>
          <p:nvPr/>
        </p:nvSpPr>
        <p:spPr>
          <a:xfrm xmlns:a="http://schemas.openxmlformats.org/drawingml/2006/main">
            <a:off x="989647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Workflow control</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Tools + state + feedback</a:t>
            </a:r>
          </a:p>
        </p:txBody>
      </p:sp>
      <p:sp>
        <p:nvSpPr>
          <p:cNvPr id="24" name="">
            <a:extLst xmlns:a="http://schemas.openxmlformats.org/drawingml/2006/main">
              <a:ext uri="{FF2B5EF4-FFF2-40B4-BE49-F238E27FC236}">
                <a16:creationId xmlns:a16="http://schemas.microsoft.com/office/drawing/2014/main" id="{DF357F52-73C7-4CE8-B419-2AA45785234C}"/>
              </a:ext>
            </a:extLst>
          </p:cNvPr>
          <p:cNvSpPr>
            <a:spLocks xmlns:a="http://schemas.openxmlformats.org/drawingml/2006/main" noGrp="1"/>
          </p:cNvSpPr>
          <p:nvPr/>
        </p:nvSpPr>
        <p:spPr>
          <a:xfrm xmlns:a="http://schemas.openxmlformats.org/drawingml/2006/main">
            <a:off x="514350" y="6334125"/>
            <a:ext cx="1114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5C9"/>
                </a:solidFill>
                <a:latin typeface="DejaVu Sans"/>
                <a:ea typeface="DejaVu Sans"/>
                <a:cs typeface="DejaVu Sans"/>
              </a:defRPr>
            </a:defPPr>
            <a:lvl1pPr>
              <a:defRPr sz="1200" b="0">
                <a:solidFill>
                  <a:srgbClr val="A6B5C9"/>
                </a:solidFill>
                <a:latin typeface="DejaVu Sans"/>
                <a:ea typeface="DejaVu Sans"/>
                <a:cs typeface="DejaVu Sans"/>
              </a:defRPr>
            </a:lvl1pPr>
            <a:lvl2pPr>
              <a:defRPr sz="1200" b="0">
                <a:solidFill>
                  <a:srgbClr val="A6B5C9"/>
                </a:solidFill>
                <a:latin typeface="DejaVu Sans"/>
                <a:ea typeface="DejaVu Sans"/>
                <a:cs typeface="DejaVu Sans"/>
              </a:defRPr>
            </a:lvl2pPr>
            <a:lvl3pPr>
              <a:defRPr sz="1200" b="0">
                <a:solidFill>
                  <a:srgbClr val="A6B5C9"/>
                </a:solidFill>
                <a:latin typeface="DejaVu Sans"/>
                <a:ea typeface="DejaVu Sans"/>
                <a:cs typeface="DejaVu Sans"/>
              </a:defRPr>
            </a:lvl3pPr>
            <a:lvl4pPr>
              <a:defRPr sz="1200" b="0">
                <a:solidFill>
                  <a:srgbClr val="A6B5C9"/>
                </a:solidFill>
                <a:latin typeface="DejaVu Sans"/>
                <a:ea typeface="DejaVu Sans"/>
                <a:cs typeface="DejaVu Sans"/>
              </a:defRPr>
            </a:lvl4pPr>
            <a:lvl5pPr>
              <a:defRPr sz="1200" b="0">
                <a:solidFill>
                  <a:srgbClr val="A6B5C9"/>
                </a:solidFill>
                <a:latin typeface="DejaVu Sans"/>
                <a:ea typeface="DejaVu Sans"/>
                <a:cs typeface="DejaVu Sans"/>
              </a:defRPr>
            </a:lvl5pPr>
            <a:lvl6pPr>
              <a:defRPr sz="1200" b="0">
                <a:solidFill>
                  <a:srgbClr val="A6B5C9"/>
                </a:solidFill>
                <a:latin typeface="DejaVu Sans"/>
                <a:ea typeface="DejaVu Sans"/>
                <a:cs typeface="DejaVu Sans"/>
              </a:defRPr>
            </a:lvl6pPr>
            <a:lvl7pPr>
              <a:defRPr sz="1200" b="0">
                <a:solidFill>
                  <a:srgbClr val="A6B5C9"/>
                </a:solidFill>
                <a:latin typeface="DejaVu Sans"/>
                <a:ea typeface="DejaVu Sans"/>
                <a:cs typeface="DejaVu Sans"/>
              </a:defRPr>
            </a:lvl7pPr>
            <a:lvl8pPr>
              <a:defRPr sz="1200" b="0">
                <a:solidFill>
                  <a:srgbClr val="A6B5C9"/>
                </a:solidFill>
                <a:latin typeface="DejaVu Sans"/>
                <a:ea typeface="DejaVu Sans"/>
                <a:cs typeface="DejaVu Sans"/>
              </a:defRPr>
            </a:lvl8pPr>
            <a:lvl9pPr>
              <a:defRPr sz="1200" b="0">
                <a:solidFill>
                  <a:srgbClr val="A6B5C9"/>
                </a:solidFill>
                <a:latin typeface="DejaVu Sans"/>
                <a:ea typeface="DejaVu Sans"/>
                <a:cs typeface="DejaVu Sans"/>
              </a:defRPr>
            </a:lvl9pPr>
          </a:lstStyle>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Conceptual profile, not a fitted Gamma distribution. Skill categories have no numeric ordering,</a:t>
            </a:r>
          </a:p>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so skewness and kurtosis are not statistically meaningful here.</a:t>
            </a:r>
          </a:p>
        </p:txBody>
      </p:sp>
    </p:spTree>
    <p:extLst>
      <p:ext uri="{BB962C8B-B14F-4D97-AF65-F5344CB8AC3E}">
        <p14:creationId xmlns:p14="http://schemas.microsoft.com/office/powerpoint/2010/main" val="625639210"/>
      </p:ext>
    </p:extLst>
  </p:cSld>
</p:sld>
</file>

<file path=ppt/slides/slide4.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43CF57D2-C9FF-4476-93F3-6E5E7D79801F}"/>
              </a:ext>
            </a:extLst>
          </p:cNvPr>
          <p:cNvCxnSpPr>
            <a:stCxn xmlns:a="http://schemas.openxmlformats.org/drawingml/2006/main" id="53" idx="1"/>
            <a:endCxn xmlns:a="http://schemas.openxmlformats.org/drawingml/2006/main" id="18" idx="2"/>
          </p:cNvCxnSpPr>
          <p:nvPr/>
        </p:nvCxnSpPr>
        <p:spPr>
          <a:xfrm xmlns:a="http://schemas.openxmlformats.org/drawingml/2006/main" flipV="1">
            <a:off x="2390775" y="5543550"/>
            <a:ext cx="1657350" cy="904875"/>
          </a:xfrm>
          <a:prstGeom xmlns:a="http://schemas.openxmlformats.org/drawingml/2006/main" prst="bentConnector4">
            <a:avLst/>
          </a:prstGeom>
          <a:ln xmlns:a="http://schemas.openxmlformats.org/drawingml/2006/main" w="14288">
            <a:solidFill>
              <a:srgbClr val="FFCE79"/>
            </a:solidFill>
            <a:prstDash val="dash"/>
            <a:tailEnd type="arrow" w="sm" len="sm"/>
          </a:ln>
        </p:spPr>
      </p:cxnSp>
      <p:cxnSp>
        <p:nvCxnSpPr>
          <p:cNvPr id="55" name="">
            <a:extLst xmlns:a="http://schemas.openxmlformats.org/drawingml/2006/main">
              <a:ext uri="{FF2B5EF4-FFF2-40B4-BE49-F238E27FC236}">
                <a16:creationId xmlns:a16="http://schemas.microsoft.com/office/drawing/2014/main" id="{C9EA4002-1782-434D-807F-6D2134698B98}"/>
              </a:ext>
            </a:extLst>
          </p:cNvPr>
          <p:cNvCxnSpPr>
            <a:stCxn xmlns:a="http://schemas.openxmlformats.org/drawingml/2006/main" id="32" idx="2"/>
            <a:endCxn xmlns:a="http://schemas.openxmlformats.org/drawingml/2006/main" id="53" idx="3"/>
          </p:cNvCxnSpPr>
          <p:nvPr/>
        </p:nvCxnSpPr>
        <p:spPr>
          <a:xfrm xmlns:a="http://schemas.openxmlformats.org/drawingml/2006/main" flipH="1">
            <a:off x="9763125" y="5876925"/>
            <a:ext cx="209550" cy="571500"/>
          </a:xfrm>
          <a:prstGeom xmlns:a="http://schemas.openxmlformats.org/drawingml/2006/main" prst="bentConnector3">
            <a:avLst>
              <a:gd name="adj1" fmla="val 0"/>
            </a:avLst>
          </a:prstGeom>
          <a:ln xmlns:a="http://schemas.openxmlformats.org/drawingml/2006/main" w="14288">
            <a:solidFill>
              <a:srgbClr val="FFCE79"/>
            </a:solidFill>
            <a:prstDash val="dash"/>
            <a:tailEnd type="arrow" w="sm" len="sm"/>
          </a:ln>
        </p:spPr>
      </p:cxnSp>
      <p:cxnSp>
        <p:nvCxnSpPr>
          <p:cNvPr id="52" name="">
            <a:extLst xmlns:a="http://schemas.openxmlformats.org/drawingml/2006/main">
              <a:ext uri="{FF2B5EF4-FFF2-40B4-BE49-F238E27FC236}">
                <a16:creationId xmlns:a16="http://schemas.microsoft.com/office/drawing/2014/main" id="{D6A8C32A-78D5-4B43-8BA9-35B922120697}"/>
              </a:ext>
            </a:extLst>
          </p:cNvPr>
          <p:cNvCxnSpPr>
            <a:stCxn xmlns:a="http://schemas.openxmlformats.org/drawingml/2006/main" id="47" idx="3"/>
            <a:endCxn xmlns:a="http://schemas.openxmlformats.org/drawingml/2006/main" id="24" idx="1"/>
          </p:cNvCxnSpPr>
          <p:nvPr/>
        </p:nvCxnSpPr>
        <p:spPr>
          <a:xfrm xmlns:a="http://schemas.openxmlformats.org/drawingml/2006/main">
            <a:off x="7848600" y="3162300"/>
            <a:ext cx="400050" cy="204788"/>
          </a:xfrm>
          <a:prstGeom xmlns:a="http://schemas.openxmlformats.org/drawingml/2006/main" prst="straightConnector1">
            <a:avLst/>
          </a:prstGeom>
          <a:ln xmlns:a="http://schemas.openxmlformats.org/drawingml/2006/main" w="14288">
            <a:solidFill>
              <a:srgbClr val="FFCE79"/>
            </a:solidFill>
            <a:prstDash val="solid"/>
            <a:tailEnd type="arrow" w="sm" len="sm"/>
          </a:ln>
        </p:spPr>
      </p:cxnSp>
      <p:cxnSp>
        <p:nvCxnSpPr>
          <p:cNvPr id="51" name="">
            <a:extLst xmlns:a="http://schemas.openxmlformats.org/drawingml/2006/main">
              <a:ext uri="{FF2B5EF4-FFF2-40B4-BE49-F238E27FC236}">
                <a16:creationId xmlns:a16="http://schemas.microsoft.com/office/drawing/2014/main" id="{EFDD7866-FF05-497F-9DA7-1E763681916C}"/>
              </a:ext>
            </a:extLst>
          </p:cNvPr>
          <p:cNvCxnSpPr>
            <a:stCxn xmlns:a="http://schemas.openxmlformats.org/drawingml/2006/main" id="47" idx="3"/>
            <a:endCxn xmlns:a="http://schemas.openxmlformats.org/drawingml/2006/main" id="22" idx="1"/>
          </p:cNvCxnSpPr>
          <p:nvPr/>
        </p:nvCxnSpPr>
        <p:spPr>
          <a:xfrm xmlns:a="http://schemas.openxmlformats.org/drawingml/2006/main" flipV="1">
            <a:off x="7848600" y="2795588"/>
            <a:ext cx="400050" cy="366713"/>
          </a:xfrm>
          <a:prstGeom xmlns:a="http://schemas.openxmlformats.org/drawingml/2006/main" prst="straightConnector1">
            <a:avLst/>
          </a:prstGeom>
          <a:ln xmlns:a="http://schemas.openxmlformats.org/drawingml/2006/main" w="14288">
            <a:solidFill>
              <a:srgbClr val="FFCE79"/>
            </a:solidFill>
            <a:prstDash val="solid"/>
            <a:tailEnd type="arrow" w="sm" len="sm"/>
          </a:ln>
        </p:spPr>
      </p:cxnSp>
      <p:cxnSp>
        <p:nvCxnSpPr>
          <p:cNvPr id="50" name="">
            <a:extLst xmlns:a="http://schemas.openxmlformats.org/drawingml/2006/main">
              <a:ext uri="{FF2B5EF4-FFF2-40B4-BE49-F238E27FC236}">
                <a16:creationId xmlns:a16="http://schemas.microsoft.com/office/drawing/2014/main" id="{3F6BB340-1B0A-463F-A15E-6C2715AF0E1B}"/>
              </a:ext>
            </a:extLst>
          </p:cNvPr>
          <p:cNvCxnSpPr>
            <a:stCxn xmlns:a="http://schemas.openxmlformats.org/drawingml/2006/main" id="18" idx="6"/>
            <a:endCxn xmlns:a="http://schemas.openxmlformats.org/drawingml/2006/main" id="47" idx="1"/>
          </p:cNvCxnSpPr>
          <p:nvPr/>
        </p:nvCxnSpPr>
        <p:spPr>
          <a:xfrm xmlns:a="http://schemas.openxmlformats.org/drawingml/2006/main" flipV="1">
            <a:off x="5610225" y="3162300"/>
            <a:ext cx="485775" cy="2381250"/>
          </a:xfrm>
          <a:prstGeom xmlns:a="http://schemas.openxmlformats.org/drawingml/2006/main" prst="straightConnector1">
            <a:avLst/>
          </a:prstGeom>
          <a:ln xmlns:a="http://schemas.openxmlformats.org/drawingml/2006/main" w="14288">
            <a:solidFill>
              <a:srgbClr val="FFCE79"/>
            </a:solidFill>
            <a:prstDash val="solid"/>
            <a:tailEnd type="arrow" w="sm" len="sm"/>
          </a:ln>
        </p:spPr>
      </p:cxnSp>
      <p:cxnSp>
        <p:nvCxnSpPr>
          <p:cNvPr id="49" name="">
            <a:extLst xmlns:a="http://schemas.openxmlformats.org/drawingml/2006/main">
              <a:ext uri="{FF2B5EF4-FFF2-40B4-BE49-F238E27FC236}">
                <a16:creationId xmlns:a16="http://schemas.microsoft.com/office/drawing/2014/main" id="{A6FB0B04-CC37-4180-8A87-152FBBD00462}"/>
              </a:ext>
            </a:extLst>
          </p:cNvPr>
          <p:cNvCxnSpPr>
            <a:stCxn xmlns:a="http://schemas.openxmlformats.org/drawingml/2006/main" id="12" idx="6"/>
            <a:endCxn xmlns:a="http://schemas.openxmlformats.org/drawingml/2006/main" id="47" idx="1"/>
          </p:cNvCxnSpPr>
          <p:nvPr/>
        </p:nvCxnSpPr>
        <p:spPr>
          <a:xfrm xmlns:a="http://schemas.openxmlformats.org/drawingml/2006/main">
            <a:off x="5610225" y="2486025"/>
            <a:ext cx="485775" cy="676275"/>
          </a:xfrm>
          <a:prstGeom xmlns:a="http://schemas.openxmlformats.org/drawingml/2006/main" prst="straightConnector1">
            <a:avLst/>
          </a:prstGeom>
          <a:ln xmlns:a="http://schemas.openxmlformats.org/drawingml/2006/main" w="14288">
            <a:solidFill>
              <a:srgbClr val="FFCE79"/>
            </a:solidFill>
            <a:prstDash val="solid"/>
            <a:tailEnd type="arrow" w="sm" len="sm"/>
          </a:ln>
        </p:spPr>
      </p:cxnSp>
      <p:cxnSp>
        <p:nvCxnSpPr>
          <p:cNvPr id="46" name="">
            <a:extLst xmlns:a="http://schemas.openxmlformats.org/drawingml/2006/main">
              <a:ext uri="{FF2B5EF4-FFF2-40B4-BE49-F238E27FC236}">
                <a16:creationId xmlns:a16="http://schemas.microsoft.com/office/drawing/2014/main" id="{CD9E0FBA-06FC-4FDA-8981-5B6B39630ECC}"/>
              </a:ext>
            </a:extLst>
          </p:cNvPr>
          <p:cNvCxnSpPr>
            <a:stCxn xmlns:a="http://schemas.openxmlformats.org/drawingml/2006/main" id="18" idx="6"/>
            <a:endCxn xmlns:a="http://schemas.openxmlformats.org/drawingml/2006/main" id="32" idx="1"/>
          </p:cNvCxnSpPr>
          <p:nvPr/>
        </p:nvCxnSpPr>
        <p:spPr>
          <a:xfrm xmlns:a="http://schemas.openxmlformats.org/drawingml/2006/main">
            <a:off x="5610225" y="5543550"/>
            <a:ext cx="2638425" cy="109538"/>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5" name="">
            <a:extLst xmlns:a="http://schemas.openxmlformats.org/drawingml/2006/main">
              <a:ext uri="{FF2B5EF4-FFF2-40B4-BE49-F238E27FC236}">
                <a16:creationId xmlns:a16="http://schemas.microsoft.com/office/drawing/2014/main" id="{4EDF3BA1-E9A0-4ABA-8604-B91D14D1B177}"/>
              </a:ext>
            </a:extLst>
          </p:cNvPr>
          <p:cNvCxnSpPr>
            <a:stCxn xmlns:a="http://schemas.openxmlformats.org/drawingml/2006/main" id="18" idx="6"/>
            <a:endCxn xmlns:a="http://schemas.openxmlformats.org/drawingml/2006/main" id="20" idx="1"/>
          </p:cNvCxnSpPr>
          <p:nvPr/>
        </p:nvCxnSpPr>
        <p:spPr>
          <a:xfrm xmlns:a="http://schemas.openxmlformats.org/drawingml/2006/main" flipV="1">
            <a:off x="5610225" y="2224088"/>
            <a:ext cx="2638425" cy="3319463"/>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4" name="">
            <a:extLst xmlns:a="http://schemas.openxmlformats.org/drawingml/2006/main">
              <a:ext uri="{FF2B5EF4-FFF2-40B4-BE49-F238E27FC236}">
                <a16:creationId xmlns:a16="http://schemas.microsoft.com/office/drawing/2014/main" id="{4A3448B5-C2D2-4549-B2F8-1B51CF019D77}"/>
              </a:ext>
            </a:extLst>
          </p:cNvPr>
          <p:cNvCxnSpPr>
            <a:stCxn xmlns:a="http://schemas.openxmlformats.org/drawingml/2006/main" id="16" idx="6"/>
            <a:endCxn xmlns:a="http://schemas.openxmlformats.org/drawingml/2006/main" id="26" idx="1"/>
          </p:cNvCxnSpPr>
          <p:nvPr/>
        </p:nvCxnSpPr>
        <p:spPr>
          <a:xfrm xmlns:a="http://schemas.openxmlformats.org/drawingml/2006/main" flipV="1">
            <a:off x="5610225" y="3938588"/>
            <a:ext cx="2638425" cy="585788"/>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3" name="">
            <a:extLst xmlns:a="http://schemas.openxmlformats.org/drawingml/2006/main">
              <a:ext uri="{FF2B5EF4-FFF2-40B4-BE49-F238E27FC236}">
                <a16:creationId xmlns:a16="http://schemas.microsoft.com/office/drawing/2014/main" id="{1644064F-D839-4FB6-B6D9-A6B43F6B06E2}"/>
              </a:ext>
            </a:extLst>
          </p:cNvPr>
          <p:cNvCxnSpPr>
            <a:stCxn xmlns:a="http://schemas.openxmlformats.org/drawingml/2006/main" id="14" idx="6"/>
            <a:endCxn xmlns:a="http://schemas.openxmlformats.org/drawingml/2006/main" id="30" idx="1"/>
          </p:cNvCxnSpPr>
          <p:nvPr/>
        </p:nvCxnSpPr>
        <p:spPr>
          <a:xfrm xmlns:a="http://schemas.openxmlformats.org/drawingml/2006/main">
            <a:off x="5610225" y="3505200"/>
            <a:ext cx="2638425" cy="15763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2" name="">
            <a:extLst xmlns:a="http://schemas.openxmlformats.org/drawingml/2006/main">
              <a:ext uri="{FF2B5EF4-FFF2-40B4-BE49-F238E27FC236}">
                <a16:creationId xmlns:a16="http://schemas.microsoft.com/office/drawing/2014/main" id="{6E0450FE-E96B-46D0-ABA0-BC2FEFB4160D}"/>
              </a:ext>
            </a:extLst>
          </p:cNvPr>
          <p:cNvCxnSpPr>
            <a:stCxn xmlns:a="http://schemas.openxmlformats.org/drawingml/2006/main" id="14" idx="6"/>
            <a:endCxn xmlns:a="http://schemas.openxmlformats.org/drawingml/2006/main" id="28" idx="1"/>
          </p:cNvCxnSpPr>
          <p:nvPr/>
        </p:nvCxnSpPr>
        <p:spPr>
          <a:xfrm xmlns:a="http://schemas.openxmlformats.org/drawingml/2006/main">
            <a:off x="5610225" y="3505200"/>
            <a:ext cx="2638425" cy="10048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1" name="">
            <a:extLst xmlns:a="http://schemas.openxmlformats.org/drawingml/2006/main">
              <a:ext uri="{FF2B5EF4-FFF2-40B4-BE49-F238E27FC236}">
                <a16:creationId xmlns:a16="http://schemas.microsoft.com/office/drawing/2014/main" id="{055F0F40-8F29-44DD-A17D-0BC3251EBC66}"/>
              </a:ext>
            </a:extLst>
          </p:cNvPr>
          <p:cNvCxnSpPr>
            <a:stCxn xmlns:a="http://schemas.openxmlformats.org/drawingml/2006/main" id="14" idx="6"/>
            <a:endCxn xmlns:a="http://schemas.openxmlformats.org/drawingml/2006/main" id="26" idx="1"/>
          </p:cNvCxnSpPr>
          <p:nvPr/>
        </p:nvCxnSpPr>
        <p:spPr>
          <a:xfrm xmlns:a="http://schemas.openxmlformats.org/drawingml/2006/main">
            <a:off x="5610225" y="3505200"/>
            <a:ext cx="2638425" cy="4333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0" name="">
            <a:extLst xmlns:a="http://schemas.openxmlformats.org/drawingml/2006/main">
              <a:ext uri="{FF2B5EF4-FFF2-40B4-BE49-F238E27FC236}">
                <a16:creationId xmlns:a16="http://schemas.microsoft.com/office/drawing/2014/main" id="{11DDC6BF-3D2F-435D-A2DB-966A3001D9E0}"/>
              </a:ext>
            </a:extLst>
          </p:cNvPr>
          <p:cNvCxnSpPr>
            <a:stCxn xmlns:a="http://schemas.openxmlformats.org/drawingml/2006/main" id="12" idx="6"/>
            <a:endCxn xmlns:a="http://schemas.openxmlformats.org/drawingml/2006/main" id="20" idx="1"/>
          </p:cNvCxnSpPr>
          <p:nvPr/>
        </p:nvCxnSpPr>
        <p:spPr>
          <a:xfrm xmlns:a="http://schemas.openxmlformats.org/drawingml/2006/main" flipV="1">
            <a:off x="5610225" y="2224088"/>
            <a:ext cx="2638425" cy="261938"/>
          </a:xfrm>
          <a:prstGeom xmlns:a="http://schemas.openxmlformats.org/drawingml/2006/main" prst="straightConnector1">
            <a:avLst/>
          </a:prstGeom>
          <a:ln xmlns:a="http://schemas.openxmlformats.org/drawingml/2006/main" w="14288">
            <a:solidFill>
              <a:srgbClr val="71639B"/>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042D9A83-7B16-422B-9C93-E3121F779A0A}"/>
              </a:ext>
            </a:extLst>
          </p:cNvPr>
          <p:cNvCxnSpPr>
            <a:stCxn xmlns:a="http://schemas.openxmlformats.org/drawingml/2006/main" id="10" idx="6"/>
            <a:endCxn xmlns:a="http://schemas.openxmlformats.org/drawingml/2006/main" id="14" idx="2"/>
          </p:cNvCxnSpPr>
          <p:nvPr/>
        </p:nvCxnSpPr>
        <p:spPr>
          <a:xfrm xmlns:a="http://schemas.openxmlformats.org/drawingml/2006/main" flipV="1">
            <a:off x="2095500" y="3505200"/>
            <a:ext cx="1952625" cy="1781175"/>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8" name="">
            <a:extLst xmlns:a="http://schemas.openxmlformats.org/drawingml/2006/main">
              <a:ext uri="{FF2B5EF4-FFF2-40B4-BE49-F238E27FC236}">
                <a16:creationId xmlns:a16="http://schemas.microsoft.com/office/drawing/2014/main" id="{55BE4727-39E9-4487-870E-C4765F5A1518}"/>
              </a:ext>
            </a:extLst>
          </p:cNvPr>
          <p:cNvCxnSpPr>
            <a:stCxn xmlns:a="http://schemas.openxmlformats.org/drawingml/2006/main" id="10" idx="6"/>
            <a:endCxn xmlns:a="http://schemas.openxmlformats.org/drawingml/2006/main" id="16" idx="2"/>
          </p:cNvCxnSpPr>
          <p:nvPr/>
        </p:nvCxnSpPr>
        <p:spPr>
          <a:xfrm xmlns:a="http://schemas.openxmlformats.org/drawingml/2006/main" flipV="1">
            <a:off x="2095500" y="4524375"/>
            <a:ext cx="1952625" cy="7620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7" name="">
            <a:extLst xmlns:a="http://schemas.openxmlformats.org/drawingml/2006/main">
              <a:ext uri="{FF2B5EF4-FFF2-40B4-BE49-F238E27FC236}">
                <a16:creationId xmlns:a16="http://schemas.microsoft.com/office/drawing/2014/main" id="{32FB676B-DF47-44C9-B144-C440FFB5ED80}"/>
              </a:ext>
            </a:extLst>
          </p:cNvPr>
          <p:cNvCxnSpPr>
            <a:stCxn xmlns:a="http://schemas.openxmlformats.org/drawingml/2006/main" id="8" idx="6"/>
            <a:endCxn xmlns:a="http://schemas.openxmlformats.org/drawingml/2006/main" id="18" idx="2"/>
          </p:cNvCxnSpPr>
          <p:nvPr/>
        </p:nvCxnSpPr>
        <p:spPr>
          <a:xfrm xmlns:a="http://schemas.openxmlformats.org/drawingml/2006/main">
            <a:off x="2095500" y="3962400"/>
            <a:ext cx="1952625" cy="158115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6" name="">
            <a:extLst xmlns:a="http://schemas.openxmlformats.org/drawingml/2006/main">
              <a:ext uri="{FF2B5EF4-FFF2-40B4-BE49-F238E27FC236}">
                <a16:creationId xmlns:a16="http://schemas.microsoft.com/office/drawing/2014/main" id="{8B540C33-BB34-48E8-862B-F96A55BA0D22}"/>
              </a:ext>
            </a:extLst>
          </p:cNvPr>
          <p:cNvCxnSpPr>
            <a:stCxn xmlns:a="http://schemas.openxmlformats.org/drawingml/2006/main" id="8" idx="6"/>
            <a:endCxn xmlns:a="http://schemas.openxmlformats.org/drawingml/2006/main" id="14" idx="2"/>
          </p:cNvCxnSpPr>
          <p:nvPr/>
        </p:nvCxnSpPr>
        <p:spPr>
          <a:xfrm xmlns:a="http://schemas.openxmlformats.org/drawingml/2006/main" flipV="1">
            <a:off x="2095500" y="3505200"/>
            <a:ext cx="1952625" cy="4572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26102971-BC31-4D2A-93A2-10FCDB287242}"/>
              </a:ext>
            </a:extLst>
          </p:cNvPr>
          <p:cNvCxnSpPr>
            <a:stCxn xmlns:a="http://schemas.openxmlformats.org/drawingml/2006/main" id="6" idx="6"/>
            <a:endCxn xmlns:a="http://schemas.openxmlformats.org/drawingml/2006/main" id="18" idx="2"/>
          </p:cNvCxnSpPr>
          <p:nvPr/>
        </p:nvCxnSpPr>
        <p:spPr>
          <a:xfrm xmlns:a="http://schemas.openxmlformats.org/drawingml/2006/main">
            <a:off x="2095500" y="2638425"/>
            <a:ext cx="1952625" cy="2905125"/>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4" name="">
            <a:extLst xmlns:a="http://schemas.openxmlformats.org/drawingml/2006/main">
              <a:ext uri="{FF2B5EF4-FFF2-40B4-BE49-F238E27FC236}">
                <a16:creationId xmlns:a16="http://schemas.microsoft.com/office/drawing/2014/main" id="{70A36455-59FC-4869-A8B2-660DC5C5E627}"/>
              </a:ext>
            </a:extLst>
          </p:cNvPr>
          <p:cNvCxnSpPr>
            <a:stCxn xmlns:a="http://schemas.openxmlformats.org/drawingml/2006/main" id="6" idx="6"/>
            <a:endCxn xmlns:a="http://schemas.openxmlformats.org/drawingml/2006/main" id="12" idx="2"/>
          </p:cNvCxnSpPr>
          <p:nvPr/>
        </p:nvCxnSpPr>
        <p:spPr>
          <a:xfrm xmlns:a="http://schemas.openxmlformats.org/drawingml/2006/main" flipV="1">
            <a:off x="2095500" y="2486025"/>
            <a:ext cx="1952625" cy="1524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sp>
        <p:nvSpPr>
          <p:cNvPr id="58" name="">
            <a:extLst xmlns:a="http://schemas.openxmlformats.org/drawingml/2006/main">
              <a:ext uri="{FF2B5EF4-FFF2-40B4-BE49-F238E27FC236}">
                <a16:creationId xmlns:a16="http://schemas.microsoft.com/office/drawing/2014/main" id="{83DEEC56-9EBC-4195-A469-3352D9090A3C}"/>
              </a:ext>
            </a:extLst>
          </p:cNvPr>
          <p:cNvSpPr>
            <a:spLocks xmlns:a="http://schemas.openxmlformats.org/drawingml/2006/main" noGrp="1"/>
          </p:cNvSpPr>
          <p:nvPr/>
        </p:nvSpPr>
        <p:spPr>
          <a:xfrm xmlns:a="http://schemas.openxmlformats.org/drawingml/2006/main">
            <a:off x="457200" y="2857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2F5FC"/>
                </a:solidFill>
                <a:latin typeface="DejaVu Sans"/>
                <a:ea typeface="DejaVu Sans"/>
                <a:cs typeface="DejaVu Sans"/>
              </a:defRPr>
            </a:defPPr>
            <a:lvl1pPr>
              <a:defRPr sz="3300" b="1">
                <a:solidFill>
                  <a:srgbClr val="F2F5FC"/>
                </a:solidFill>
                <a:latin typeface="DejaVu Sans"/>
                <a:ea typeface="DejaVu Sans"/>
                <a:cs typeface="DejaVu Sans"/>
              </a:defRPr>
            </a:lvl1pPr>
            <a:lvl2pPr>
              <a:defRPr sz="3300" b="1">
                <a:solidFill>
                  <a:srgbClr val="F2F5FC"/>
                </a:solidFill>
                <a:latin typeface="DejaVu Sans"/>
                <a:ea typeface="DejaVu Sans"/>
                <a:cs typeface="DejaVu Sans"/>
              </a:defRPr>
            </a:lvl2pPr>
            <a:lvl3pPr>
              <a:defRPr sz="3300" b="1">
                <a:solidFill>
                  <a:srgbClr val="F2F5FC"/>
                </a:solidFill>
                <a:latin typeface="DejaVu Sans"/>
                <a:ea typeface="DejaVu Sans"/>
                <a:cs typeface="DejaVu Sans"/>
              </a:defRPr>
            </a:lvl3pPr>
            <a:lvl4pPr>
              <a:defRPr sz="3300" b="1">
                <a:solidFill>
                  <a:srgbClr val="F2F5FC"/>
                </a:solidFill>
                <a:latin typeface="DejaVu Sans"/>
                <a:ea typeface="DejaVu Sans"/>
                <a:cs typeface="DejaVu Sans"/>
              </a:defRPr>
            </a:lvl4pPr>
            <a:lvl5pPr>
              <a:defRPr sz="3300" b="1">
                <a:solidFill>
                  <a:srgbClr val="F2F5FC"/>
                </a:solidFill>
                <a:latin typeface="DejaVu Sans"/>
                <a:ea typeface="DejaVu Sans"/>
                <a:cs typeface="DejaVu Sans"/>
              </a:defRPr>
            </a:lvl5pPr>
            <a:lvl6pPr>
              <a:defRPr sz="3300" b="1">
                <a:solidFill>
                  <a:srgbClr val="F2F5FC"/>
                </a:solidFill>
                <a:latin typeface="DejaVu Sans"/>
                <a:ea typeface="DejaVu Sans"/>
                <a:cs typeface="DejaVu Sans"/>
              </a:defRPr>
            </a:lvl6pPr>
            <a:lvl7pPr>
              <a:defRPr sz="3300" b="1">
                <a:solidFill>
                  <a:srgbClr val="F2F5FC"/>
                </a:solidFill>
                <a:latin typeface="DejaVu Sans"/>
                <a:ea typeface="DejaVu Sans"/>
                <a:cs typeface="DejaVu Sans"/>
              </a:defRPr>
            </a:lvl7pPr>
            <a:lvl8pPr>
              <a:defRPr sz="3300" b="1">
                <a:solidFill>
                  <a:srgbClr val="F2F5FC"/>
                </a:solidFill>
                <a:latin typeface="DejaVu Sans"/>
                <a:ea typeface="DejaVu Sans"/>
                <a:cs typeface="DejaVu Sans"/>
              </a:defRPr>
            </a:lvl8pPr>
            <a:lvl9pPr>
              <a:defRPr sz="3300" b="1">
                <a:solidFill>
                  <a:srgbClr val="F2F5FC"/>
                </a:solidFill>
                <a:latin typeface="DejaVu Sans"/>
                <a:ea typeface="DejaVu Sans"/>
                <a:cs typeface="DejaVu Sans"/>
              </a:defRPr>
            </a:lvl9pPr>
          </a:lstStyle>
          <a:p xmlns:a="http://schemas.openxmlformats.org/drawingml/2006/main">
            <a:pPr>
              <a:defRPr sz="3300" b="1">
                <a:solidFill>
                  <a:srgbClr val="F2F5FC"/>
                </a:solidFill>
                <a:latin typeface="DejaVu Sans"/>
                <a:ea typeface="DejaVu Sans"/>
                <a:cs typeface="DejaVu Sans"/>
              </a:defRPr>
            </a:pPr>
            <a:r>
              <a:rPr sz="3300" b="1">
                <a:solidFill>
                  <a:srgbClr val="F2F5FC"/>
                </a:solidFill>
                <a:latin typeface="DejaVu Sans"/>
                <a:ea typeface="DejaVu Sans"/>
                <a:cs typeface="DejaVu Sans"/>
              </a:rPr>
              <a:t>My work, as a neural architecture</a:t>
            </a:r>
          </a:p>
        </p:txBody>
      </p:sp>
      <p:sp>
        <p:nvSpPr>
          <p:cNvPr id="2" name="">
            <a:extLst xmlns:a="http://schemas.openxmlformats.org/drawingml/2006/main">
              <a:ext uri="{FF2B5EF4-FFF2-40B4-BE49-F238E27FC236}">
                <a16:creationId xmlns:a16="http://schemas.microsoft.com/office/drawing/2014/main" id="{1BA449C0-FD98-422B-8105-C94DD8B02010}"/>
              </a:ext>
            </a:extLst>
          </p:cNvPr>
          <p:cNvSpPr>
            <a:spLocks xmlns:a="http://schemas.openxmlformats.org/drawingml/2006/main" noGrp="1"/>
          </p:cNvSpPr>
          <p:nvPr/>
        </p:nvSpPr>
        <p:spPr>
          <a:xfrm xmlns:a="http://schemas.openxmlformats.org/drawingml/2006/main">
            <a:off x="476250" y="9525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7CE2D0"/>
                </a:solidFill>
                <a:latin typeface="DejaVu Sans"/>
                <a:ea typeface="DejaVu Sans"/>
                <a:cs typeface="DejaVu Sans"/>
              </a:defRPr>
            </a:defPPr>
            <a:lvl1pPr>
              <a:defRPr sz="1800" b="0">
                <a:solidFill>
                  <a:srgbClr val="7CE2D0"/>
                </a:solidFill>
                <a:latin typeface="DejaVu Sans"/>
                <a:ea typeface="DejaVu Sans"/>
                <a:cs typeface="DejaVu Sans"/>
              </a:defRPr>
            </a:lvl1pPr>
            <a:lvl2pPr>
              <a:defRPr sz="1800" b="0">
                <a:solidFill>
                  <a:srgbClr val="7CE2D0"/>
                </a:solidFill>
                <a:latin typeface="DejaVu Sans"/>
                <a:ea typeface="DejaVu Sans"/>
                <a:cs typeface="DejaVu Sans"/>
              </a:defRPr>
            </a:lvl2pPr>
            <a:lvl3pPr>
              <a:defRPr sz="1800" b="0">
                <a:solidFill>
                  <a:srgbClr val="7CE2D0"/>
                </a:solidFill>
                <a:latin typeface="DejaVu Sans"/>
                <a:ea typeface="DejaVu Sans"/>
                <a:cs typeface="DejaVu Sans"/>
              </a:defRPr>
            </a:lvl3pPr>
            <a:lvl4pPr>
              <a:defRPr sz="1800" b="0">
                <a:solidFill>
                  <a:srgbClr val="7CE2D0"/>
                </a:solidFill>
                <a:latin typeface="DejaVu Sans"/>
                <a:ea typeface="DejaVu Sans"/>
                <a:cs typeface="DejaVu Sans"/>
              </a:defRPr>
            </a:lvl4pPr>
            <a:lvl5pPr>
              <a:defRPr sz="1800" b="0">
                <a:solidFill>
                  <a:srgbClr val="7CE2D0"/>
                </a:solidFill>
                <a:latin typeface="DejaVu Sans"/>
                <a:ea typeface="DejaVu Sans"/>
                <a:cs typeface="DejaVu Sans"/>
              </a:defRPr>
            </a:lvl5pPr>
            <a:lvl6pPr>
              <a:defRPr sz="1800" b="0">
                <a:solidFill>
                  <a:srgbClr val="7CE2D0"/>
                </a:solidFill>
                <a:latin typeface="DejaVu Sans"/>
                <a:ea typeface="DejaVu Sans"/>
                <a:cs typeface="DejaVu Sans"/>
              </a:defRPr>
            </a:lvl6pPr>
            <a:lvl7pPr>
              <a:defRPr sz="1800" b="0">
                <a:solidFill>
                  <a:srgbClr val="7CE2D0"/>
                </a:solidFill>
                <a:latin typeface="DejaVu Sans"/>
                <a:ea typeface="DejaVu Sans"/>
                <a:cs typeface="DejaVu Sans"/>
              </a:defRPr>
            </a:lvl7pPr>
            <a:lvl8pPr>
              <a:defRPr sz="1800" b="0">
                <a:solidFill>
                  <a:srgbClr val="7CE2D0"/>
                </a:solidFill>
                <a:latin typeface="DejaVu Sans"/>
                <a:ea typeface="DejaVu Sans"/>
                <a:cs typeface="DejaVu Sans"/>
              </a:defRPr>
            </a:lvl8pPr>
            <a:lvl9pPr>
              <a:defRPr sz="1800" b="0">
                <a:solidFill>
                  <a:srgbClr val="7CE2D0"/>
                </a:solidFill>
                <a:latin typeface="DejaVu Sans"/>
                <a:ea typeface="DejaVu Sans"/>
                <a:cs typeface="DejaVu Sans"/>
              </a:defRPr>
            </a:lvl9pPr>
          </a:lstStyle>
          <a:p xmlns:a="http://schemas.openxmlformats.org/drawingml/2006/main">
            <a:pPr>
              <a:defRPr sz="1800" b="0">
                <a:solidFill>
                  <a:srgbClr val="7CE2D0"/>
                </a:solidFill>
                <a:latin typeface="DejaVu Sans"/>
                <a:ea typeface="DejaVu Sans"/>
                <a:cs typeface="DejaVu Sans"/>
              </a:defRPr>
            </a:pPr>
            <a:r>
              <a:rPr sz="1800" b="0">
                <a:solidFill>
                  <a:srgbClr val="7CE2D0"/>
                </a:solidFill>
                <a:latin typeface="DejaVu Sans"/>
                <a:ea typeface="DejaVu Sans"/>
                <a:cs typeface="DejaVu Sans"/>
              </a:rPr>
              <a:t>Connected representations. Shared learning methods. Multiple applications.</a:t>
            </a:r>
          </a:p>
        </p:txBody>
      </p:sp>
      <p:sp>
        <p:nvSpPr>
          <p:cNvPr id="3" name="">
            <a:extLst xmlns:a="http://schemas.openxmlformats.org/drawingml/2006/main">
              <a:ext uri="{FF2B5EF4-FFF2-40B4-BE49-F238E27FC236}">
                <a16:creationId xmlns:a16="http://schemas.microsoft.com/office/drawing/2014/main" id="{04AC7A2C-E722-49B8-9E48-3CA51D83CDFC}"/>
              </a:ext>
            </a:extLst>
          </p:cNvPr>
          <p:cNvSpPr>
            <a:spLocks xmlns:a="http://schemas.openxmlformats.org/drawingml/2006/main" noGrp="1"/>
          </p:cNvSpPr>
          <p:nvPr/>
        </p:nvSpPr>
        <p:spPr>
          <a:xfrm xmlns:a="http://schemas.openxmlformats.org/drawingml/2006/main">
            <a:off x="619125" y="15811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91B7FF"/>
                </a:solidFill>
                <a:latin typeface="DejaVu Sans"/>
                <a:ea typeface="DejaVu Sans"/>
                <a:cs typeface="DejaVu Sans"/>
              </a:defRPr>
            </a:defPPr>
            <a:lvl1pPr>
              <a:defRPr sz="1500" b="1">
                <a:solidFill>
                  <a:srgbClr val="91B7FF"/>
                </a:solidFill>
                <a:latin typeface="DejaVu Sans"/>
                <a:ea typeface="DejaVu Sans"/>
                <a:cs typeface="DejaVu Sans"/>
              </a:defRPr>
            </a:lvl1pPr>
            <a:lvl2pPr>
              <a:defRPr sz="1500" b="1">
                <a:solidFill>
                  <a:srgbClr val="91B7FF"/>
                </a:solidFill>
                <a:latin typeface="DejaVu Sans"/>
                <a:ea typeface="DejaVu Sans"/>
                <a:cs typeface="DejaVu Sans"/>
              </a:defRPr>
            </a:lvl2pPr>
            <a:lvl3pPr>
              <a:defRPr sz="1500" b="1">
                <a:solidFill>
                  <a:srgbClr val="91B7FF"/>
                </a:solidFill>
                <a:latin typeface="DejaVu Sans"/>
                <a:ea typeface="DejaVu Sans"/>
                <a:cs typeface="DejaVu Sans"/>
              </a:defRPr>
            </a:lvl3pPr>
            <a:lvl4pPr>
              <a:defRPr sz="1500" b="1">
                <a:solidFill>
                  <a:srgbClr val="91B7FF"/>
                </a:solidFill>
                <a:latin typeface="DejaVu Sans"/>
                <a:ea typeface="DejaVu Sans"/>
                <a:cs typeface="DejaVu Sans"/>
              </a:defRPr>
            </a:lvl4pPr>
            <a:lvl5pPr>
              <a:defRPr sz="1500" b="1">
                <a:solidFill>
                  <a:srgbClr val="91B7FF"/>
                </a:solidFill>
                <a:latin typeface="DejaVu Sans"/>
                <a:ea typeface="DejaVu Sans"/>
                <a:cs typeface="DejaVu Sans"/>
              </a:defRPr>
            </a:lvl5pPr>
            <a:lvl6pPr>
              <a:defRPr sz="1500" b="1">
                <a:solidFill>
                  <a:srgbClr val="91B7FF"/>
                </a:solidFill>
                <a:latin typeface="DejaVu Sans"/>
                <a:ea typeface="DejaVu Sans"/>
                <a:cs typeface="DejaVu Sans"/>
              </a:defRPr>
            </a:lvl6pPr>
            <a:lvl7pPr>
              <a:defRPr sz="1500" b="1">
                <a:solidFill>
                  <a:srgbClr val="91B7FF"/>
                </a:solidFill>
                <a:latin typeface="DejaVu Sans"/>
                <a:ea typeface="DejaVu Sans"/>
                <a:cs typeface="DejaVu Sans"/>
              </a:defRPr>
            </a:lvl7pPr>
            <a:lvl8pPr>
              <a:defRPr sz="1500" b="1">
                <a:solidFill>
                  <a:srgbClr val="91B7FF"/>
                </a:solidFill>
                <a:latin typeface="DejaVu Sans"/>
                <a:ea typeface="DejaVu Sans"/>
                <a:cs typeface="DejaVu Sans"/>
              </a:defRPr>
            </a:lvl8pPr>
            <a:lvl9pPr>
              <a:defRPr sz="1500" b="1">
                <a:solidFill>
                  <a:srgbClr val="91B7FF"/>
                </a:solidFill>
                <a:latin typeface="DejaVu Sans"/>
                <a:ea typeface="DejaVu Sans"/>
                <a:cs typeface="DejaVu Sans"/>
              </a:defRPr>
            </a:lvl9pPr>
          </a:lstStyle>
          <a:p xmlns:a="http://schemas.openxmlformats.org/drawingml/2006/main">
            <a:pPr>
              <a:defRPr sz="1500" b="1">
                <a:solidFill>
                  <a:srgbClr val="91B7FF"/>
                </a:solidFill>
                <a:latin typeface="DejaVu Sans"/>
                <a:ea typeface="DejaVu Sans"/>
                <a:cs typeface="DejaVu Sans"/>
              </a:defRPr>
            </a:pPr>
            <a:r>
              <a:rPr sz="1500" b="1">
                <a:solidFill>
                  <a:srgbClr val="91B7FF"/>
                </a:solidFill>
                <a:latin typeface="DejaVu Sans"/>
                <a:ea typeface="DejaVu Sans"/>
                <a:cs typeface="DejaVu Sans"/>
              </a:rPr>
              <a:t>INPUT SIGNALS</a:t>
            </a:r>
          </a:p>
        </p:txBody>
      </p:sp>
      <p:sp>
        <p:nvSpPr>
          <p:cNvPr id="4" name="">
            <a:extLst xmlns:a="http://schemas.openxmlformats.org/drawingml/2006/main">
              <a:ext uri="{FF2B5EF4-FFF2-40B4-BE49-F238E27FC236}">
                <a16:creationId xmlns:a16="http://schemas.microsoft.com/office/drawing/2014/main" id="{FC34AEF4-E4A3-453E-974A-887B343CAD60}"/>
              </a:ext>
            </a:extLst>
          </p:cNvPr>
          <p:cNvSpPr>
            <a:spLocks xmlns:a="http://schemas.openxmlformats.org/drawingml/2006/main" noGrp="1"/>
          </p:cNvSpPr>
          <p:nvPr/>
        </p:nvSpPr>
        <p:spPr>
          <a:xfrm xmlns:a="http://schemas.openxmlformats.org/drawingml/2006/main">
            <a:off x="3409950" y="1581150"/>
            <a:ext cx="3667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C6A4FF"/>
                </a:solidFill>
                <a:latin typeface="DejaVu Sans"/>
                <a:ea typeface="DejaVu Sans"/>
                <a:cs typeface="DejaVu Sans"/>
              </a:defRPr>
            </a:defPPr>
            <a:lvl1pPr>
              <a:defRPr sz="1500" b="1">
                <a:solidFill>
                  <a:srgbClr val="C6A4FF"/>
                </a:solidFill>
                <a:latin typeface="DejaVu Sans"/>
                <a:ea typeface="DejaVu Sans"/>
                <a:cs typeface="DejaVu Sans"/>
              </a:defRPr>
            </a:lvl1pPr>
            <a:lvl2pPr>
              <a:defRPr sz="1500" b="1">
                <a:solidFill>
                  <a:srgbClr val="C6A4FF"/>
                </a:solidFill>
                <a:latin typeface="DejaVu Sans"/>
                <a:ea typeface="DejaVu Sans"/>
                <a:cs typeface="DejaVu Sans"/>
              </a:defRPr>
            </a:lvl2pPr>
            <a:lvl3pPr>
              <a:defRPr sz="1500" b="1">
                <a:solidFill>
                  <a:srgbClr val="C6A4FF"/>
                </a:solidFill>
                <a:latin typeface="DejaVu Sans"/>
                <a:ea typeface="DejaVu Sans"/>
                <a:cs typeface="DejaVu Sans"/>
              </a:defRPr>
            </a:lvl3pPr>
            <a:lvl4pPr>
              <a:defRPr sz="1500" b="1">
                <a:solidFill>
                  <a:srgbClr val="C6A4FF"/>
                </a:solidFill>
                <a:latin typeface="DejaVu Sans"/>
                <a:ea typeface="DejaVu Sans"/>
                <a:cs typeface="DejaVu Sans"/>
              </a:defRPr>
            </a:lvl4pPr>
            <a:lvl5pPr>
              <a:defRPr sz="1500" b="1">
                <a:solidFill>
                  <a:srgbClr val="C6A4FF"/>
                </a:solidFill>
                <a:latin typeface="DejaVu Sans"/>
                <a:ea typeface="DejaVu Sans"/>
                <a:cs typeface="DejaVu Sans"/>
              </a:defRPr>
            </a:lvl5pPr>
            <a:lvl6pPr>
              <a:defRPr sz="1500" b="1">
                <a:solidFill>
                  <a:srgbClr val="C6A4FF"/>
                </a:solidFill>
                <a:latin typeface="DejaVu Sans"/>
                <a:ea typeface="DejaVu Sans"/>
                <a:cs typeface="DejaVu Sans"/>
              </a:defRPr>
            </a:lvl6pPr>
            <a:lvl7pPr>
              <a:defRPr sz="1500" b="1">
                <a:solidFill>
                  <a:srgbClr val="C6A4FF"/>
                </a:solidFill>
                <a:latin typeface="DejaVu Sans"/>
                <a:ea typeface="DejaVu Sans"/>
                <a:cs typeface="DejaVu Sans"/>
              </a:defRPr>
            </a:lvl7pPr>
            <a:lvl8pPr>
              <a:defRPr sz="1500" b="1">
                <a:solidFill>
                  <a:srgbClr val="C6A4FF"/>
                </a:solidFill>
                <a:latin typeface="DejaVu Sans"/>
                <a:ea typeface="DejaVu Sans"/>
                <a:cs typeface="DejaVu Sans"/>
              </a:defRPr>
            </a:lvl8pPr>
            <a:lvl9pPr>
              <a:defRPr sz="1500" b="1">
                <a:solidFill>
                  <a:srgbClr val="C6A4FF"/>
                </a:solidFill>
                <a:latin typeface="DejaVu Sans"/>
                <a:ea typeface="DejaVu Sans"/>
                <a:cs typeface="DejaVu Sans"/>
              </a:defRPr>
            </a:lvl9pPr>
          </a:lstStyle>
          <a:p xmlns:a="http://schemas.openxmlformats.org/drawingml/2006/main">
            <a:pPr>
              <a:defRPr sz="1500" b="1">
                <a:solidFill>
                  <a:srgbClr val="C6A4FF"/>
                </a:solidFill>
                <a:latin typeface="DejaVu Sans"/>
                <a:ea typeface="DejaVu Sans"/>
                <a:cs typeface="DejaVu Sans"/>
              </a:defRPr>
            </a:pPr>
            <a:r>
              <a:rPr sz="1500" b="1">
                <a:solidFill>
                  <a:srgbClr val="C6A4FF"/>
                </a:solidFill>
                <a:latin typeface="DejaVu Sans"/>
                <a:ea typeface="DejaVu Sans"/>
                <a:cs typeface="DejaVu Sans"/>
              </a:rPr>
              <a:t>LEARNED REPRESENTATIONS</a:t>
            </a:r>
          </a:p>
        </p:txBody>
      </p:sp>
      <p:sp>
        <p:nvSpPr>
          <p:cNvPr id="5" name="">
            <a:extLst xmlns:a="http://schemas.openxmlformats.org/drawingml/2006/main">
              <a:ext uri="{FF2B5EF4-FFF2-40B4-BE49-F238E27FC236}">
                <a16:creationId xmlns:a16="http://schemas.microsoft.com/office/drawing/2014/main" id="{E9F7C372-4357-4B20-80EC-DC97279F5E78}"/>
              </a:ext>
            </a:extLst>
          </p:cNvPr>
          <p:cNvSpPr>
            <a:spLocks xmlns:a="http://schemas.openxmlformats.org/drawingml/2006/main" noGrp="1"/>
          </p:cNvSpPr>
          <p:nvPr/>
        </p:nvSpPr>
        <p:spPr>
          <a:xfrm xmlns:a="http://schemas.openxmlformats.org/drawingml/2006/main">
            <a:off x="8286750" y="15811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7CE2D0"/>
                </a:solidFill>
                <a:latin typeface="DejaVu Sans"/>
                <a:ea typeface="DejaVu Sans"/>
                <a:cs typeface="DejaVu Sans"/>
              </a:defRPr>
            </a:defPPr>
            <a:lvl1pPr>
              <a:defRPr sz="1500" b="1">
                <a:solidFill>
                  <a:srgbClr val="7CE2D0"/>
                </a:solidFill>
                <a:latin typeface="DejaVu Sans"/>
                <a:ea typeface="DejaVu Sans"/>
                <a:cs typeface="DejaVu Sans"/>
              </a:defRPr>
            </a:lvl1pPr>
            <a:lvl2pPr>
              <a:defRPr sz="1500" b="1">
                <a:solidFill>
                  <a:srgbClr val="7CE2D0"/>
                </a:solidFill>
                <a:latin typeface="DejaVu Sans"/>
                <a:ea typeface="DejaVu Sans"/>
                <a:cs typeface="DejaVu Sans"/>
              </a:defRPr>
            </a:lvl2pPr>
            <a:lvl3pPr>
              <a:defRPr sz="1500" b="1">
                <a:solidFill>
                  <a:srgbClr val="7CE2D0"/>
                </a:solidFill>
                <a:latin typeface="DejaVu Sans"/>
                <a:ea typeface="DejaVu Sans"/>
                <a:cs typeface="DejaVu Sans"/>
              </a:defRPr>
            </a:lvl3pPr>
            <a:lvl4pPr>
              <a:defRPr sz="1500" b="1">
                <a:solidFill>
                  <a:srgbClr val="7CE2D0"/>
                </a:solidFill>
                <a:latin typeface="DejaVu Sans"/>
                <a:ea typeface="DejaVu Sans"/>
                <a:cs typeface="DejaVu Sans"/>
              </a:defRPr>
            </a:lvl4pPr>
            <a:lvl5pPr>
              <a:defRPr sz="1500" b="1">
                <a:solidFill>
                  <a:srgbClr val="7CE2D0"/>
                </a:solidFill>
                <a:latin typeface="DejaVu Sans"/>
                <a:ea typeface="DejaVu Sans"/>
                <a:cs typeface="DejaVu Sans"/>
              </a:defRPr>
            </a:lvl5pPr>
            <a:lvl6pPr>
              <a:defRPr sz="1500" b="1">
                <a:solidFill>
                  <a:srgbClr val="7CE2D0"/>
                </a:solidFill>
                <a:latin typeface="DejaVu Sans"/>
                <a:ea typeface="DejaVu Sans"/>
                <a:cs typeface="DejaVu Sans"/>
              </a:defRPr>
            </a:lvl6pPr>
            <a:lvl7pPr>
              <a:defRPr sz="1500" b="1">
                <a:solidFill>
                  <a:srgbClr val="7CE2D0"/>
                </a:solidFill>
                <a:latin typeface="DejaVu Sans"/>
                <a:ea typeface="DejaVu Sans"/>
                <a:cs typeface="DejaVu Sans"/>
              </a:defRPr>
            </a:lvl7pPr>
            <a:lvl8pPr>
              <a:defRPr sz="1500" b="1">
                <a:solidFill>
                  <a:srgbClr val="7CE2D0"/>
                </a:solidFill>
                <a:latin typeface="DejaVu Sans"/>
                <a:ea typeface="DejaVu Sans"/>
                <a:cs typeface="DejaVu Sans"/>
              </a:defRPr>
            </a:lvl8pPr>
            <a:lvl9pPr>
              <a:defRPr sz="1500" b="1">
                <a:solidFill>
                  <a:srgbClr val="7CE2D0"/>
                </a:solidFill>
                <a:latin typeface="DejaVu Sans"/>
                <a:ea typeface="DejaVu Sans"/>
                <a:cs typeface="DejaVu Sans"/>
              </a:defRPr>
            </a:lvl9pPr>
          </a:lstStyle>
          <a:p xmlns:a="http://schemas.openxmlformats.org/drawingml/2006/main">
            <a:pPr>
              <a:defRPr sz="1500" b="1">
                <a:solidFill>
                  <a:srgbClr val="7CE2D0"/>
                </a:solidFill>
                <a:latin typeface="DejaVu Sans"/>
                <a:ea typeface="DejaVu Sans"/>
                <a:cs typeface="DejaVu Sans"/>
              </a:defRPr>
            </a:pPr>
            <a:r>
              <a:rPr sz="1500" b="1">
                <a:solidFill>
                  <a:srgbClr val="7CE2D0"/>
                </a:solidFill>
                <a:latin typeface="DejaVu Sans"/>
                <a:ea typeface="DejaVu Sans"/>
                <a:cs typeface="DejaVu Sans"/>
              </a:rPr>
              <a:t>APPLICATION HEADS</a:t>
            </a:r>
          </a:p>
        </p:txBody>
      </p:sp>
      <p:sp>
        <p:nvSpPr>
          <p:cNvPr id="6" name="">
            <a:extLst xmlns:a="http://schemas.openxmlformats.org/drawingml/2006/main">
              <a:ext uri="{FF2B5EF4-FFF2-40B4-BE49-F238E27FC236}">
                <a16:creationId xmlns:a16="http://schemas.microsoft.com/office/drawing/2014/main" id="{6AA279AF-D6B1-497E-8207-85FBBEC59C3E}"/>
              </a:ext>
            </a:extLst>
          </p:cNvPr>
          <p:cNvSpPr>
            <a:spLocks xmlns:a="http://schemas.openxmlformats.org/drawingml/2006/main" noGrp="1"/>
          </p:cNvSpPr>
          <p:nvPr/>
        </p:nvSpPr>
        <p:spPr>
          <a:xfrm xmlns:a="http://schemas.openxmlformats.org/drawingml/2006/main">
            <a:off x="666750" y="2162175"/>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7" name="">
            <a:extLst xmlns:a="http://schemas.openxmlformats.org/drawingml/2006/main">
              <a:ext uri="{FF2B5EF4-FFF2-40B4-BE49-F238E27FC236}">
                <a16:creationId xmlns:a16="http://schemas.microsoft.com/office/drawing/2014/main" id="{546ECA05-31F0-4DC8-BCD2-C3340F255709}"/>
              </a:ext>
            </a:extLst>
          </p:cNvPr>
          <p:cNvSpPr>
            <a:spLocks xmlns:a="http://schemas.openxmlformats.org/drawingml/2006/main" noGrp="1"/>
          </p:cNvSpPr>
          <p:nvPr/>
        </p:nvSpPr>
        <p:spPr>
          <a:xfrm xmlns:a="http://schemas.openxmlformats.org/drawingml/2006/main">
            <a:off x="742950" y="2200275"/>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Images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text</a:t>
            </a:r>
          </a:p>
        </p:txBody>
      </p:sp>
      <p:sp>
        <p:nvSpPr>
          <p:cNvPr id="8" name="">
            <a:extLst xmlns:a="http://schemas.openxmlformats.org/drawingml/2006/main">
              <a:ext uri="{FF2B5EF4-FFF2-40B4-BE49-F238E27FC236}">
                <a16:creationId xmlns:a16="http://schemas.microsoft.com/office/drawing/2014/main" id="{423373EF-FD08-4B3C-96E7-465D9FBDD831}"/>
              </a:ext>
            </a:extLst>
          </p:cNvPr>
          <p:cNvSpPr>
            <a:spLocks xmlns:a="http://schemas.openxmlformats.org/drawingml/2006/main" noGrp="1"/>
          </p:cNvSpPr>
          <p:nvPr/>
        </p:nvSpPr>
        <p:spPr>
          <a:xfrm xmlns:a="http://schemas.openxmlformats.org/drawingml/2006/main">
            <a:off x="666750" y="3486150"/>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9" name="">
            <a:extLst xmlns:a="http://schemas.openxmlformats.org/drawingml/2006/main">
              <a:ext uri="{FF2B5EF4-FFF2-40B4-BE49-F238E27FC236}">
                <a16:creationId xmlns:a16="http://schemas.microsoft.com/office/drawing/2014/main" id="{A6A9B33D-F3D5-4AB7-B3DE-7312899E6735}"/>
              </a:ext>
            </a:extLst>
          </p:cNvPr>
          <p:cNvSpPr>
            <a:spLocks xmlns:a="http://schemas.openxmlformats.org/drawingml/2006/main" noGrp="1"/>
          </p:cNvSpPr>
          <p:nvPr/>
        </p:nvSpPr>
        <p:spPr>
          <a:xfrm xmlns:a="http://schemas.openxmlformats.org/drawingml/2006/main">
            <a:off x="742950" y="35242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Entities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relations</a:t>
            </a:r>
          </a:p>
        </p:txBody>
      </p:sp>
      <p:sp>
        <p:nvSpPr>
          <p:cNvPr id="10" name="">
            <a:extLst xmlns:a="http://schemas.openxmlformats.org/drawingml/2006/main">
              <a:ext uri="{FF2B5EF4-FFF2-40B4-BE49-F238E27FC236}">
                <a16:creationId xmlns:a16="http://schemas.microsoft.com/office/drawing/2014/main" id="{2FC4CD55-2C6D-40DB-B6A8-41168A93C570}"/>
              </a:ext>
            </a:extLst>
          </p:cNvPr>
          <p:cNvSpPr>
            <a:spLocks xmlns:a="http://schemas.openxmlformats.org/drawingml/2006/main" noGrp="1"/>
          </p:cNvSpPr>
          <p:nvPr/>
        </p:nvSpPr>
        <p:spPr>
          <a:xfrm xmlns:a="http://schemas.openxmlformats.org/drawingml/2006/main">
            <a:off x="666750" y="4810125"/>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11" name="">
            <a:extLst xmlns:a="http://schemas.openxmlformats.org/drawingml/2006/main">
              <a:ext uri="{FF2B5EF4-FFF2-40B4-BE49-F238E27FC236}">
                <a16:creationId xmlns:a16="http://schemas.microsoft.com/office/drawing/2014/main" id="{2044BABE-F6A3-47A6-8A55-A46864FDF130}"/>
              </a:ext>
            </a:extLst>
          </p:cNvPr>
          <p:cNvSpPr>
            <a:spLocks xmlns:a="http://schemas.openxmlformats.org/drawingml/2006/main" noGrp="1"/>
          </p:cNvSpPr>
          <p:nvPr/>
        </p:nvSpPr>
        <p:spPr>
          <a:xfrm xmlns:a="http://schemas.openxmlformats.org/drawingml/2006/main">
            <a:off x="742950" y="4848225"/>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Sales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time</a:t>
            </a:r>
          </a:p>
        </p:txBody>
      </p:sp>
      <p:sp>
        <p:nvSpPr>
          <p:cNvPr id="12" name="">
            <a:extLst xmlns:a="http://schemas.openxmlformats.org/drawingml/2006/main">
              <a:ext uri="{FF2B5EF4-FFF2-40B4-BE49-F238E27FC236}">
                <a16:creationId xmlns:a16="http://schemas.microsoft.com/office/drawing/2014/main" id="{8431BD51-DC16-433B-812B-A59B959AE8F5}"/>
              </a:ext>
            </a:extLst>
          </p:cNvPr>
          <p:cNvSpPr>
            <a:spLocks xmlns:a="http://schemas.openxmlformats.org/drawingml/2006/main" noGrp="1"/>
          </p:cNvSpPr>
          <p:nvPr/>
        </p:nvSpPr>
        <p:spPr>
          <a:xfrm xmlns:a="http://schemas.openxmlformats.org/drawingml/2006/main">
            <a:off x="4048125" y="2038350"/>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3" name="">
            <a:extLst xmlns:a="http://schemas.openxmlformats.org/drawingml/2006/main">
              <a:ext uri="{FF2B5EF4-FFF2-40B4-BE49-F238E27FC236}">
                <a16:creationId xmlns:a16="http://schemas.microsoft.com/office/drawing/2014/main" id="{9828E520-0466-44B4-AE56-C5FFF73400B5}"/>
              </a:ext>
            </a:extLst>
          </p:cNvPr>
          <p:cNvSpPr>
            <a:spLocks xmlns:a="http://schemas.openxmlformats.org/drawingml/2006/main" noGrp="1"/>
          </p:cNvSpPr>
          <p:nvPr/>
        </p:nvSpPr>
        <p:spPr>
          <a:xfrm xmlns:a="http://schemas.openxmlformats.org/drawingml/2006/main">
            <a:off x="4124325" y="2076450"/>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Multimodal</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encoders</a:t>
            </a:r>
          </a:p>
        </p:txBody>
      </p:sp>
      <p:sp>
        <p:nvSpPr>
          <p:cNvPr id="14" name="">
            <a:extLst xmlns:a="http://schemas.openxmlformats.org/drawingml/2006/main">
              <a:ext uri="{FF2B5EF4-FFF2-40B4-BE49-F238E27FC236}">
                <a16:creationId xmlns:a16="http://schemas.microsoft.com/office/drawing/2014/main" id="{15EE2BC8-1766-4106-90EB-63EFE80B1BAD}"/>
              </a:ext>
            </a:extLst>
          </p:cNvPr>
          <p:cNvSpPr>
            <a:spLocks xmlns:a="http://schemas.openxmlformats.org/drawingml/2006/main" noGrp="1"/>
          </p:cNvSpPr>
          <p:nvPr/>
        </p:nvSpPr>
        <p:spPr>
          <a:xfrm xmlns:a="http://schemas.openxmlformats.org/drawingml/2006/main">
            <a:off x="4048125" y="3057525"/>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5" name="">
            <a:extLst xmlns:a="http://schemas.openxmlformats.org/drawingml/2006/main">
              <a:ext uri="{FF2B5EF4-FFF2-40B4-BE49-F238E27FC236}">
                <a16:creationId xmlns:a16="http://schemas.microsoft.com/office/drawing/2014/main" id="{1FC39C2F-5718-4D44-AA8A-AA795ECE6A44}"/>
              </a:ext>
            </a:extLst>
          </p:cNvPr>
          <p:cNvSpPr>
            <a:spLocks xmlns:a="http://schemas.openxmlformats.org/drawingml/2006/main" noGrp="1"/>
          </p:cNvSpPr>
          <p:nvPr/>
        </p:nvSpPr>
        <p:spPr>
          <a:xfrm xmlns:a="http://schemas.openxmlformats.org/drawingml/2006/main">
            <a:off x="4124325" y="3095625"/>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learning</a:t>
            </a:r>
          </a:p>
        </p:txBody>
      </p:sp>
      <p:sp>
        <p:nvSpPr>
          <p:cNvPr id="16" name="">
            <a:extLst xmlns:a="http://schemas.openxmlformats.org/drawingml/2006/main">
              <a:ext uri="{FF2B5EF4-FFF2-40B4-BE49-F238E27FC236}">
                <a16:creationId xmlns:a16="http://schemas.microsoft.com/office/drawing/2014/main" id="{DF22D127-4654-4276-A8B6-79480D3E9F2C}"/>
              </a:ext>
            </a:extLst>
          </p:cNvPr>
          <p:cNvSpPr>
            <a:spLocks xmlns:a="http://schemas.openxmlformats.org/drawingml/2006/main" noGrp="1"/>
          </p:cNvSpPr>
          <p:nvPr/>
        </p:nvSpPr>
        <p:spPr>
          <a:xfrm xmlns:a="http://schemas.openxmlformats.org/drawingml/2006/main">
            <a:off x="4048125" y="4076700"/>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7" name="">
            <a:extLst xmlns:a="http://schemas.openxmlformats.org/drawingml/2006/main">
              <a:ext uri="{FF2B5EF4-FFF2-40B4-BE49-F238E27FC236}">
                <a16:creationId xmlns:a16="http://schemas.microsoft.com/office/drawing/2014/main" id="{4BC4A191-51BE-4B6F-B47B-CC2115F08AB5}"/>
              </a:ext>
            </a:extLst>
          </p:cNvPr>
          <p:cNvSpPr>
            <a:spLocks xmlns:a="http://schemas.openxmlformats.org/drawingml/2006/main" noGrp="1"/>
          </p:cNvSpPr>
          <p:nvPr/>
        </p:nvSpPr>
        <p:spPr>
          <a:xfrm xmlns:a="http://schemas.openxmlformats.org/drawingml/2006/main">
            <a:off x="4124325" y="4114800"/>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Temporal</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models</a:t>
            </a:r>
          </a:p>
        </p:txBody>
      </p:sp>
      <p:sp>
        <p:nvSpPr>
          <p:cNvPr id="18" name="">
            <a:extLst xmlns:a="http://schemas.openxmlformats.org/drawingml/2006/main">
              <a:ext uri="{FF2B5EF4-FFF2-40B4-BE49-F238E27FC236}">
                <a16:creationId xmlns:a16="http://schemas.microsoft.com/office/drawing/2014/main" id="{379C339F-65E3-4579-88B0-A441063DECE3}"/>
              </a:ext>
            </a:extLst>
          </p:cNvPr>
          <p:cNvSpPr>
            <a:spLocks xmlns:a="http://schemas.openxmlformats.org/drawingml/2006/main" noGrp="1"/>
          </p:cNvSpPr>
          <p:nvPr/>
        </p:nvSpPr>
        <p:spPr>
          <a:xfrm xmlns:a="http://schemas.openxmlformats.org/drawingml/2006/main">
            <a:off x="4048125" y="5095875"/>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9" name="">
            <a:extLst xmlns:a="http://schemas.openxmlformats.org/drawingml/2006/main">
              <a:ext uri="{FF2B5EF4-FFF2-40B4-BE49-F238E27FC236}">
                <a16:creationId xmlns:a16="http://schemas.microsoft.com/office/drawing/2014/main" id="{2EEAEFA3-A0A0-4EC8-9E58-FFF54ECBA1DA}"/>
              </a:ext>
            </a:extLst>
          </p:cNvPr>
          <p:cNvSpPr>
            <a:spLocks xmlns:a="http://schemas.openxmlformats.org/drawingml/2006/main" noGrp="1"/>
          </p:cNvSpPr>
          <p:nvPr/>
        </p:nvSpPr>
        <p:spPr>
          <a:xfrm xmlns:a="http://schemas.openxmlformats.org/drawingml/2006/main">
            <a:off x="4124325" y="5133975"/>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LLMs +</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GraphRAG</a:t>
            </a:r>
          </a:p>
        </p:txBody>
      </p:sp>
      <p:sp>
        <p:nvSpPr>
          <p:cNvPr id="20" name="">
            <a:extLst xmlns:a="http://schemas.openxmlformats.org/drawingml/2006/main">
              <a:ext uri="{FF2B5EF4-FFF2-40B4-BE49-F238E27FC236}">
                <a16:creationId xmlns:a16="http://schemas.microsoft.com/office/drawing/2014/main" id="{E3801985-C6C9-447F-8EEF-3DDA49E2AEB1}"/>
              </a:ext>
            </a:extLst>
          </p:cNvPr>
          <p:cNvSpPr>
            <a:spLocks xmlns:a="http://schemas.openxmlformats.org/drawingml/2006/main" noGrp="1"/>
          </p:cNvSpPr>
          <p:nvPr/>
        </p:nvSpPr>
        <p:spPr>
          <a:xfrm xmlns:a="http://schemas.openxmlformats.org/drawingml/2006/main">
            <a:off x="8248650" y="2000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1" name="">
            <a:extLst xmlns:a="http://schemas.openxmlformats.org/drawingml/2006/main">
              <a:ext uri="{FF2B5EF4-FFF2-40B4-BE49-F238E27FC236}">
                <a16:creationId xmlns:a16="http://schemas.microsoft.com/office/drawing/2014/main" id="{08D60FE8-8B18-4541-A312-8FEBE7646AB0}"/>
              </a:ext>
            </a:extLst>
          </p:cNvPr>
          <p:cNvSpPr>
            <a:spLocks xmlns:a="http://schemas.openxmlformats.org/drawingml/2006/main" noGrp="1"/>
          </p:cNvSpPr>
          <p:nvPr/>
        </p:nvSpPr>
        <p:spPr>
          <a:xfrm xmlns:a="http://schemas.openxmlformats.org/drawingml/2006/main">
            <a:off x="8324850" y="2038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Catalogue intelligence</a:t>
            </a:r>
          </a:p>
        </p:txBody>
      </p:sp>
      <p:sp>
        <p:nvSpPr>
          <p:cNvPr id="22" name="">
            <a:extLst xmlns:a="http://schemas.openxmlformats.org/drawingml/2006/main">
              <a:ext uri="{FF2B5EF4-FFF2-40B4-BE49-F238E27FC236}">
                <a16:creationId xmlns:a16="http://schemas.microsoft.com/office/drawing/2014/main" id="{26CD54F7-8DA4-4C78-8379-9FED510D6B33}"/>
              </a:ext>
            </a:extLst>
          </p:cNvPr>
          <p:cNvSpPr>
            <a:spLocks xmlns:a="http://schemas.openxmlformats.org/drawingml/2006/main" noGrp="1"/>
          </p:cNvSpPr>
          <p:nvPr/>
        </p:nvSpPr>
        <p:spPr>
          <a:xfrm xmlns:a="http://schemas.openxmlformats.org/drawingml/2006/main">
            <a:off x="8248650" y="2571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3" name="">
            <a:extLst xmlns:a="http://schemas.openxmlformats.org/drawingml/2006/main">
              <a:ext uri="{FF2B5EF4-FFF2-40B4-BE49-F238E27FC236}">
                <a16:creationId xmlns:a16="http://schemas.microsoft.com/office/drawing/2014/main" id="{3AC76A9C-C66A-482E-9262-E1943CF9D845}"/>
              </a:ext>
            </a:extLst>
          </p:cNvPr>
          <p:cNvSpPr>
            <a:spLocks xmlns:a="http://schemas.openxmlformats.org/drawingml/2006/main" noGrp="1"/>
          </p:cNvSpPr>
          <p:nvPr/>
        </p:nvSpPr>
        <p:spPr>
          <a:xfrm xmlns:a="http://schemas.openxmlformats.org/drawingml/2006/main">
            <a:off x="8324850" y="2609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Counterfeit detection</a:t>
            </a:r>
          </a:p>
        </p:txBody>
      </p:sp>
      <p:sp>
        <p:nvSpPr>
          <p:cNvPr id="24" name="">
            <a:extLst xmlns:a="http://schemas.openxmlformats.org/drawingml/2006/main">
              <a:ext uri="{FF2B5EF4-FFF2-40B4-BE49-F238E27FC236}">
                <a16:creationId xmlns:a16="http://schemas.microsoft.com/office/drawing/2014/main" id="{3CA049BB-FD75-4FE5-BCCB-BE7942CD0631}"/>
              </a:ext>
            </a:extLst>
          </p:cNvPr>
          <p:cNvSpPr>
            <a:spLocks xmlns:a="http://schemas.openxmlformats.org/drawingml/2006/main" noGrp="1"/>
          </p:cNvSpPr>
          <p:nvPr/>
        </p:nvSpPr>
        <p:spPr>
          <a:xfrm xmlns:a="http://schemas.openxmlformats.org/drawingml/2006/main">
            <a:off x="8248650" y="3143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5" name="">
            <a:extLst xmlns:a="http://schemas.openxmlformats.org/drawingml/2006/main">
              <a:ext uri="{FF2B5EF4-FFF2-40B4-BE49-F238E27FC236}">
                <a16:creationId xmlns:a16="http://schemas.microsoft.com/office/drawing/2014/main" id="{41EB2753-64E3-427D-8407-4729D5AB65F9}"/>
              </a:ext>
            </a:extLst>
          </p:cNvPr>
          <p:cNvSpPr>
            <a:spLocks xmlns:a="http://schemas.openxmlformats.org/drawingml/2006/main" noGrp="1"/>
          </p:cNvSpPr>
          <p:nvPr/>
        </p:nvSpPr>
        <p:spPr>
          <a:xfrm xmlns:a="http://schemas.openxmlformats.org/drawingml/2006/main">
            <a:off x="8324850" y="3181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Offensive-content models</a:t>
            </a:r>
          </a:p>
        </p:txBody>
      </p:sp>
      <p:sp>
        <p:nvSpPr>
          <p:cNvPr id="26" name="">
            <a:extLst xmlns:a="http://schemas.openxmlformats.org/drawingml/2006/main">
              <a:ext uri="{FF2B5EF4-FFF2-40B4-BE49-F238E27FC236}">
                <a16:creationId xmlns:a16="http://schemas.microsoft.com/office/drawing/2014/main" id="{B67E7058-8FB8-40CC-9535-42529CE92347}"/>
              </a:ext>
            </a:extLst>
          </p:cNvPr>
          <p:cNvSpPr>
            <a:spLocks xmlns:a="http://schemas.openxmlformats.org/drawingml/2006/main" noGrp="1"/>
          </p:cNvSpPr>
          <p:nvPr/>
        </p:nvSpPr>
        <p:spPr>
          <a:xfrm xmlns:a="http://schemas.openxmlformats.org/drawingml/2006/main">
            <a:off x="8248650" y="3714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7" name="">
            <a:extLst xmlns:a="http://schemas.openxmlformats.org/drawingml/2006/main">
              <a:ext uri="{FF2B5EF4-FFF2-40B4-BE49-F238E27FC236}">
                <a16:creationId xmlns:a16="http://schemas.microsoft.com/office/drawing/2014/main" id="{4C8A62FC-084F-4152-95F3-6147EB5B7F90}"/>
              </a:ext>
            </a:extLst>
          </p:cNvPr>
          <p:cNvSpPr>
            <a:spLocks xmlns:a="http://schemas.openxmlformats.org/drawingml/2006/main" noGrp="1"/>
          </p:cNvSpPr>
          <p:nvPr/>
        </p:nvSpPr>
        <p:spPr>
          <a:xfrm xmlns:a="http://schemas.openxmlformats.org/drawingml/2006/main">
            <a:off x="8324850" y="3752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One Demand forecasting</a:t>
            </a:r>
          </a:p>
        </p:txBody>
      </p:sp>
      <p:sp>
        <p:nvSpPr>
          <p:cNvPr id="28" name="">
            <a:extLst xmlns:a="http://schemas.openxmlformats.org/drawingml/2006/main">
              <a:ext uri="{FF2B5EF4-FFF2-40B4-BE49-F238E27FC236}">
                <a16:creationId xmlns:a16="http://schemas.microsoft.com/office/drawing/2014/main" id="{CD18AD7A-CA95-4D1C-B534-BCC96CE698E4}"/>
              </a:ext>
            </a:extLst>
          </p:cNvPr>
          <p:cNvSpPr>
            <a:spLocks xmlns:a="http://schemas.openxmlformats.org/drawingml/2006/main" noGrp="1"/>
          </p:cNvSpPr>
          <p:nvPr/>
        </p:nvSpPr>
        <p:spPr>
          <a:xfrm xmlns:a="http://schemas.openxmlformats.org/drawingml/2006/main">
            <a:off x="8248650" y="4286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9" name="">
            <a:extLst xmlns:a="http://schemas.openxmlformats.org/drawingml/2006/main">
              <a:ext uri="{FF2B5EF4-FFF2-40B4-BE49-F238E27FC236}">
                <a16:creationId xmlns:a16="http://schemas.microsoft.com/office/drawing/2014/main" id="{31DF8249-9360-4A25-8AA5-65FFDD7E637C}"/>
              </a:ext>
            </a:extLst>
          </p:cNvPr>
          <p:cNvSpPr>
            <a:spLocks xmlns:a="http://schemas.openxmlformats.org/drawingml/2006/main" noGrp="1"/>
          </p:cNvSpPr>
          <p:nvPr/>
        </p:nvSpPr>
        <p:spPr>
          <a:xfrm xmlns:a="http://schemas.openxmlformats.org/drawingml/2006/main">
            <a:off x="8324850" y="4324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Duplicate items / KGs</a:t>
            </a:r>
          </a:p>
        </p:txBody>
      </p:sp>
      <p:sp>
        <p:nvSpPr>
          <p:cNvPr id="30" name="">
            <a:extLst xmlns:a="http://schemas.openxmlformats.org/drawingml/2006/main">
              <a:ext uri="{FF2B5EF4-FFF2-40B4-BE49-F238E27FC236}">
                <a16:creationId xmlns:a16="http://schemas.microsoft.com/office/drawing/2014/main" id="{ED7C9EEE-99DB-433B-817B-AC9A9CDC13CC}"/>
              </a:ext>
            </a:extLst>
          </p:cNvPr>
          <p:cNvSpPr>
            <a:spLocks xmlns:a="http://schemas.openxmlformats.org/drawingml/2006/main" noGrp="1"/>
          </p:cNvSpPr>
          <p:nvPr/>
        </p:nvSpPr>
        <p:spPr>
          <a:xfrm xmlns:a="http://schemas.openxmlformats.org/drawingml/2006/main">
            <a:off x="8248650" y="4857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31" name="">
            <a:extLst xmlns:a="http://schemas.openxmlformats.org/drawingml/2006/main">
              <a:ext uri="{FF2B5EF4-FFF2-40B4-BE49-F238E27FC236}">
                <a16:creationId xmlns:a16="http://schemas.microsoft.com/office/drawing/2014/main" id="{F00FCC9A-3AA6-474D-9D0A-4B6BA0C33829}"/>
              </a:ext>
            </a:extLst>
          </p:cNvPr>
          <p:cNvSpPr>
            <a:spLocks xmlns:a="http://schemas.openxmlformats.org/drawingml/2006/main" noGrp="1"/>
          </p:cNvSpPr>
          <p:nvPr/>
        </p:nvSpPr>
        <p:spPr>
          <a:xfrm xmlns:a="http://schemas.openxmlformats.org/drawingml/2006/main">
            <a:off x="8324850" y="4895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Seller fraud detection</a:t>
            </a:r>
          </a:p>
        </p:txBody>
      </p:sp>
      <p:sp>
        <p:nvSpPr>
          <p:cNvPr id="32" name="">
            <a:extLst xmlns:a="http://schemas.openxmlformats.org/drawingml/2006/main">
              <a:ext uri="{FF2B5EF4-FFF2-40B4-BE49-F238E27FC236}">
                <a16:creationId xmlns:a16="http://schemas.microsoft.com/office/drawing/2014/main" id="{F30498D4-8DB9-4679-B56D-26F518575D08}"/>
              </a:ext>
            </a:extLst>
          </p:cNvPr>
          <p:cNvSpPr>
            <a:spLocks xmlns:a="http://schemas.openxmlformats.org/drawingml/2006/main" noGrp="1"/>
          </p:cNvSpPr>
          <p:nvPr/>
        </p:nvSpPr>
        <p:spPr>
          <a:xfrm xmlns:a="http://schemas.openxmlformats.org/drawingml/2006/main">
            <a:off x="8248650" y="5429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33" name="">
            <a:extLst xmlns:a="http://schemas.openxmlformats.org/drawingml/2006/main">
              <a:ext uri="{FF2B5EF4-FFF2-40B4-BE49-F238E27FC236}">
                <a16:creationId xmlns:a16="http://schemas.microsoft.com/office/drawing/2014/main" id="{B32FA5A3-7AF1-4119-A256-BACFCD6EA25D}"/>
              </a:ext>
            </a:extLst>
          </p:cNvPr>
          <p:cNvSpPr>
            <a:spLocks xmlns:a="http://schemas.openxmlformats.org/drawingml/2006/main" noGrp="1"/>
          </p:cNvSpPr>
          <p:nvPr/>
        </p:nvSpPr>
        <p:spPr>
          <a:xfrm xmlns:a="http://schemas.openxmlformats.org/drawingml/2006/main">
            <a:off x="8324850" y="5467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Live code + TDD graphs</a:t>
            </a:r>
          </a:p>
        </p:txBody>
      </p:sp>
      <p:sp>
        <p:nvSpPr>
          <p:cNvPr id="47" name="">
            <a:extLst xmlns:a="http://schemas.openxmlformats.org/drawingml/2006/main">
              <a:ext uri="{FF2B5EF4-FFF2-40B4-BE49-F238E27FC236}">
                <a16:creationId xmlns:a16="http://schemas.microsoft.com/office/drawing/2014/main" id="{59C53DDB-F67E-4FF9-BF7B-6D76A69B93DF}"/>
              </a:ext>
            </a:extLst>
          </p:cNvPr>
          <p:cNvSpPr>
            <a:spLocks xmlns:a="http://schemas.openxmlformats.org/drawingml/2006/main" noGrp="1"/>
          </p:cNvSpPr>
          <p:nvPr/>
        </p:nvSpPr>
        <p:spPr>
          <a:xfrm xmlns:a="http://schemas.openxmlformats.org/drawingml/2006/main">
            <a:off x="6096000" y="2638425"/>
            <a:ext cx="1752600" cy="1047750"/>
          </a:xfrm>
          <a:prstGeom xmlns:a="http://schemas.openxmlformats.org/drawingml/2006/main" prst="roundRect">
            <a:avLst>
              <a:gd name="adj" fmla="val 7273"/>
            </a:avLst>
          </a:prstGeom>
          <a:solidFill xmlns:a="http://schemas.openxmlformats.org/drawingml/2006/main">
            <a:srgbClr val="182A3E"/>
          </a:solidFill>
          <a:ln xmlns:a="http://schemas.openxmlformats.org/drawingml/2006/main" w="19050">
            <a:solidFill>
              <a:srgbClr val="FFCE79"/>
            </a:solidFill>
            <a:prstDash val="solid"/>
          </a:ln>
        </p:spPr>
      </p:sp>
      <p:sp>
        <p:nvSpPr>
          <p:cNvPr id="48" name="">
            <a:extLst xmlns:a="http://schemas.openxmlformats.org/drawingml/2006/main">
              <a:ext uri="{FF2B5EF4-FFF2-40B4-BE49-F238E27FC236}">
                <a16:creationId xmlns:a16="http://schemas.microsoft.com/office/drawing/2014/main" id="{A3DC6CC8-FE43-474E-A4DF-9C201E1EDBFE}"/>
              </a:ext>
            </a:extLst>
          </p:cNvPr>
          <p:cNvSpPr>
            <a:spLocks xmlns:a="http://schemas.openxmlformats.org/drawingml/2006/main" noGrp="1"/>
          </p:cNvSpPr>
          <p:nvPr/>
        </p:nvSpPr>
        <p:spPr>
          <a:xfrm xmlns:a="http://schemas.openxmlformats.org/drawingml/2006/main">
            <a:off x="6172200" y="2676525"/>
            <a:ext cx="1600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POST-TRAINING</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SFT</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DPO / RLAI</a:t>
            </a:r>
          </a:p>
        </p:txBody>
      </p:sp>
      <p:sp>
        <p:nvSpPr>
          <p:cNvPr id="53" name="">
            <a:extLst xmlns:a="http://schemas.openxmlformats.org/drawingml/2006/main">
              <a:ext uri="{FF2B5EF4-FFF2-40B4-BE49-F238E27FC236}">
                <a16:creationId xmlns:a16="http://schemas.microsoft.com/office/drawing/2014/main" id="{B3740F64-631F-4397-BDD0-C94E64413928}"/>
              </a:ext>
            </a:extLst>
          </p:cNvPr>
          <p:cNvSpPr>
            <a:spLocks xmlns:a="http://schemas.openxmlformats.org/drawingml/2006/main" noGrp="1"/>
          </p:cNvSpPr>
          <p:nvPr/>
        </p:nvSpPr>
        <p:spPr>
          <a:xfrm xmlns:a="http://schemas.openxmlformats.org/drawingml/2006/main">
            <a:off x="2619375" y="6276975"/>
            <a:ext cx="7143750" cy="342900"/>
          </a:xfrm>
          <a:prstGeom xmlns:a="http://schemas.openxmlformats.org/drawingml/2006/main" prst="roundRect">
            <a:avLst>
              <a:gd name="adj" fmla="val 22222"/>
            </a:avLst>
          </a:prstGeom>
          <a:solidFill xmlns:a="http://schemas.openxmlformats.org/drawingml/2006/main">
            <a:srgbClr val="182A3E"/>
          </a:solidFill>
          <a:ln xmlns:a="http://schemas.openxmlformats.org/drawingml/2006/main" w="19050">
            <a:solidFill>
              <a:srgbClr val="FFCE79"/>
            </a:solidFill>
            <a:prstDash val="solid"/>
          </a:ln>
        </p:spPr>
      </p:sp>
      <p:sp>
        <p:nvSpPr>
          <p:cNvPr id="54" name="">
            <a:extLst xmlns:a="http://schemas.openxmlformats.org/drawingml/2006/main">
              <a:ext uri="{FF2B5EF4-FFF2-40B4-BE49-F238E27FC236}">
                <a16:creationId xmlns:a16="http://schemas.microsoft.com/office/drawing/2014/main" id="{DC17744C-3CC1-4D35-A7BC-6E3A750F1A8E}"/>
              </a:ext>
            </a:extLst>
          </p:cNvPr>
          <p:cNvSpPr>
            <a:spLocks xmlns:a="http://schemas.openxmlformats.org/drawingml/2006/main" noGrp="1"/>
          </p:cNvSpPr>
          <p:nvPr/>
        </p:nvSpPr>
        <p:spPr>
          <a:xfrm xmlns:a="http://schemas.openxmlformats.org/drawingml/2006/main">
            <a:off x="2695575" y="6315075"/>
            <a:ext cx="699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F2F5FC"/>
                </a:solidFill>
                <a:latin typeface="DejaVu Sans"/>
                <a:ea typeface="DejaVu Sans"/>
                <a:cs typeface="DejaVu Sans"/>
              </a:defRPr>
            </a:defPPr>
            <a:lvl1pPr algn="ctr">
              <a:defRPr sz="1350" b="0">
                <a:solidFill>
                  <a:srgbClr val="F2F5FC"/>
                </a:solidFill>
                <a:latin typeface="DejaVu Sans"/>
                <a:ea typeface="DejaVu Sans"/>
                <a:cs typeface="DejaVu Sans"/>
              </a:defRPr>
            </a:lvl1pPr>
            <a:lvl2pPr algn="ctr">
              <a:defRPr sz="1350" b="0">
                <a:solidFill>
                  <a:srgbClr val="F2F5FC"/>
                </a:solidFill>
                <a:latin typeface="DejaVu Sans"/>
                <a:ea typeface="DejaVu Sans"/>
                <a:cs typeface="DejaVu Sans"/>
              </a:defRPr>
            </a:lvl2pPr>
            <a:lvl3pPr algn="ctr">
              <a:defRPr sz="1350" b="0">
                <a:solidFill>
                  <a:srgbClr val="F2F5FC"/>
                </a:solidFill>
                <a:latin typeface="DejaVu Sans"/>
                <a:ea typeface="DejaVu Sans"/>
                <a:cs typeface="DejaVu Sans"/>
              </a:defRPr>
            </a:lvl3pPr>
            <a:lvl4pPr algn="ctr">
              <a:defRPr sz="1350" b="0">
                <a:solidFill>
                  <a:srgbClr val="F2F5FC"/>
                </a:solidFill>
                <a:latin typeface="DejaVu Sans"/>
                <a:ea typeface="DejaVu Sans"/>
                <a:cs typeface="DejaVu Sans"/>
              </a:defRPr>
            </a:lvl4pPr>
            <a:lvl5pPr algn="ctr">
              <a:defRPr sz="1350" b="0">
                <a:solidFill>
                  <a:srgbClr val="F2F5FC"/>
                </a:solidFill>
                <a:latin typeface="DejaVu Sans"/>
                <a:ea typeface="DejaVu Sans"/>
                <a:cs typeface="DejaVu Sans"/>
              </a:defRPr>
            </a:lvl5pPr>
            <a:lvl6pPr algn="ctr">
              <a:defRPr sz="1350" b="0">
                <a:solidFill>
                  <a:srgbClr val="F2F5FC"/>
                </a:solidFill>
                <a:latin typeface="DejaVu Sans"/>
                <a:ea typeface="DejaVu Sans"/>
                <a:cs typeface="DejaVu Sans"/>
              </a:defRPr>
            </a:lvl6pPr>
            <a:lvl7pPr algn="ctr">
              <a:defRPr sz="1350" b="0">
                <a:solidFill>
                  <a:srgbClr val="F2F5FC"/>
                </a:solidFill>
                <a:latin typeface="DejaVu Sans"/>
                <a:ea typeface="DejaVu Sans"/>
                <a:cs typeface="DejaVu Sans"/>
              </a:defRPr>
            </a:lvl7pPr>
            <a:lvl8pPr algn="ctr">
              <a:defRPr sz="1350" b="0">
                <a:solidFill>
                  <a:srgbClr val="F2F5FC"/>
                </a:solidFill>
                <a:latin typeface="DejaVu Sans"/>
                <a:ea typeface="DejaVu Sans"/>
                <a:cs typeface="DejaVu Sans"/>
              </a:defRPr>
            </a:lvl8pPr>
            <a:lvl9pPr algn="ctr">
              <a:defRPr sz="1350" b="0">
                <a:solidFill>
                  <a:srgbClr val="F2F5FC"/>
                </a:solidFill>
                <a:latin typeface="DejaVu Sans"/>
                <a:ea typeface="DejaVu Sans"/>
                <a:cs typeface="DejaVu Sans"/>
              </a:defRPr>
            </a:lvl9pPr>
          </a:lstStyle>
          <a:p xmlns:a="http://schemas.openxmlformats.org/drawingml/2006/main">
            <a:pPr algn="ctr">
              <a:defRPr sz="1350" b="0">
                <a:solidFill>
                  <a:srgbClr val="F2F5FC"/>
                </a:solidFill>
                <a:latin typeface="DejaVu Sans"/>
                <a:ea typeface="DejaVu Sans"/>
                <a:cs typeface="DejaVu Sans"/>
              </a:defRPr>
            </a:pPr>
            <a:r>
              <a:rPr sz="1350" b="0">
                <a:solidFill>
                  <a:srgbClr val="F2F5FC"/>
                </a:solidFill>
                <a:latin typeface="DejaVu Sans"/>
                <a:ea typeface="DejaVu Sans"/>
                <a:cs typeface="DejaVu Sans"/>
              </a:rPr>
              <a:t>Human feedback + validation + model refinement</a:t>
            </a:r>
          </a:p>
        </p:txBody>
      </p:sp>
      <p:sp>
        <p:nvSpPr>
          <p:cNvPr id="57" name="">
            <a:extLst xmlns:a="http://schemas.openxmlformats.org/drawingml/2006/main">
              <a:ext uri="{FF2B5EF4-FFF2-40B4-BE49-F238E27FC236}">
                <a16:creationId xmlns:a16="http://schemas.microsoft.com/office/drawing/2014/main" id="{65A9BDE8-3102-45EB-BA18-2C28995BEAAD}"/>
              </a:ext>
            </a:extLst>
          </p:cNvPr>
          <p:cNvSpPr>
            <a:spLocks xmlns:a="http://schemas.openxmlformats.org/drawingml/2006/main" noGrp="1"/>
          </p:cNvSpPr>
          <p:nvPr/>
        </p:nvSpPr>
        <p:spPr>
          <a:xfrm xmlns:a="http://schemas.openxmlformats.org/drawingml/2006/main">
            <a:off x="8248650" y="6048375"/>
            <a:ext cx="3457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5C9"/>
                </a:solidFill>
                <a:latin typeface="DejaVu Sans"/>
                <a:ea typeface="DejaVu Sans"/>
                <a:cs typeface="DejaVu Sans"/>
              </a:defRPr>
            </a:defPPr>
            <a:lvl1pPr>
              <a:defRPr sz="1200" b="0">
                <a:solidFill>
                  <a:srgbClr val="A6B5C9"/>
                </a:solidFill>
                <a:latin typeface="DejaVu Sans"/>
                <a:ea typeface="DejaVu Sans"/>
                <a:cs typeface="DejaVu Sans"/>
              </a:defRPr>
            </a:lvl1pPr>
            <a:lvl2pPr>
              <a:defRPr sz="1200" b="0">
                <a:solidFill>
                  <a:srgbClr val="A6B5C9"/>
                </a:solidFill>
                <a:latin typeface="DejaVu Sans"/>
                <a:ea typeface="DejaVu Sans"/>
                <a:cs typeface="DejaVu Sans"/>
              </a:defRPr>
            </a:lvl2pPr>
            <a:lvl3pPr>
              <a:defRPr sz="1200" b="0">
                <a:solidFill>
                  <a:srgbClr val="A6B5C9"/>
                </a:solidFill>
                <a:latin typeface="DejaVu Sans"/>
                <a:ea typeface="DejaVu Sans"/>
                <a:cs typeface="DejaVu Sans"/>
              </a:defRPr>
            </a:lvl3pPr>
            <a:lvl4pPr>
              <a:defRPr sz="1200" b="0">
                <a:solidFill>
                  <a:srgbClr val="A6B5C9"/>
                </a:solidFill>
                <a:latin typeface="DejaVu Sans"/>
                <a:ea typeface="DejaVu Sans"/>
                <a:cs typeface="DejaVu Sans"/>
              </a:defRPr>
            </a:lvl4pPr>
            <a:lvl5pPr>
              <a:defRPr sz="1200" b="0">
                <a:solidFill>
                  <a:srgbClr val="A6B5C9"/>
                </a:solidFill>
                <a:latin typeface="DejaVu Sans"/>
                <a:ea typeface="DejaVu Sans"/>
                <a:cs typeface="DejaVu Sans"/>
              </a:defRPr>
            </a:lvl5pPr>
            <a:lvl6pPr>
              <a:defRPr sz="1200" b="0">
                <a:solidFill>
                  <a:srgbClr val="A6B5C9"/>
                </a:solidFill>
                <a:latin typeface="DejaVu Sans"/>
                <a:ea typeface="DejaVu Sans"/>
                <a:cs typeface="DejaVu Sans"/>
              </a:defRPr>
            </a:lvl6pPr>
            <a:lvl7pPr>
              <a:defRPr sz="1200" b="0">
                <a:solidFill>
                  <a:srgbClr val="A6B5C9"/>
                </a:solidFill>
                <a:latin typeface="DejaVu Sans"/>
                <a:ea typeface="DejaVu Sans"/>
                <a:cs typeface="DejaVu Sans"/>
              </a:defRPr>
            </a:lvl7pPr>
            <a:lvl8pPr>
              <a:defRPr sz="1200" b="0">
                <a:solidFill>
                  <a:srgbClr val="A6B5C9"/>
                </a:solidFill>
                <a:latin typeface="DejaVu Sans"/>
                <a:ea typeface="DejaVu Sans"/>
                <a:cs typeface="DejaVu Sans"/>
              </a:defRPr>
            </a:lvl8pPr>
            <a:lvl9pPr>
              <a:defRPr sz="1200" b="0">
                <a:solidFill>
                  <a:srgbClr val="A6B5C9"/>
                </a:solidFill>
                <a:latin typeface="DejaVu Sans"/>
                <a:ea typeface="DejaVu Sans"/>
                <a:cs typeface="DejaVu Sans"/>
              </a:defRPr>
            </a:lvl9pPr>
          </a:lstStyle>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Conceptual architecture across projects</a:t>
            </a:r>
          </a:p>
        </p:txBody>
      </p:sp>
    </p:spTree>
    <p:extLst>
      <p:ext uri="{BB962C8B-B14F-4D97-AF65-F5344CB8AC3E}">
        <p14:creationId xmlns:p14="http://schemas.microsoft.com/office/powerpoint/2010/main" val="1308769647"/>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AF1C38-ED91-417D-89D0-D23A0E2D5CE7}"/>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I was part of Walmart’s Retail Graph team</a:t>
            </a:r>
          </a:p>
        </p:txBody>
      </p:sp>
      <p:sp>
        <p:nvSpPr>
          <p:cNvPr id="2" name="">
            <a:extLst xmlns:a="http://schemas.openxmlformats.org/drawingml/2006/main">
              <a:ext uri="{FF2B5EF4-FFF2-40B4-BE49-F238E27FC236}">
                <a16:creationId xmlns:a16="http://schemas.microsoft.com/office/drawing/2014/main" id="{647D1E2F-D3D0-4F48-BDBA-47909FE1030F}"/>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A connected view of stores, sellers, items and their relationships</a:t>
            </a:r>
          </a:p>
        </p:txBody>
      </p:sp>
      <p:sp>
        <p:nvSpPr>
          <p:cNvPr id="3" name="">
            <a:extLst xmlns:a="http://schemas.openxmlformats.org/drawingml/2006/main">
              <a:ext uri="{FF2B5EF4-FFF2-40B4-BE49-F238E27FC236}">
                <a16:creationId xmlns:a16="http://schemas.microsoft.com/office/drawing/2014/main" id="{95212EF7-55D0-465C-A7BF-5A4662B7EC45}"/>
              </a:ext>
            </a:extLst>
          </p:cNvPr>
          <p:cNvSpPr>
            <a:spLocks xmlns:a="http://schemas.openxmlformats.org/drawingml/2006/main" noGrp="1"/>
          </p:cNvSpPr>
          <p:nvPr/>
        </p:nvSpPr>
        <p:spPr>
          <a:xfrm xmlns:a="http://schemas.openxmlformats.org/drawingml/2006/main">
            <a:off x="609600" y="1943100"/>
            <a:ext cx="6667500" cy="325755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YOUR RETAIL GRAPH VISUAL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Stores, sellers, items and entities</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with the relationships between them</a:t>
            </a:r>
          </a:p>
        </p:txBody>
      </p:sp>
      <p:sp>
        <p:nvSpPr>
          <p:cNvPr id="4" name="">
            <a:extLst xmlns:a="http://schemas.openxmlformats.org/drawingml/2006/main">
              <a:ext uri="{FF2B5EF4-FFF2-40B4-BE49-F238E27FC236}">
                <a16:creationId xmlns:a16="http://schemas.microsoft.com/office/drawing/2014/main" id="{09D60556-C02F-4A20-ACB8-FE04037270C4}"/>
              </a:ext>
            </a:extLst>
          </p:cNvPr>
          <p:cNvSpPr>
            <a:spLocks xmlns:a="http://schemas.openxmlformats.org/drawingml/2006/main" noGrp="1"/>
          </p:cNvSpPr>
          <p:nvPr/>
        </p:nvSpPr>
        <p:spPr>
          <a:xfrm xmlns:a="http://schemas.openxmlformats.org/drawingml/2006/main">
            <a:off x="7734300" y="198120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132A35"/>
                </a:solidFill>
                <a:latin typeface="DejaVu Sans"/>
                <a:ea typeface="DejaVu Sans"/>
                <a:cs typeface="DejaVu Sans"/>
              </a:defRPr>
            </a:defPPr>
            <a:lvl1pPr>
              <a:defRPr sz="2250" b="1">
                <a:solidFill>
                  <a:srgbClr val="132A35"/>
                </a:solidFill>
                <a:latin typeface="DejaVu Sans"/>
                <a:ea typeface="DejaVu Sans"/>
                <a:cs typeface="DejaVu Sans"/>
              </a:defRPr>
            </a:lvl1pPr>
            <a:lvl2pPr>
              <a:defRPr sz="2250" b="1">
                <a:solidFill>
                  <a:srgbClr val="132A35"/>
                </a:solidFill>
                <a:latin typeface="DejaVu Sans"/>
                <a:ea typeface="DejaVu Sans"/>
                <a:cs typeface="DejaVu Sans"/>
              </a:defRPr>
            </a:lvl2pPr>
            <a:lvl3pPr>
              <a:defRPr sz="2250" b="1">
                <a:solidFill>
                  <a:srgbClr val="132A35"/>
                </a:solidFill>
                <a:latin typeface="DejaVu Sans"/>
                <a:ea typeface="DejaVu Sans"/>
                <a:cs typeface="DejaVu Sans"/>
              </a:defRPr>
            </a:lvl3pPr>
            <a:lvl4pPr>
              <a:defRPr sz="2250" b="1">
                <a:solidFill>
                  <a:srgbClr val="132A35"/>
                </a:solidFill>
                <a:latin typeface="DejaVu Sans"/>
                <a:ea typeface="DejaVu Sans"/>
                <a:cs typeface="DejaVu Sans"/>
              </a:defRPr>
            </a:lvl4pPr>
            <a:lvl5pPr>
              <a:defRPr sz="2250" b="1">
                <a:solidFill>
                  <a:srgbClr val="132A35"/>
                </a:solidFill>
                <a:latin typeface="DejaVu Sans"/>
                <a:ea typeface="DejaVu Sans"/>
                <a:cs typeface="DejaVu Sans"/>
              </a:defRPr>
            </a:lvl5pPr>
            <a:lvl6pPr>
              <a:defRPr sz="2250" b="1">
                <a:solidFill>
                  <a:srgbClr val="132A35"/>
                </a:solidFill>
                <a:latin typeface="DejaVu Sans"/>
                <a:ea typeface="DejaVu Sans"/>
                <a:cs typeface="DejaVu Sans"/>
              </a:defRPr>
            </a:lvl6pPr>
            <a:lvl7pPr>
              <a:defRPr sz="2250" b="1">
                <a:solidFill>
                  <a:srgbClr val="132A35"/>
                </a:solidFill>
                <a:latin typeface="DejaVu Sans"/>
                <a:ea typeface="DejaVu Sans"/>
                <a:cs typeface="DejaVu Sans"/>
              </a:defRPr>
            </a:lvl7pPr>
            <a:lvl8pPr>
              <a:defRPr sz="2250" b="1">
                <a:solidFill>
                  <a:srgbClr val="132A35"/>
                </a:solidFill>
                <a:latin typeface="DejaVu Sans"/>
                <a:ea typeface="DejaVu Sans"/>
                <a:cs typeface="DejaVu Sans"/>
              </a:defRPr>
            </a:lvl8pPr>
            <a:lvl9pPr>
              <a:defRPr sz="2250" b="1">
                <a:solidFill>
                  <a:srgbClr val="132A35"/>
                </a:solidFill>
                <a:latin typeface="DejaVu Sans"/>
                <a:ea typeface="DejaVu Sans"/>
                <a:cs typeface="DejaVu Sans"/>
              </a:defRPr>
            </a:lvl9pPr>
          </a:lstStyle>
          <a:p xmlns:a="http://schemas.openxmlformats.org/drawingml/2006/main">
            <a:pPr>
              <a:defRPr sz="2250" b="1">
                <a:solidFill>
                  <a:srgbClr val="132A35"/>
                </a:solidFill>
                <a:latin typeface="DejaVu Sans"/>
                <a:ea typeface="DejaVu Sans"/>
                <a:cs typeface="DejaVu Sans"/>
              </a:defRPr>
            </a:pPr>
            <a:r>
              <a:rPr sz="2250" b="1">
                <a:solidFill>
                  <a:srgbClr val="132A35"/>
                </a:solidFill>
                <a:latin typeface="DejaVu Sans"/>
                <a:ea typeface="DejaVu Sans"/>
                <a:cs typeface="DejaVu Sans"/>
              </a:rPr>
              <a:t>Graph DB as the foundation</a:t>
            </a:r>
          </a:p>
        </p:txBody>
      </p:sp>
      <p:sp>
        <p:nvSpPr>
          <p:cNvPr id="5" name="">
            <a:extLst xmlns:a="http://schemas.openxmlformats.org/drawingml/2006/main">
              <a:ext uri="{FF2B5EF4-FFF2-40B4-BE49-F238E27FC236}">
                <a16:creationId xmlns:a16="http://schemas.microsoft.com/office/drawing/2014/main" id="{28EB8C53-7306-4C13-AAD0-00B984F460F2}"/>
              </a:ext>
            </a:extLst>
          </p:cNvPr>
          <p:cNvSpPr>
            <a:spLocks xmlns:a="http://schemas.openxmlformats.org/drawingml/2006/main" noGrp="1"/>
          </p:cNvSpPr>
          <p:nvPr/>
        </p:nvSpPr>
        <p:spPr>
          <a:xfrm xmlns:a="http://schemas.openxmlformats.org/drawingml/2006/main">
            <a:off x="7734300" y="2914650"/>
            <a:ext cx="3810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76D"/>
                </a:solidFill>
                <a:latin typeface="DejaVu Sans"/>
                <a:ea typeface="DejaVu Sans"/>
                <a:cs typeface="DejaVu Sans"/>
              </a:defRPr>
            </a:defPPr>
            <a:lvl1pPr>
              <a:defRPr sz="1875" b="0">
                <a:solidFill>
                  <a:srgbClr val="53676D"/>
                </a:solidFill>
                <a:latin typeface="DejaVu Sans"/>
                <a:ea typeface="DejaVu Sans"/>
                <a:cs typeface="DejaVu Sans"/>
              </a:defRPr>
            </a:lvl1pPr>
            <a:lvl2pPr>
              <a:defRPr sz="1875" b="0">
                <a:solidFill>
                  <a:srgbClr val="53676D"/>
                </a:solidFill>
                <a:latin typeface="DejaVu Sans"/>
                <a:ea typeface="DejaVu Sans"/>
                <a:cs typeface="DejaVu Sans"/>
              </a:defRPr>
            </a:lvl2pPr>
            <a:lvl3pPr>
              <a:defRPr sz="1875" b="0">
                <a:solidFill>
                  <a:srgbClr val="53676D"/>
                </a:solidFill>
                <a:latin typeface="DejaVu Sans"/>
                <a:ea typeface="DejaVu Sans"/>
                <a:cs typeface="DejaVu Sans"/>
              </a:defRPr>
            </a:lvl3pPr>
            <a:lvl4pPr>
              <a:defRPr sz="1875" b="0">
                <a:solidFill>
                  <a:srgbClr val="53676D"/>
                </a:solidFill>
                <a:latin typeface="DejaVu Sans"/>
                <a:ea typeface="DejaVu Sans"/>
                <a:cs typeface="DejaVu Sans"/>
              </a:defRPr>
            </a:lvl4pPr>
            <a:lvl5pPr>
              <a:defRPr sz="1875" b="0">
                <a:solidFill>
                  <a:srgbClr val="53676D"/>
                </a:solidFill>
                <a:latin typeface="DejaVu Sans"/>
                <a:ea typeface="DejaVu Sans"/>
                <a:cs typeface="DejaVu Sans"/>
              </a:defRPr>
            </a:lvl5pPr>
            <a:lvl6pPr>
              <a:defRPr sz="1875" b="0">
                <a:solidFill>
                  <a:srgbClr val="53676D"/>
                </a:solidFill>
                <a:latin typeface="DejaVu Sans"/>
                <a:ea typeface="DejaVu Sans"/>
                <a:cs typeface="DejaVu Sans"/>
              </a:defRPr>
            </a:lvl6pPr>
            <a:lvl7pPr>
              <a:defRPr sz="1875" b="0">
                <a:solidFill>
                  <a:srgbClr val="53676D"/>
                </a:solidFill>
                <a:latin typeface="DejaVu Sans"/>
                <a:ea typeface="DejaVu Sans"/>
                <a:cs typeface="DejaVu Sans"/>
              </a:defRPr>
            </a:lvl7pPr>
            <a:lvl8pPr>
              <a:defRPr sz="1875" b="0">
                <a:solidFill>
                  <a:srgbClr val="53676D"/>
                </a:solidFill>
                <a:latin typeface="DejaVu Sans"/>
                <a:ea typeface="DejaVu Sans"/>
                <a:cs typeface="DejaVu Sans"/>
              </a:defRPr>
            </a:lvl8pPr>
            <a:lvl9pPr>
              <a:defRPr sz="1875" b="0">
                <a:solidFill>
                  <a:srgbClr val="53676D"/>
                </a:solidFill>
                <a:latin typeface="DejaVu Sans"/>
                <a:ea typeface="DejaVu Sans"/>
                <a:cs typeface="DejaVu Sans"/>
              </a:defRPr>
            </a:lvl9pPr>
          </a:lstStyle>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Store entities and relationships</a:t>
            </a:r>
          </a:p>
          <a:p xmlns:a="http://schemas.openxmlformats.org/drawingml/2006/main">
            <a:r>
              <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Traverse connections directly</a:t>
            </a:r>
          </a:p>
          <a:p xmlns:a="http://schemas.openxmlformats.org/drawingml/2006/main">
            <a:r>
              <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Retrieve related items and</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connected entities</a:t>
            </a:r>
          </a:p>
        </p:txBody>
      </p:sp>
      <p:sp>
        <p:nvSpPr>
          <p:cNvPr id="6" name="">
            <a:extLst xmlns:a="http://schemas.openxmlformats.org/drawingml/2006/main">
              <a:ext uri="{FF2B5EF4-FFF2-40B4-BE49-F238E27FC236}">
                <a16:creationId xmlns:a16="http://schemas.microsoft.com/office/drawing/2014/main" id="{19B3F59D-1A77-416C-AE8B-AE0D7CEA8E15}"/>
              </a:ext>
            </a:extLst>
          </p:cNvPr>
          <p:cNvSpPr>
            <a:spLocks xmlns:a="http://schemas.openxmlformats.org/drawingml/2006/main" noGrp="1"/>
          </p:cNvSpPr>
          <p:nvPr/>
        </p:nvSpPr>
        <p:spPr>
          <a:xfrm xmlns:a="http://schemas.openxmlformats.org/drawingml/2006/main">
            <a:off x="609600" y="5562600"/>
            <a:ext cx="10934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087E83"/>
                </a:solidFill>
                <a:latin typeface="DejaVu Sans"/>
                <a:ea typeface="DejaVu Sans"/>
                <a:cs typeface="DejaVu Sans"/>
              </a:defRPr>
            </a:defPPr>
            <a:lvl1pPr>
              <a:defRPr sz="2250" b="1">
                <a:solidFill>
                  <a:srgbClr val="087E83"/>
                </a:solidFill>
                <a:latin typeface="DejaVu Sans"/>
                <a:ea typeface="DejaVu Sans"/>
                <a:cs typeface="DejaVu Sans"/>
              </a:defRPr>
            </a:lvl1pPr>
            <a:lvl2pPr>
              <a:defRPr sz="2250" b="1">
                <a:solidFill>
                  <a:srgbClr val="087E83"/>
                </a:solidFill>
                <a:latin typeface="DejaVu Sans"/>
                <a:ea typeface="DejaVu Sans"/>
                <a:cs typeface="DejaVu Sans"/>
              </a:defRPr>
            </a:lvl2pPr>
            <a:lvl3pPr>
              <a:defRPr sz="2250" b="1">
                <a:solidFill>
                  <a:srgbClr val="087E83"/>
                </a:solidFill>
                <a:latin typeface="DejaVu Sans"/>
                <a:ea typeface="DejaVu Sans"/>
                <a:cs typeface="DejaVu Sans"/>
              </a:defRPr>
            </a:lvl3pPr>
            <a:lvl4pPr>
              <a:defRPr sz="2250" b="1">
                <a:solidFill>
                  <a:srgbClr val="087E83"/>
                </a:solidFill>
                <a:latin typeface="DejaVu Sans"/>
                <a:ea typeface="DejaVu Sans"/>
                <a:cs typeface="DejaVu Sans"/>
              </a:defRPr>
            </a:lvl4pPr>
            <a:lvl5pPr>
              <a:defRPr sz="2250" b="1">
                <a:solidFill>
                  <a:srgbClr val="087E83"/>
                </a:solidFill>
                <a:latin typeface="DejaVu Sans"/>
                <a:ea typeface="DejaVu Sans"/>
                <a:cs typeface="DejaVu Sans"/>
              </a:defRPr>
            </a:lvl5pPr>
            <a:lvl6pPr>
              <a:defRPr sz="2250" b="1">
                <a:solidFill>
                  <a:srgbClr val="087E83"/>
                </a:solidFill>
                <a:latin typeface="DejaVu Sans"/>
                <a:ea typeface="DejaVu Sans"/>
                <a:cs typeface="DejaVu Sans"/>
              </a:defRPr>
            </a:lvl6pPr>
            <a:lvl7pPr>
              <a:defRPr sz="2250" b="1">
                <a:solidFill>
                  <a:srgbClr val="087E83"/>
                </a:solidFill>
                <a:latin typeface="DejaVu Sans"/>
                <a:ea typeface="DejaVu Sans"/>
                <a:cs typeface="DejaVu Sans"/>
              </a:defRPr>
            </a:lvl7pPr>
            <a:lvl8pPr>
              <a:defRPr sz="2250" b="1">
                <a:solidFill>
                  <a:srgbClr val="087E83"/>
                </a:solidFill>
                <a:latin typeface="DejaVu Sans"/>
                <a:ea typeface="DejaVu Sans"/>
                <a:cs typeface="DejaVu Sans"/>
              </a:defRPr>
            </a:lvl8pPr>
            <a:lvl9pPr>
              <a:defRPr sz="2250" b="1">
                <a:solidFill>
                  <a:srgbClr val="087E83"/>
                </a:solidFill>
                <a:latin typeface="DejaVu Sans"/>
                <a:ea typeface="DejaVu Sans"/>
                <a:cs typeface="DejaVu Sans"/>
              </a:defRPr>
            </a:lvl9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The same graph supports multiple applications</a:t>
            </a:r>
          </a:p>
        </p:txBody>
      </p:sp>
      <p:sp>
        <p:nvSpPr>
          <p:cNvPr id="7" name="">
            <a:extLst xmlns:a="http://schemas.openxmlformats.org/drawingml/2006/main">
              <a:ext uri="{FF2B5EF4-FFF2-40B4-BE49-F238E27FC236}">
                <a16:creationId xmlns:a16="http://schemas.microsoft.com/office/drawing/2014/main" id="{5005C325-FA68-4BE0-B4E1-045805CCC09B}"/>
              </a:ext>
            </a:extLst>
          </p:cNvPr>
          <p:cNvSpPr>
            <a:spLocks xmlns:a="http://schemas.openxmlformats.org/drawingml/2006/main" noGrp="1"/>
          </p:cNvSpPr>
          <p:nvPr/>
        </p:nvSpPr>
        <p:spPr>
          <a:xfrm xmlns:a="http://schemas.openxmlformats.org/drawingml/2006/main">
            <a:off x="609600" y="6038850"/>
            <a:ext cx="1093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A35"/>
                </a:solidFill>
                <a:latin typeface="DejaVu Sans"/>
                <a:ea typeface="DejaVu Sans"/>
                <a:cs typeface="DejaVu Sans"/>
              </a:defRPr>
            </a:defPPr>
            <a:lvl1pPr>
              <a:defRPr sz="1875" b="0">
                <a:solidFill>
                  <a:srgbClr val="132A35"/>
                </a:solidFill>
                <a:latin typeface="DejaVu Sans"/>
                <a:ea typeface="DejaVu Sans"/>
                <a:cs typeface="DejaVu Sans"/>
              </a:defRPr>
            </a:lvl1pPr>
            <a:lvl2pPr>
              <a:defRPr sz="1875" b="0">
                <a:solidFill>
                  <a:srgbClr val="132A35"/>
                </a:solidFill>
                <a:latin typeface="DejaVu Sans"/>
                <a:ea typeface="DejaVu Sans"/>
                <a:cs typeface="DejaVu Sans"/>
              </a:defRPr>
            </a:lvl2pPr>
            <a:lvl3pPr>
              <a:defRPr sz="1875" b="0">
                <a:solidFill>
                  <a:srgbClr val="132A35"/>
                </a:solidFill>
                <a:latin typeface="DejaVu Sans"/>
                <a:ea typeface="DejaVu Sans"/>
                <a:cs typeface="DejaVu Sans"/>
              </a:defRPr>
            </a:lvl3pPr>
            <a:lvl4pPr>
              <a:defRPr sz="1875" b="0">
                <a:solidFill>
                  <a:srgbClr val="132A35"/>
                </a:solidFill>
                <a:latin typeface="DejaVu Sans"/>
                <a:ea typeface="DejaVu Sans"/>
                <a:cs typeface="DejaVu Sans"/>
              </a:defRPr>
            </a:lvl4pPr>
            <a:lvl5pPr>
              <a:defRPr sz="1875" b="0">
                <a:solidFill>
                  <a:srgbClr val="132A35"/>
                </a:solidFill>
                <a:latin typeface="DejaVu Sans"/>
                <a:ea typeface="DejaVu Sans"/>
                <a:cs typeface="DejaVu Sans"/>
              </a:defRPr>
            </a:lvl5pPr>
            <a:lvl6pPr>
              <a:defRPr sz="1875" b="0">
                <a:solidFill>
                  <a:srgbClr val="132A35"/>
                </a:solidFill>
                <a:latin typeface="DejaVu Sans"/>
                <a:ea typeface="DejaVu Sans"/>
                <a:cs typeface="DejaVu Sans"/>
              </a:defRPr>
            </a:lvl6pPr>
            <a:lvl7pPr>
              <a:defRPr sz="1875" b="0">
                <a:solidFill>
                  <a:srgbClr val="132A35"/>
                </a:solidFill>
                <a:latin typeface="DejaVu Sans"/>
                <a:ea typeface="DejaVu Sans"/>
                <a:cs typeface="DejaVu Sans"/>
              </a:defRPr>
            </a:lvl7pPr>
            <a:lvl8pPr>
              <a:defRPr sz="1875" b="0">
                <a:solidFill>
                  <a:srgbClr val="132A35"/>
                </a:solidFill>
                <a:latin typeface="DejaVu Sans"/>
                <a:ea typeface="DejaVu Sans"/>
                <a:cs typeface="DejaVu Sans"/>
              </a:defRPr>
            </a:lvl8pPr>
            <a:lvl9pPr>
              <a:defRPr sz="1875" b="0">
                <a:solidFill>
                  <a:srgbClr val="132A35"/>
                </a:solidFill>
                <a:latin typeface="DejaVu Sans"/>
                <a:ea typeface="DejaVu Sans"/>
                <a:cs typeface="DejaVu Sans"/>
              </a:defRPr>
            </a:lvl9pPr>
          </a:lstStyle>
          <a:p xmlns:a="http://schemas.openxmlformats.org/drawingml/2006/main">
            <a:pPr>
              <a:defRPr sz="1875" b="0">
                <a:solidFill>
                  <a:srgbClr val="132A35"/>
                </a:solidFill>
                <a:latin typeface="DejaVu Sans"/>
                <a:ea typeface="DejaVu Sans"/>
                <a:cs typeface="DejaVu Sans"/>
              </a:defRPr>
            </a:pPr>
            <a:r>
              <a:rPr sz="1875" b="0">
                <a:solidFill>
                  <a:srgbClr val="132A35"/>
                </a:solidFill>
                <a:latin typeface="DejaVu Sans"/>
                <a:ea typeface="DejaVu Sans"/>
                <a:cs typeface="DejaVu Sans"/>
              </a:rPr>
              <a:t>Demand forecasting, recommendations, search and Trust &amp; Safety</a:t>
            </a:r>
          </a:p>
        </p:txBody>
      </p:sp>
    </p:spTree>
    <p:extLst>
      <p:ext uri="{BB962C8B-B14F-4D97-AF65-F5344CB8AC3E}">
        <p14:creationId xmlns:p14="http://schemas.microsoft.com/office/powerpoint/2010/main" val="793328519"/>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203EF19-1359-45B5-AA16-582FDD18FCC6}"/>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Building intelligence on the Retail Graph</a:t>
            </a:r>
          </a:p>
        </p:txBody>
      </p:sp>
      <p:sp>
        <p:nvSpPr>
          <p:cNvPr id="2" name="">
            <a:extLst xmlns:a="http://schemas.openxmlformats.org/drawingml/2006/main">
              <a:ext uri="{FF2B5EF4-FFF2-40B4-BE49-F238E27FC236}">
                <a16:creationId xmlns:a16="http://schemas.microsoft.com/office/drawing/2014/main" id="{BA85E665-AD0A-400B-A913-5DB251F2ECAE}"/>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Each capability answers a different kind of question</a:t>
            </a:r>
          </a:p>
        </p:txBody>
      </p:sp>
      <p:sp>
        <p:nvSpPr>
          <p:cNvPr id="3" name="">
            <a:extLst xmlns:a="http://schemas.openxmlformats.org/drawingml/2006/main">
              <a:ext uri="{FF2B5EF4-FFF2-40B4-BE49-F238E27FC236}">
                <a16:creationId xmlns:a16="http://schemas.microsoft.com/office/drawing/2014/main" id="{B300DE46-B691-4920-B373-91255BDC42D6}"/>
              </a:ext>
            </a:extLst>
          </p:cNvPr>
          <p:cNvSpPr>
            <a:spLocks xmlns:a="http://schemas.openxmlformats.org/drawingml/2006/main" noGrp="1"/>
          </p:cNvSpPr>
          <p:nvPr/>
        </p:nvSpPr>
        <p:spPr>
          <a:xfrm xmlns:a="http://schemas.openxmlformats.org/drawingml/2006/main">
            <a:off x="609600" y="1952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144ED2A1-E41B-4350-B873-E5F2BACCEC3B}"/>
              </a:ext>
            </a:extLst>
          </p:cNvPr>
          <p:cNvSpPr>
            <a:spLocks xmlns:a="http://schemas.openxmlformats.org/drawingml/2006/main" noGrp="1"/>
          </p:cNvSpPr>
          <p:nvPr/>
        </p:nvSpPr>
        <p:spPr>
          <a:xfrm xmlns:a="http://schemas.openxmlformats.org/drawingml/2006/main">
            <a:off x="1428750" y="19526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queries</a:t>
            </a:r>
          </a:p>
        </p:txBody>
      </p:sp>
      <p:sp>
        <p:nvSpPr>
          <p:cNvPr id="5" name="">
            <a:extLst xmlns:a="http://schemas.openxmlformats.org/drawingml/2006/main">
              <a:ext uri="{FF2B5EF4-FFF2-40B4-BE49-F238E27FC236}">
                <a16:creationId xmlns:a16="http://schemas.microsoft.com/office/drawing/2014/main" id="{44C3EC83-62AA-4E2C-B496-01268CFBF5DD}"/>
              </a:ext>
            </a:extLst>
          </p:cNvPr>
          <p:cNvSpPr>
            <a:spLocks xmlns:a="http://schemas.openxmlformats.org/drawingml/2006/main" noGrp="1"/>
          </p:cNvSpPr>
          <p:nvPr/>
        </p:nvSpPr>
        <p:spPr>
          <a:xfrm xmlns:a="http://schemas.openxmlformats.org/drawingml/2006/main">
            <a:off x="5238750" y="1952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is connected?</a:t>
            </a:r>
          </a:p>
        </p:txBody>
      </p:sp>
      <p:sp>
        <p:nvSpPr>
          <p:cNvPr id="6" name="">
            <a:extLst xmlns:a="http://schemas.openxmlformats.org/drawingml/2006/main">
              <a:ext uri="{FF2B5EF4-FFF2-40B4-BE49-F238E27FC236}">
                <a16:creationId xmlns:a16="http://schemas.microsoft.com/office/drawing/2014/main" id="{FF6F4DAA-3AFE-45DB-9031-633740D2E884}"/>
              </a:ext>
            </a:extLst>
          </p:cNvPr>
          <p:cNvSpPr>
            <a:spLocks xmlns:a="http://schemas.openxmlformats.org/drawingml/2006/main" noGrp="1"/>
          </p:cNvSpPr>
          <p:nvPr/>
        </p:nvSpPr>
        <p:spPr>
          <a:xfrm xmlns:a="http://schemas.openxmlformats.org/drawingml/2006/main">
            <a:off x="5238750" y="23431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Entity relationships and related-item retrieval</a:t>
            </a:r>
          </a:p>
        </p:txBody>
      </p:sp>
      <p:sp>
        <p:nvSpPr>
          <p:cNvPr id="7" name="">
            <a:extLst xmlns:a="http://schemas.openxmlformats.org/drawingml/2006/main">
              <a:ext uri="{FF2B5EF4-FFF2-40B4-BE49-F238E27FC236}">
                <a16:creationId xmlns:a16="http://schemas.microsoft.com/office/drawing/2014/main" id="{F47B4E40-C287-4880-9645-452CC2B93E1D}"/>
              </a:ext>
            </a:extLst>
          </p:cNvPr>
          <p:cNvSpPr>
            <a:spLocks xmlns:a="http://schemas.openxmlformats.org/drawingml/2006/main" noGrp="1"/>
          </p:cNvSpPr>
          <p:nvPr/>
        </p:nvSpPr>
        <p:spPr>
          <a:xfrm xmlns:a="http://schemas.openxmlformats.org/drawingml/2006/main">
            <a:off x="609600" y="29051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BBDD0BB4-224D-4F29-B41E-339DE3F3DC65}"/>
              </a:ext>
            </a:extLst>
          </p:cNvPr>
          <p:cNvSpPr>
            <a:spLocks xmlns:a="http://schemas.openxmlformats.org/drawingml/2006/main" noGrp="1"/>
          </p:cNvSpPr>
          <p:nvPr/>
        </p:nvSpPr>
        <p:spPr>
          <a:xfrm xmlns:a="http://schemas.openxmlformats.org/drawingml/2006/main">
            <a:off x="1428750" y="29051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algorithms</a:t>
            </a:r>
          </a:p>
        </p:txBody>
      </p:sp>
      <p:sp>
        <p:nvSpPr>
          <p:cNvPr id="9" name="">
            <a:extLst xmlns:a="http://schemas.openxmlformats.org/drawingml/2006/main">
              <a:ext uri="{FF2B5EF4-FFF2-40B4-BE49-F238E27FC236}">
                <a16:creationId xmlns:a16="http://schemas.microsoft.com/office/drawing/2014/main" id="{1429ECC9-F89B-430E-98A0-C6151C9406A8}"/>
              </a:ext>
            </a:extLst>
          </p:cNvPr>
          <p:cNvSpPr>
            <a:spLocks xmlns:a="http://schemas.openxmlformats.org/drawingml/2006/main" noGrp="1"/>
          </p:cNvSpPr>
          <p:nvPr/>
        </p:nvSpPr>
        <p:spPr>
          <a:xfrm xmlns:a="http://schemas.openxmlformats.org/drawingml/2006/main">
            <a:off x="5238750" y="29051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looks similar or forms a group?</a:t>
            </a:r>
          </a:p>
        </p:txBody>
      </p:sp>
      <p:sp>
        <p:nvSpPr>
          <p:cNvPr id="10" name="">
            <a:extLst xmlns:a="http://schemas.openxmlformats.org/drawingml/2006/main">
              <a:ext uri="{FF2B5EF4-FFF2-40B4-BE49-F238E27FC236}">
                <a16:creationId xmlns:a16="http://schemas.microsoft.com/office/drawing/2014/main" id="{863057CD-BC6F-41CD-94DA-1C454C9F124F}"/>
              </a:ext>
            </a:extLst>
          </p:cNvPr>
          <p:cNvSpPr>
            <a:spLocks xmlns:a="http://schemas.openxmlformats.org/drawingml/2006/main" noGrp="1"/>
          </p:cNvSpPr>
          <p:nvPr/>
        </p:nvSpPr>
        <p:spPr>
          <a:xfrm xmlns:a="http://schemas.openxmlformats.org/drawingml/2006/main">
            <a:off x="5238750" y="32956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Similar stores, sellers and items; communities</a:t>
            </a:r>
          </a:p>
        </p:txBody>
      </p:sp>
      <p:sp>
        <p:nvSpPr>
          <p:cNvPr id="11" name="">
            <a:extLst xmlns:a="http://schemas.openxmlformats.org/drawingml/2006/main">
              <a:ext uri="{FF2B5EF4-FFF2-40B4-BE49-F238E27FC236}">
                <a16:creationId xmlns:a16="http://schemas.microsoft.com/office/drawing/2014/main" id="{18CD2265-7375-4750-8956-72A3360B5F75}"/>
              </a:ext>
            </a:extLst>
          </p:cNvPr>
          <p:cNvSpPr>
            <a:spLocks xmlns:a="http://schemas.openxmlformats.org/drawingml/2006/main" noGrp="1"/>
          </p:cNvSpPr>
          <p:nvPr/>
        </p:nvSpPr>
        <p:spPr>
          <a:xfrm xmlns:a="http://schemas.openxmlformats.org/drawingml/2006/main">
            <a:off x="609600" y="3857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0EE3100D-6367-46E7-945F-04709AD35092}"/>
              </a:ext>
            </a:extLst>
          </p:cNvPr>
          <p:cNvSpPr>
            <a:spLocks xmlns:a="http://schemas.openxmlformats.org/drawingml/2006/main" noGrp="1"/>
          </p:cNvSpPr>
          <p:nvPr/>
        </p:nvSpPr>
        <p:spPr>
          <a:xfrm xmlns:a="http://schemas.openxmlformats.org/drawingml/2006/main">
            <a:off x="1428750" y="38576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neural networks</a:t>
            </a:r>
          </a:p>
        </p:txBody>
      </p:sp>
      <p:sp>
        <p:nvSpPr>
          <p:cNvPr id="13" name="">
            <a:extLst xmlns:a="http://schemas.openxmlformats.org/drawingml/2006/main">
              <a:ext uri="{FF2B5EF4-FFF2-40B4-BE49-F238E27FC236}">
                <a16:creationId xmlns:a16="http://schemas.microsoft.com/office/drawing/2014/main" id="{0967B80A-4547-4527-8B1E-86FB07EB6A88}"/>
              </a:ext>
            </a:extLst>
          </p:cNvPr>
          <p:cNvSpPr>
            <a:spLocks xmlns:a="http://schemas.openxmlformats.org/drawingml/2006/main" noGrp="1"/>
          </p:cNvSpPr>
          <p:nvPr/>
        </p:nvSpPr>
        <p:spPr>
          <a:xfrm xmlns:a="http://schemas.openxmlformats.org/drawingml/2006/main">
            <a:off x="5238750" y="3857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can relationships help predict?</a:t>
            </a:r>
          </a:p>
        </p:txBody>
      </p:sp>
      <p:sp>
        <p:nvSpPr>
          <p:cNvPr id="14" name="">
            <a:extLst xmlns:a="http://schemas.openxmlformats.org/drawingml/2006/main">
              <a:ext uri="{FF2B5EF4-FFF2-40B4-BE49-F238E27FC236}">
                <a16:creationId xmlns:a16="http://schemas.microsoft.com/office/drawing/2014/main" id="{CBC65CC5-8733-4529-B3CA-74A276799657}"/>
              </a:ext>
            </a:extLst>
          </p:cNvPr>
          <p:cNvSpPr>
            <a:spLocks xmlns:a="http://schemas.openxmlformats.org/drawingml/2006/main" noGrp="1"/>
          </p:cNvSpPr>
          <p:nvPr/>
        </p:nvSpPr>
        <p:spPr>
          <a:xfrm xmlns:a="http://schemas.openxmlformats.org/drawingml/2006/main">
            <a:off x="5238750" y="42481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Fraudulent sellers and cold-start demand</a:t>
            </a:r>
          </a:p>
        </p:txBody>
      </p:sp>
      <p:sp>
        <p:nvSpPr>
          <p:cNvPr id="15" name="">
            <a:extLst xmlns:a="http://schemas.openxmlformats.org/drawingml/2006/main">
              <a:ext uri="{FF2B5EF4-FFF2-40B4-BE49-F238E27FC236}">
                <a16:creationId xmlns:a16="http://schemas.microsoft.com/office/drawing/2014/main" id="{67266B03-F89A-4EB5-ABFE-14EC1FE7CE70}"/>
              </a:ext>
            </a:extLst>
          </p:cNvPr>
          <p:cNvSpPr>
            <a:spLocks xmlns:a="http://schemas.openxmlformats.org/drawingml/2006/main" noGrp="1"/>
          </p:cNvSpPr>
          <p:nvPr/>
        </p:nvSpPr>
        <p:spPr>
          <a:xfrm xmlns:a="http://schemas.openxmlformats.org/drawingml/2006/main">
            <a:off x="609600" y="48101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04</a:t>
            </a:r>
          </a:p>
        </p:txBody>
      </p:sp>
      <p:sp>
        <p:nvSpPr>
          <p:cNvPr id="16" name="">
            <a:extLst xmlns:a="http://schemas.openxmlformats.org/drawingml/2006/main">
              <a:ext uri="{FF2B5EF4-FFF2-40B4-BE49-F238E27FC236}">
                <a16:creationId xmlns:a16="http://schemas.microsoft.com/office/drawing/2014/main" id="{81731414-A42A-4BAB-AD6C-11073646BE8A}"/>
              </a:ext>
            </a:extLst>
          </p:cNvPr>
          <p:cNvSpPr>
            <a:spLocks xmlns:a="http://schemas.openxmlformats.org/drawingml/2006/main" noGrp="1"/>
          </p:cNvSpPr>
          <p:nvPr/>
        </p:nvSpPr>
        <p:spPr>
          <a:xfrm xmlns:a="http://schemas.openxmlformats.org/drawingml/2006/main">
            <a:off x="1428750" y="48101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GraphRAG</a:t>
            </a:r>
          </a:p>
        </p:txBody>
      </p:sp>
      <p:sp>
        <p:nvSpPr>
          <p:cNvPr id="17" name="">
            <a:extLst xmlns:a="http://schemas.openxmlformats.org/drawingml/2006/main">
              <a:ext uri="{FF2B5EF4-FFF2-40B4-BE49-F238E27FC236}">
                <a16:creationId xmlns:a16="http://schemas.microsoft.com/office/drawing/2014/main" id="{D3D02E96-D500-45BE-8B0F-8BA12C1410F0}"/>
              </a:ext>
            </a:extLst>
          </p:cNvPr>
          <p:cNvSpPr>
            <a:spLocks xmlns:a="http://schemas.openxmlformats.org/drawingml/2006/main" noGrp="1"/>
          </p:cNvSpPr>
          <p:nvPr/>
        </p:nvSpPr>
        <p:spPr>
          <a:xfrm xmlns:a="http://schemas.openxmlformats.org/drawingml/2006/main">
            <a:off x="5238750" y="48101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context does the LLM need?</a:t>
            </a:r>
          </a:p>
        </p:txBody>
      </p:sp>
      <p:sp>
        <p:nvSpPr>
          <p:cNvPr id="18" name="">
            <a:extLst xmlns:a="http://schemas.openxmlformats.org/drawingml/2006/main">
              <a:ext uri="{FF2B5EF4-FFF2-40B4-BE49-F238E27FC236}">
                <a16:creationId xmlns:a16="http://schemas.microsoft.com/office/drawing/2014/main" id="{E4D74100-9212-4BAE-AF85-9859A8AA8D12}"/>
              </a:ext>
            </a:extLst>
          </p:cNvPr>
          <p:cNvSpPr>
            <a:spLocks xmlns:a="http://schemas.openxmlformats.org/drawingml/2006/main" noGrp="1"/>
          </p:cNvSpPr>
          <p:nvPr/>
        </p:nvSpPr>
        <p:spPr>
          <a:xfrm xmlns:a="http://schemas.openxmlformats.org/drawingml/2006/main">
            <a:off x="5238750" y="52006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Retrieve connected evidence for reasoning</a:t>
            </a:r>
          </a:p>
        </p:txBody>
      </p:sp>
      <p:sp>
        <p:nvSpPr>
          <p:cNvPr id="19" name="">
            <a:extLst xmlns:a="http://schemas.openxmlformats.org/drawingml/2006/main">
              <a:ext uri="{FF2B5EF4-FFF2-40B4-BE49-F238E27FC236}">
                <a16:creationId xmlns:a16="http://schemas.microsoft.com/office/drawing/2014/main" id="{74A3BB14-A6E7-4926-B735-7144D9B520E1}"/>
              </a:ext>
            </a:extLst>
          </p:cNvPr>
          <p:cNvSpPr>
            <a:spLocks xmlns:a="http://schemas.openxmlformats.org/drawingml/2006/main" noGrp="1"/>
          </p:cNvSpPr>
          <p:nvPr/>
        </p:nvSpPr>
        <p:spPr>
          <a:xfrm xmlns:a="http://schemas.openxmlformats.org/drawingml/2006/main">
            <a:off x="609600" y="60388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Similarity supports forecasting, recommendations and search. Communities surface collusion.</a:t>
            </a:r>
          </a:p>
        </p:txBody>
      </p:sp>
    </p:spTree>
    <p:extLst>
      <p:ext uri="{BB962C8B-B14F-4D97-AF65-F5344CB8AC3E}">
        <p14:creationId xmlns:p14="http://schemas.microsoft.com/office/powerpoint/2010/main" val="76804555"/>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73AEF3-AD54-46CB-89B2-33318FD66163}"/>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GraphRAG for code &amp; business logic</a:t>
            </a:r>
          </a:p>
        </p:txBody>
      </p:sp>
      <p:sp>
        <p:nvSpPr>
          <p:cNvPr id="2" name="">
            <a:extLst xmlns:a="http://schemas.openxmlformats.org/drawingml/2006/main">
              <a:ext uri="{FF2B5EF4-FFF2-40B4-BE49-F238E27FC236}">
                <a16:creationId xmlns:a16="http://schemas.microsoft.com/office/drawing/2014/main" id="{C63C2C4F-2F21-421C-8A3A-85BAD5AA682F}"/>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Optum data interoperability: connected context for generation and change</a:t>
            </a:r>
          </a:p>
        </p:txBody>
      </p:sp>
      <p:sp>
        <p:nvSpPr>
          <p:cNvPr id="3" name="">
            <a:extLst xmlns:a="http://schemas.openxmlformats.org/drawingml/2006/main">
              <a:ext uri="{FF2B5EF4-FFF2-40B4-BE49-F238E27FC236}">
                <a16:creationId xmlns:a16="http://schemas.microsoft.com/office/drawing/2014/main" id="{4509FB59-9467-4526-894A-3BE70B56EAA1}"/>
              </a:ext>
            </a:extLst>
          </p:cNvPr>
          <p:cNvSpPr>
            <a:spLocks xmlns:a="http://schemas.openxmlformats.org/drawingml/2006/main" noGrp="1"/>
          </p:cNvSpPr>
          <p:nvPr/>
        </p:nvSpPr>
        <p:spPr>
          <a:xfrm xmlns:a="http://schemas.openxmlformats.org/drawingml/2006/main">
            <a:off x="609600" y="19431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087E83"/>
                </a:solidFill>
                <a:latin typeface="DejaVu Sans"/>
                <a:ea typeface="DejaVu Sans"/>
                <a:cs typeface="DejaVu Sans"/>
              </a:defRPr>
            </a:defPPr>
            <a:lvl1pPr>
              <a:defRPr sz="2250" b="1">
                <a:solidFill>
                  <a:srgbClr val="087E83"/>
                </a:solidFill>
                <a:latin typeface="DejaVu Sans"/>
                <a:ea typeface="DejaVu Sans"/>
                <a:cs typeface="DejaVu Sans"/>
              </a:defRPr>
            </a:lvl1pPr>
            <a:lvl2pPr>
              <a:defRPr sz="2250" b="1">
                <a:solidFill>
                  <a:srgbClr val="087E83"/>
                </a:solidFill>
                <a:latin typeface="DejaVu Sans"/>
                <a:ea typeface="DejaVu Sans"/>
                <a:cs typeface="DejaVu Sans"/>
              </a:defRPr>
            </a:lvl2pPr>
            <a:lvl3pPr>
              <a:defRPr sz="2250" b="1">
                <a:solidFill>
                  <a:srgbClr val="087E83"/>
                </a:solidFill>
                <a:latin typeface="DejaVu Sans"/>
                <a:ea typeface="DejaVu Sans"/>
                <a:cs typeface="DejaVu Sans"/>
              </a:defRPr>
            </a:lvl3pPr>
            <a:lvl4pPr>
              <a:defRPr sz="2250" b="1">
                <a:solidFill>
                  <a:srgbClr val="087E83"/>
                </a:solidFill>
                <a:latin typeface="DejaVu Sans"/>
                <a:ea typeface="DejaVu Sans"/>
                <a:cs typeface="DejaVu Sans"/>
              </a:defRPr>
            </a:lvl4pPr>
            <a:lvl5pPr>
              <a:defRPr sz="2250" b="1">
                <a:solidFill>
                  <a:srgbClr val="087E83"/>
                </a:solidFill>
                <a:latin typeface="DejaVu Sans"/>
                <a:ea typeface="DejaVu Sans"/>
                <a:cs typeface="DejaVu Sans"/>
              </a:defRPr>
            </a:lvl5pPr>
            <a:lvl6pPr>
              <a:defRPr sz="2250" b="1">
                <a:solidFill>
                  <a:srgbClr val="087E83"/>
                </a:solidFill>
                <a:latin typeface="DejaVu Sans"/>
                <a:ea typeface="DejaVu Sans"/>
                <a:cs typeface="DejaVu Sans"/>
              </a:defRPr>
            </a:lvl6pPr>
            <a:lvl7pPr>
              <a:defRPr sz="2250" b="1">
                <a:solidFill>
                  <a:srgbClr val="087E83"/>
                </a:solidFill>
                <a:latin typeface="DejaVu Sans"/>
                <a:ea typeface="DejaVu Sans"/>
                <a:cs typeface="DejaVu Sans"/>
              </a:defRPr>
            </a:lvl7pPr>
            <a:lvl8pPr>
              <a:defRPr sz="2250" b="1">
                <a:solidFill>
                  <a:srgbClr val="087E83"/>
                </a:solidFill>
                <a:latin typeface="DejaVu Sans"/>
                <a:ea typeface="DejaVu Sans"/>
                <a:cs typeface="DejaVu Sans"/>
              </a:defRPr>
            </a:lvl8pPr>
            <a:lvl9pPr>
              <a:defRPr sz="2250" b="1">
                <a:solidFill>
                  <a:srgbClr val="087E83"/>
                </a:solidFill>
                <a:latin typeface="DejaVu Sans"/>
                <a:ea typeface="DejaVu Sans"/>
                <a:cs typeface="DejaVu Sans"/>
              </a:defRPr>
            </a:lvl9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Separate graphs</a:t>
            </a:r>
          </a:p>
        </p:txBody>
      </p:sp>
      <p:sp>
        <p:nvSpPr>
          <p:cNvPr id="4" name="">
            <a:extLst xmlns:a="http://schemas.openxmlformats.org/drawingml/2006/main">
              <a:ext uri="{FF2B5EF4-FFF2-40B4-BE49-F238E27FC236}">
                <a16:creationId xmlns:a16="http://schemas.microsoft.com/office/drawing/2014/main" id="{114EB719-2EE3-4EB2-94C7-9C7E798CAE1D}"/>
              </a:ext>
            </a:extLst>
          </p:cNvPr>
          <p:cNvSpPr>
            <a:spLocks xmlns:a="http://schemas.openxmlformats.org/drawingml/2006/main" noGrp="1"/>
          </p:cNvSpPr>
          <p:nvPr/>
        </p:nvSpPr>
        <p:spPr>
          <a:xfrm xmlns:a="http://schemas.openxmlformats.org/drawingml/2006/main">
            <a:off x="609600" y="254317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Code graph</a:t>
            </a:r>
          </a:p>
        </p:txBody>
      </p:sp>
      <p:sp>
        <p:nvSpPr>
          <p:cNvPr id="5" name="">
            <a:extLst xmlns:a="http://schemas.openxmlformats.org/drawingml/2006/main">
              <a:ext uri="{FF2B5EF4-FFF2-40B4-BE49-F238E27FC236}">
                <a16:creationId xmlns:a16="http://schemas.microsoft.com/office/drawing/2014/main" id="{B26B2221-59F7-47EA-BC43-D6976017B4E4}"/>
              </a:ext>
            </a:extLst>
          </p:cNvPr>
          <p:cNvSpPr>
            <a:spLocks xmlns:a="http://schemas.openxmlformats.org/drawingml/2006/main" noGrp="1"/>
          </p:cNvSpPr>
          <p:nvPr/>
        </p:nvSpPr>
        <p:spPr>
          <a:xfrm xmlns:a="http://schemas.openxmlformats.org/drawingml/2006/main">
            <a:off x="609600" y="291465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Functions and dependencies</a:t>
            </a:r>
          </a:p>
        </p:txBody>
      </p:sp>
      <p:sp>
        <p:nvSpPr>
          <p:cNvPr id="6" name="">
            <a:extLst xmlns:a="http://schemas.openxmlformats.org/drawingml/2006/main">
              <a:ext uri="{FF2B5EF4-FFF2-40B4-BE49-F238E27FC236}">
                <a16:creationId xmlns:a16="http://schemas.microsoft.com/office/drawing/2014/main" id="{CA6C866E-70B1-4A91-85F5-BFB9AC06A317}"/>
              </a:ext>
            </a:extLst>
          </p:cNvPr>
          <p:cNvSpPr>
            <a:spLocks xmlns:a="http://schemas.openxmlformats.org/drawingml/2006/main" noGrp="1"/>
          </p:cNvSpPr>
          <p:nvPr/>
        </p:nvSpPr>
        <p:spPr>
          <a:xfrm xmlns:a="http://schemas.openxmlformats.org/drawingml/2006/main">
            <a:off x="609600" y="34861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Business-rule graph</a:t>
            </a:r>
          </a:p>
        </p:txBody>
      </p:sp>
      <p:sp>
        <p:nvSpPr>
          <p:cNvPr id="7" name="">
            <a:extLst xmlns:a="http://schemas.openxmlformats.org/drawingml/2006/main">
              <a:ext uri="{FF2B5EF4-FFF2-40B4-BE49-F238E27FC236}">
                <a16:creationId xmlns:a16="http://schemas.microsoft.com/office/drawing/2014/main" id="{04AACA8D-3A90-4E91-B6B2-6E442457A34B}"/>
              </a:ext>
            </a:extLst>
          </p:cNvPr>
          <p:cNvSpPr>
            <a:spLocks xmlns:a="http://schemas.openxmlformats.org/drawingml/2006/main" noGrp="1"/>
          </p:cNvSpPr>
          <p:nvPr/>
        </p:nvSpPr>
        <p:spPr>
          <a:xfrm xmlns:a="http://schemas.openxmlformats.org/drawingml/2006/main">
            <a:off x="609600" y="385762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Mappings and transformation logic</a:t>
            </a:r>
          </a:p>
        </p:txBody>
      </p:sp>
      <p:sp>
        <p:nvSpPr>
          <p:cNvPr id="8" name="">
            <a:extLst xmlns:a="http://schemas.openxmlformats.org/drawingml/2006/main">
              <a:ext uri="{FF2B5EF4-FFF2-40B4-BE49-F238E27FC236}">
                <a16:creationId xmlns:a16="http://schemas.microsoft.com/office/drawing/2014/main" id="{A86B3DAB-5DE8-4E46-8A1A-C6FB55E4C9AD}"/>
              </a:ext>
            </a:extLst>
          </p:cNvPr>
          <p:cNvSpPr>
            <a:spLocks xmlns:a="http://schemas.openxmlformats.org/drawingml/2006/main" noGrp="1"/>
          </p:cNvSpPr>
          <p:nvPr/>
        </p:nvSpPr>
        <p:spPr>
          <a:xfrm xmlns:a="http://schemas.openxmlformats.org/drawingml/2006/main">
            <a:off x="609600" y="44291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TDD / test graph</a:t>
            </a:r>
          </a:p>
        </p:txBody>
      </p:sp>
      <p:sp>
        <p:nvSpPr>
          <p:cNvPr id="9" name="">
            <a:extLst xmlns:a="http://schemas.openxmlformats.org/drawingml/2006/main">
              <a:ext uri="{FF2B5EF4-FFF2-40B4-BE49-F238E27FC236}">
                <a16:creationId xmlns:a16="http://schemas.microsoft.com/office/drawing/2014/main" id="{C05C2E66-FBE4-4081-B00F-C62FB558C5C3}"/>
              </a:ext>
            </a:extLst>
          </p:cNvPr>
          <p:cNvSpPr>
            <a:spLocks xmlns:a="http://schemas.openxmlformats.org/drawingml/2006/main" noGrp="1"/>
          </p:cNvSpPr>
          <p:nvPr/>
        </p:nvSpPr>
        <p:spPr>
          <a:xfrm xmlns:a="http://schemas.openxmlformats.org/drawingml/2006/main">
            <a:off x="609600" y="480060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Expected behavior and test coverage</a:t>
            </a:r>
          </a:p>
        </p:txBody>
      </p:sp>
      <p:sp>
        <p:nvSpPr>
          <p:cNvPr id="10" name="">
            <a:extLst xmlns:a="http://schemas.openxmlformats.org/drawingml/2006/main">
              <a:ext uri="{FF2B5EF4-FFF2-40B4-BE49-F238E27FC236}">
                <a16:creationId xmlns:a16="http://schemas.microsoft.com/office/drawing/2014/main" id="{BC32CE9E-E322-4F96-BCCC-FFC42354A5ED}"/>
              </a:ext>
            </a:extLst>
          </p:cNvPr>
          <p:cNvSpPr>
            <a:spLocks xmlns:a="http://schemas.openxmlformats.org/drawingml/2006/main" noGrp="1"/>
          </p:cNvSpPr>
          <p:nvPr/>
        </p:nvSpPr>
        <p:spPr>
          <a:xfrm xmlns:a="http://schemas.openxmlformats.org/drawingml/2006/main">
            <a:off x="5219700" y="1943100"/>
            <a:ext cx="6324600" cy="232410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YOUR LINKED LIVE GRAPH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Connect rules, code and tests</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through shared entities and dependencies</a:t>
            </a:r>
          </a:p>
        </p:txBody>
      </p:sp>
      <p:sp>
        <p:nvSpPr>
          <p:cNvPr id="11" name="">
            <a:extLst xmlns:a="http://schemas.openxmlformats.org/drawingml/2006/main">
              <a:ext uri="{FF2B5EF4-FFF2-40B4-BE49-F238E27FC236}">
                <a16:creationId xmlns:a16="http://schemas.microsoft.com/office/drawing/2014/main" id="{611432F0-23C2-46A9-A963-CB74BC1BE734}"/>
              </a:ext>
            </a:extLst>
          </p:cNvPr>
          <p:cNvSpPr>
            <a:spLocks xmlns:a="http://schemas.openxmlformats.org/drawingml/2006/main" noGrp="1"/>
          </p:cNvSpPr>
          <p:nvPr/>
        </p:nvSpPr>
        <p:spPr>
          <a:xfrm xmlns:a="http://schemas.openxmlformats.org/drawingml/2006/main">
            <a:off x="5219700" y="4543425"/>
            <a:ext cx="6324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GraphRAG retrieves the relevant context</a:t>
            </a:r>
          </a:p>
        </p:txBody>
      </p:sp>
      <p:sp>
        <p:nvSpPr>
          <p:cNvPr id="12" name="">
            <a:extLst xmlns:a="http://schemas.openxmlformats.org/drawingml/2006/main">
              <a:ext uri="{FF2B5EF4-FFF2-40B4-BE49-F238E27FC236}">
                <a16:creationId xmlns:a16="http://schemas.microsoft.com/office/drawing/2014/main" id="{DEA94C1D-B547-4B1E-8151-32A68F4B95DF}"/>
              </a:ext>
            </a:extLst>
          </p:cNvPr>
          <p:cNvSpPr>
            <a:spLocks xmlns:a="http://schemas.openxmlformats.org/drawingml/2006/main" noGrp="1"/>
          </p:cNvSpPr>
          <p:nvPr/>
        </p:nvSpPr>
        <p:spPr>
          <a:xfrm xmlns:a="http://schemas.openxmlformats.org/drawingml/2006/main">
            <a:off x="5219700" y="5295900"/>
            <a:ext cx="6324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76D"/>
                </a:solidFill>
                <a:latin typeface="DejaVu Sans"/>
                <a:ea typeface="DejaVu Sans"/>
                <a:cs typeface="DejaVu Sans"/>
              </a:defRPr>
            </a:defPPr>
            <a:lvl1pPr>
              <a:defRPr sz="1875" b="0">
                <a:solidFill>
                  <a:srgbClr val="53676D"/>
                </a:solidFill>
                <a:latin typeface="DejaVu Sans"/>
                <a:ea typeface="DejaVu Sans"/>
                <a:cs typeface="DejaVu Sans"/>
              </a:defRPr>
            </a:lvl1pPr>
            <a:lvl2pPr>
              <a:defRPr sz="1875" b="0">
                <a:solidFill>
                  <a:srgbClr val="53676D"/>
                </a:solidFill>
                <a:latin typeface="DejaVu Sans"/>
                <a:ea typeface="DejaVu Sans"/>
                <a:cs typeface="DejaVu Sans"/>
              </a:defRPr>
            </a:lvl2pPr>
            <a:lvl3pPr>
              <a:defRPr sz="1875" b="0">
                <a:solidFill>
                  <a:srgbClr val="53676D"/>
                </a:solidFill>
                <a:latin typeface="DejaVu Sans"/>
                <a:ea typeface="DejaVu Sans"/>
                <a:cs typeface="DejaVu Sans"/>
              </a:defRPr>
            </a:lvl3pPr>
            <a:lvl4pPr>
              <a:defRPr sz="1875" b="0">
                <a:solidFill>
                  <a:srgbClr val="53676D"/>
                </a:solidFill>
                <a:latin typeface="DejaVu Sans"/>
                <a:ea typeface="DejaVu Sans"/>
                <a:cs typeface="DejaVu Sans"/>
              </a:defRPr>
            </a:lvl4pPr>
            <a:lvl5pPr>
              <a:defRPr sz="1875" b="0">
                <a:solidFill>
                  <a:srgbClr val="53676D"/>
                </a:solidFill>
                <a:latin typeface="DejaVu Sans"/>
                <a:ea typeface="DejaVu Sans"/>
                <a:cs typeface="DejaVu Sans"/>
              </a:defRPr>
            </a:lvl5pPr>
            <a:lvl6pPr>
              <a:defRPr sz="1875" b="0">
                <a:solidFill>
                  <a:srgbClr val="53676D"/>
                </a:solidFill>
                <a:latin typeface="DejaVu Sans"/>
                <a:ea typeface="DejaVu Sans"/>
                <a:cs typeface="DejaVu Sans"/>
              </a:defRPr>
            </a:lvl6pPr>
            <a:lvl7pPr>
              <a:defRPr sz="1875" b="0">
                <a:solidFill>
                  <a:srgbClr val="53676D"/>
                </a:solidFill>
                <a:latin typeface="DejaVu Sans"/>
                <a:ea typeface="DejaVu Sans"/>
                <a:cs typeface="DejaVu Sans"/>
              </a:defRPr>
            </a:lvl7pPr>
            <a:lvl8pPr>
              <a:defRPr sz="1875" b="0">
                <a:solidFill>
                  <a:srgbClr val="53676D"/>
                </a:solidFill>
                <a:latin typeface="DejaVu Sans"/>
                <a:ea typeface="DejaVu Sans"/>
                <a:cs typeface="DejaVu Sans"/>
              </a:defRPr>
            </a:lvl8pPr>
            <a:lvl9pPr>
              <a:defRPr sz="1875" b="0">
                <a:solidFill>
                  <a:srgbClr val="53676D"/>
                </a:solidFill>
                <a:latin typeface="DejaVu Sans"/>
                <a:ea typeface="DejaVu Sans"/>
                <a:cs typeface="DejaVu Sans"/>
              </a:defRPr>
            </a:lvl9pPr>
          </a:lstStyle>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Code generation and human-guided changes</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Change-impact and root-cause analysis</a:t>
            </a:r>
          </a:p>
        </p:txBody>
      </p:sp>
      <p:sp>
        <p:nvSpPr>
          <p:cNvPr id="13" name="">
            <a:extLst xmlns:a="http://schemas.openxmlformats.org/drawingml/2006/main">
              <a:ext uri="{FF2B5EF4-FFF2-40B4-BE49-F238E27FC236}">
                <a16:creationId xmlns:a16="http://schemas.microsoft.com/office/drawing/2014/main" id="{6CC85AF7-D277-4DDC-9138-7CC4448109E4}"/>
              </a:ext>
            </a:extLst>
          </p:cNvPr>
          <p:cNvSpPr>
            <a:spLocks xmlns:a="http://schemas.openxmlformats.org/drawingml/2006/main" noGrp="1"/>
          </p:cNvSpPr>
          <p:nvPr/>
        </p:nvSpPr>
        <p:spPr>
          <a:xfrm xmlns:a="http://schemas.openxmlformats.org/drawingml/2006/main">
            <a:off x="609600" y="6153150"/>
            <a:ext cx="1093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087E83"/>
                </a:solidFill>
                <a:latin typeface="DejaVu Sans"/>
                <a:ea typeface="DejaVu Sans"/>
                <a:cs typeface="DejaVu Sans"/>
              </a:defRPr>
            </a:defPPr>
            <a:lvl1pPr>
              <a:defRPr sz="1800" b="0">
                <a:solidFill>
                  <a:srgbClr val="087E83"/>
                </a:solidFill>
                <a:latin typeface="DejaVu Sans"/>
                <a:ea typeface="DejaVu Sans"/>
                <a:cs typeface="DejaVu Sans"/>
              </a:defRPr>
            </a:lvl1pPr>
            <a:lvl2pPr>
              <a:defRPr sz="1800" b="0">
                <a:solidFill>
                  <a:srgbClr val="087E83"/>
                </a:solidFill>
                <a:latin typeface="DejaVu Sans"/>
                <a:ea typeface="DejaVu Sans"/>
                <a:cs typeface="DejaVu Sans"/>
              </a:defRPr>
            </a:lvl2pPr>
            <a:lvl3pPr>
              <a:defRPr sz="1800" b="0">
                <a:solidFill>
                  <a:srgbClr val="087E83"/>
                </a:solidFill>
                <a:latin typeface="DejaVu Sans"/>
                <a:ea typeface="DejaVu Sans"/>
                <a:cs typeface="DejaVu Sans"/>
              </a:defRPr>
            </a:lvl3pPr>
            <a:lvl4pPr>
              <a:defRPr sz="1800" b="0">
                <a:solidFill>
                  <a:srgbClr val="087E83"/>
                </a:solidFill>
                <a:latin typeface="DejaVu Sans"/>
                <a:ea typeface="DejaVu Sans"/>
                <a:cs typeface="DejaVu Sans"/>
              </a:defRPr>
            </a:lvl4pPr>
            <a:lvl5pPr>
              <a:defRPr sz="1800" b="0">
                <a:solidFill>
                  <a:srgbClr val="087E83"/>
                </a:solidFill>
                <a:latin typeface="DejaVu Sans"/>
                <a:ea typeface="DejaVu Sans"/>
                <a:cs typeface="DejaVu Sans"/>
              </a:defRPr>
            </a:lvl5pPr>
            <a:lvl6pPr>
              <a:defRPr sz="1800" b="0">
                <a:solidFill>
                  <a:srgbClr val="087E83"/>
                </a:solidFill>
                <a:latin typeface="DejaVu Sans"/>
                <a:ea typeface="DejaVu Sans"/>
                <a:cs typeface="DejaVu Sans"/>
              </a:defRPr>
            </a:lvl6pPr>
            <a:lvl7pPr>
              <a:defRPr sz="1800" b="0">
                <a:solidFill>
                  <a:srgbClr val="087E83"/>
                </a:solidFill>
                <a:latin typeface="DejaVu Sans"/>
                <a:ea typeface="DejaVu Sans"/>
                <a:cs typeface="DejaVu Sans"/>
              </a:defRPr>
            </a:lvl7pPr>
            <a:lvl8pPr>
              <a:defRPr sz="1800" b="0">
                <a:solidFill>
                  <a:srgbClr val="087E83"/>
                </a:solidFill>
                <a:latin typeface="DejaVu Sans"/>
                <a:ea typeface="DejaVu Sans"/>
                <a:cs typeface="DejaVu Sans"/>
              </a:defRPr>
            </a:lvl8pPr>
            <a:lvl9pPr>
              <a:defRPr sz="1800" b="0">
                <a:solidFill>
                  <a:srgbClr val="087E83"/>
                </a:solidFill>
                <a:latin typeface="DejaVu Sans"/>
                <a:ea typeface="DejaVu Sans"/>
                <a:cs typeface="DejaVu Sans"/>
              </a:defRPr>
            </a:lvl9pPr>
          </a:lstStyle>
          <a:p xmlns:a="http://schemas.openxmlformats.org/drawingml/2006/main">
            <a:pPr>
              <a:defRPr sz="1800" b="0">
                <a:solidFill>
                  <a:srgbClr val="087E83"/>
                </a:solidFill>
                <a:latin typeface="DejaVu Sans"/>
                <a:ea typeface="DejaVu Sans"/>
                <a:cs typeface="DejaVu Sans"/>
              </a:defRPr>
            </a:pPr>
            <a:r>
              <a:rPr sz="1800" b="0">
                <a:solidFill>
                  <a:srgbClr val="087E83"/>
                </a:solidFill>
                <a:latin typeface="DejaVu Sans"/>
                <a:ea typeface="DejaVu Sans"/>
                <a:cs typeface="DejaVu Sans"/>
              </a:rPr>
              <a:t>Human feedback keeps the connected context current</a:t>
            </a:r>
          </a:p>
        </p:txBody>
      </p:sp>
    </p:spTree>
    <p:extLst>
      <p:ext uri="{BB962C8B-B14F-4D97-AF65-F5344CB8AC3E}">
        <p14:creationId xmlns:p14="http://schemas.microsoft.com/office/powerpoint/2010/main" val="1669808527"/>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C41319-1359-4D9C-AE8B-64107147A563}"/>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Multimodal AI for Trust &amp; Safety</a:t>
            </a:r>
          </a:p>
        </p:txBody>
      </p:sp>
      <p:sp>
        <p:nvSpPr>
          <p:cNvPr id="2" name="">
            <a:extLst xmlns:a="http://schemas.openxmlformats.org/drawingml/2006/main">
              <a:ext uri="{FF2B5EF4-FFF2-40B4-BE49-F238E27FC236}">
                <a16:creationId xmlns:a16="http://schemas.microsoft.com/office/drawing/2014/main" id="{573C45C4-E89F-4B4C-9F28-C1EF438DEC7B}"/>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Walmart: combining images, product text and brand signals</a:t>
            </a:r>
          </a:p>
        </p:txBody>
      </p:sp>
      <p:sp>
        <p:nvSpPr>
          <p:cNvPr id="3" name="">
            <a:extLst xmlns:a="http://schemas.openxmlformats.org/drawingml/2006/main">
              <a:ext uri="{FF2B5EF4-FFF2-40B4-BE49-F238E27FC236}">
                <a16:creationId xmlns:a16="http://schemas.microsoft.com/office/drawing/2014/main" id="{BEAD9E98-6388-4E41-A5A5-14189F533CE3}"/>
              </a:ext>
            </a:extLst>
          </p:cNvPr>
          <p:cNvSpPr>
            <a:spLocks xmlns:a="http://schemas.openxmlformats.org/drawingml/2006/main" noGrp="1"/>
          </p:cNvSpPr>
          <p:nvPr/>
        </p:nvSpPr>
        <p:spPr>
          <a:xfrm xmlns:a="http://schemas.openxmlformats.org/drawingml/2006/main">
            <a:off x="609600" y="19335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What I built</a:t>
            </a:r>
          </a:p>
        </p:txBody>
      </p:sp>
      <p:sp>
        <p:nvSpPr>
          <p:cNvPr id="4" name="">
            <a:extLst xmlns:a="http://schemas.openxmlformats.org/drawingml/2006/main">
              <a:ext uri="{FF2B5EF4-FFF2-40B4-BE49-F238E27FC236}">
                <a16:creationId xmlns:a16="http://schemas.microsoft.com/office/drawing/2014/main" id="{4A86B142-C3D6-47F0-9EBA-36E9922163FD}"/>
              </a:ext>
            </a:extLst>
          </p:cNvPr>
          <p:cNvSpPr>
            <a:spLocks xmlns:a="http://schemas.openxmlformats.org/drawingml/2006/main" noGrp="1"/>
          </p:cNvSpPr>
          <p:nvPr/>
        </p:nvSpPr>
        <p:spPr>
          <a:xfrm xmlns:a="http://schemas.openxmlformats.org/drawingml/2006/main">
            <a:off x="609600" y="2466975"/>
            <a:ext cx="6667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32A35"/>
                </a:solidFill>
                <a:latin typeface="DejaVu Sans"/>
                <a:ea typeface="DejaVu Sans"/>
                <a:cs typeface="DejaVu Sans"/>
              </a:defRPr>
            </a:defPPr>
            <a:lvl1pPr>
              <a:defRPr sz="2025" b="0">
                <a:solidFill>
                  <a:srgbClr val="132A35"/>
                </a:solidFill>
                <a:latin typeface="DejaVu Sans"/>
                <a:ea typeface="DejaVu Sans"/>
                <a:cs typeface="DejaVu Sans"/>
              </a:defRPr>
            </a:lvl1pPr>
            <a:lvl2pPr>
              <a:defRPr sz="2025" b="0">
                <a:solidFill>
                  <a:srgbClr val="132A35"/>
                </a:solidFill>
                <a:latin typeface="DejaVu Sans"/>
                <a:ea typeface="DejaVu Sans"/>
                <a:cs typeface="DejaVu Sans"/>
              </a:defRPr>
            </a:lvl2pPr>
            <a:lvl3pPr>
              <a:defRPr sz="2025" b="0">
                <a:solidFill>
                  <a:srgbClr val="132A35"/>
                </a:solidFill>
                <a:latin typeface="DejaVu Sans"/>
                <a:ea typeface="DejaVu Sans"/>
                <a:cs typeface="DejaVu Sans"/>
              </a:defRPr>
            </a:lvl3pPr>
            <a:lvl4pPr>
              <a:defRPr sz="2025" b="0">
                <a:solidFill>
                  <a:srgbClr val="132A35"/>
                </a:solidFill>
                <a:latin typeface="DejaVu Sans"/>
                <a:ea typeface="DejaVu Sans"/>
                <a:cs typeface="DejaVu Sans"/>
              </a:defRPr>
            </a:lvl4pPr>
            <a:lvl5pPr>
              <a:defRPr sz="2025" b="0">
                <a:solidFill>
                  <a:srgbClr val="132A35"/>
                </a:solidFill>
                <a:latin typeface="DejaVu Sans"/>
                <a:ea typeface="DejaVu Sans"/>
                <a:cs typeface="DejaVu Sans"/>
              </a:defRPr>
            </a:lvl5pPr>
            <a:lvl6pPr>
              <a:defRPr sz="2025" b="0">
                <a:solidFill>
                  <a:srgbClr val="132A35"/>
                </a:solidFill>
                <a:latin typeface="DejaVu Sans"/>
                <a:ea typeface="DejaVu Sans"/>
                <a:cs typeface="DejaVu Sans"/>
              </a:defRPr>
            </a:lvl6pPr>
            <a:lvl7pPr>
              <a:defRPr sz="2025" b="0">
                <a:solidFill>
                  <a:srgbClr val="132A35"/>
                </a:solidFill>
                <a:latin typeface="DejaVu Sans"/>
                <a:ea typeface="DejaVu Sans"/>
                <a:cs typeface="DejaVu Sans"/>
              </a:defRPr>
            </a:lvl7pPr>
            <a:lvl8pPr>
              <a:defRPr sz="2025" b="0">
                <a:solidFill>
                  <a:srgbClr val="132A35"/>
                </a:solidFill>
                <a:latin typeface="DejaVu Sans"/>
                <a:ea typeface="DejaVu Sans"/>
                <a:cs typeface="DejaVu Sans"/>
              </a:defRPr>
            </a:lvl8pPr>
            <a:lvl9pPr>
              <a:defRPr sz="2025" b="0">
                <a:solidFill>
                  <a:srgbClr val="132A35"/>
                </a:solidFill>
                <a:latin typeface="DejaVu Sans"/>
                <a:ea typeface="DejaVu Sans"/>
                <a:cs typeface="DejaVu Sans"/>
              </a:defRPr>
            </a:lvl9pPr>
          </a:lstStyle>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Offensive-content detection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Counterfeit luxury listing detection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Catalogue attribute extraction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Health &amp; Beauty compliance</a:t>
            </a:r>
          </a:p>
        </p:txBody>
      </p:sp>
      <p:sp>
        <p:nvSpPr>
          <p:cNvPr id="5" name="">
            <a:extLst xmlns:a="http://schemas.openxmlformats.org/drawingml/2006/main">
              <a:ext uri="{FF2B5EF4-FFF2-40B4-BE49-F238E27FC236}">
                <a16:creationId xmlns:a16="http://schemas.microsoft.com/office/drawing/2014/main" id="{85BD4D78-B3D7-497C-85CA-A06672E4AD07}"/>
              </a:ext>
            </a:extLst>
          </p:cNvPr>
          <p:cNvSpPr>
            <a:spLocks xmlns:a="http://schemas.openxmlformats.org/drawingml/2006/main" noGrp="1"/>
          </p:cNvSpPr>
          <p:nvPr/>
        </p:nvSpPr>
        <p:spPr>
          <a:xfrm xmlns:a="http://schemas.openxmlformats.org/drawingml/2006/main">
            <a:off x="609600" y="44481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87E83"/>
                </a:solidFill>
                <a:latin typeface="DejaVu Sans"/>
                <a:ea typeface="DejaVu Sans"/>
                <a:cs typeface="DejaVu Sans"/>
              </a:defRPr>
            </a:defPPr>
            <a:lvl1pPr>
              <a:defRPr sz="2100" b="1">
                <a:solidFill>
                  <a:srgbClr val="087E83"/>
                </a:solidFill>
                <a:latin typeface="DejaVu Sans"/>
                <a:ea typeface="DejaVu Sans"/>
                <a:cs typeface="DejaVu Sans"/>
              </a:defRPr>
            </a:lvl1pPr>
            <a:lvl2pPr>
              <a:defRPr sz="2100" b="1">
                <a:solidFill>
                  <a:srgbClr val="087E83"/>
                </a:solidFill>
                <a:latin typeface="DejaVu Sans"/>
                <a:ea typeface="DejaVu Sans"/>
                <a:cs typeface="DejaVu Sans"/>
              </a:defRPr>
            </a:lvl2pPr>
            <a:lvl3pPr>
              <a:defRPr sz="2100" b="1">
                <a:solidFill>
                  <a:srgbClr val="087E83"/>
                </a:solidFill>
                <a:latin typeface="DejaVu Sans"/>
                <a:ea typeface="DejaVu Sans"/>
                <a:cs typeface="DejaVu Sans"/>
              </a:defRPr>
            </a:lvl3pPr>
            <a:lvl4pPr>
              <a:defRPr sz="2100" b="1">
                <a:solidFill>
                  <a:srgbClr val="087E83"/>
                </a:solidFill>
                <a:latin typeface="DejaVu Sans"/>
                <a:ea typeface="DejaVu Sans"/>
                <a:cs typeface="DejaVu Sans"/>
              </a:defRPr>
            </a:lvl4pPr>
            <a:lvl5pPr>
              <a:defRPr sz="2100" b="1">
                <a:solidFill>
                  <a:srgbClr val="087E83"/>
                </a:solidFill>
                <a:latin typeface="DejaVu Sans"/>
                <a:ea typeface="DejaVu Sans"/>
                <a:cs typeface="DejaVu Sans"/>
              </a:defRPr>
            </a:lvl5pPr>
            <a:lvl6pPr>
              <a:defRPr sz="2100" b="1">
                <a:solidFill>
                  <a:srgbClr val="087E83"/>
                </a:solidFill>
                <a:latin typeface="DejaVu Sans"/>
                <a:ea typeface="DejaVu Sans"/>
                <a:cs typeface="DejaVu Sans"/>
              </a:defRPr>
            </a:lvl6pPr>
            <a:lvl7pPr>
              <a:defRPr sz="2100" b="1">
                <a:solidFill>
                  <a:srgbClr val="087E83"/>
                </a:solidFill>
                <a:latin typeface="DejaVu Sans"/>
                <a:ea typeface="DejaVu Sans"/>
                <a:cs typeface="DejaVu Sans"/>
              </a:defRPr>
            </a:lvl7pPr>
            <a:lvl8pPr>
              <a:defRPr sz="2100" b="1">
                <a:solidFill>
                  <a:srgbClr val="087E83"/>
                </a:solidFill>
                <a:latin typeface="DejaVu Sans"/>
                <a:ea typeface="DejaVu Sans"/>
                <a:cs typeface="DejaVu Sans"/>
              </a:defRPr>
            </a:lvl8pPr>
            <a:lvl9pPr>
              <a:defRPr sz="2100" b="1">
                <a:solidFill>
                  <a:srgbClr val="087E83"/>
                </a:solidFill>
                <a:latin typeface="DejaVu Sans"/>
                <a:ea typeface="DejaVu Sans"/>
                <a:cs typeface="DejaVu Sans"/>
              </a:defRPr>
            </a:lvl9pPr>
          </a:lstStyle>
          <a:p xmlns:a="http://schemas.openxmlformats.org/drawingml/2006/main">
            <a:pPr>
              <a:defRPr sz="2100" b="1">
                <a:solidFill>
                  <a:srgbClr val="087E83"/>
                </a:solidFill>
                <a:latin typeface="DejaVu Sans"/>
                <a:ea typeface="DejaVu Sans"/>
                <a:cs typeface="DejaVu Sans"/>
              </a:defRPr>
            </a:pPr>
            <a:r>
              <a:rPr sz="2100" b="1">
                <a:solidFill>
                  <a:srgbClr val="087E83"/>
                </a:solidFill>
                <a:latin typeface="DejaVu Sans"/>
                <a:ea typeface="DejaVu Sans"/>
                <a:cs typeface="DejaVu Sans"/>
              </a:rPr>
              <a:t>Models &amp; tooling</a:t>
            </a:r>
          </a:p>
        </p:txBody>
      </p:sp>
      <p:sp>
        <p:nvSpPr>
          <p:cNvPr id="6" name="">
            <a:extLst xmlns:a="http://schemas.openxmlformats.org/drawingml/2006/main">
              <a:ext uri="{FF2B5EF4-FFF2-40B4-BE49-F238E27FC236}">
                <a16:creationId xmlns:a16="http://schemas.microsoft.com/office/drawing/2014/main" id="{C58AC031-126C-4501-B854-67F35AF30BF0}"/>
              </a:ext>
            </a:extLst>
          </p:cNvPr>
          <p:cNvSpPr>
            <a:spLocks xmlns:a="http://schemas.openxmlformats.org/drawingml/2006/main" noGrp="1"/>
          </p:cNvSpPr>
          <p:nvPr/>
        </p:nvSpPr>
        <p:spPr>
          <a:xfrm xmlns:a="http://schemas.openxmlformats.org/drawingml/2006/main">
            <a:off x="609600" y="4943475"/>
            <a:ext cx="676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CLIP-ViT, OWL, Grounding DINO, LLaVA</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Llama 3, Mixtral, Zephyr, GPT-4</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vLLM, LitGPT, LlamaFactory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Post-training: SFT, DPO, RLAI</a:t>
            </a:r>
          </a:p>
        </p:txBody>
      </p:sp>
      <p:sp>
        <p:nvSpPr>
          <p:cNvPr id="7" name="">
            <a:extLst xmlns:a="http://schemas.openxmlformats.org/drawingml/2006/main">
              <a:ext uri="{FF2B5EF4-FFF2-40B4-BE49-F238E27FC236}">
                <a16:creationId xmlns:a16="http://schemas.microsoft.com/office/drawing/2014/main" id="{7FD2D409-F932-4C03-8C2B-6FB60B4BFEFF}"/>
              </a:ext>
            </a:extLst>
          </p:cNvPr>
          <p:cNvSpPr>
            <a:spLocks xmlns:a="http://schemas.openxmlformats.org/drawingml/2006/main" noGrp="1"/>
          </p:cNvSpPr>
          <p:nvPr/>
        </p:nvSpPr>
        <p:spPr>
          <a:xfrm xmlns:a="http://schemas.openxmlformats.org/drawingml/2006/main">
            <a:off x="7791450" y="1943100"/>
            <a:ext cx="3752850" cy="245745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MULTIMODAL EXAMPLE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Product image + listing text</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model decision</a:t>
            </a:r>
          </a:p>
        </p:txBody>
      </p:sp>
      <p:sp>
        <p:nvSpPr>
          <p:cNvPr id="8" name="">
            <a:extLst xmlns:a="http://schemas.openxmlformats.org/drawingml/2006/main">
              <a:ext uri="{FF2B5EF4-FFF2-40B4-BE49-F238E27FC236}">
                <a16:creationId xmlns:a16="http://schemas.microsoft.com/office/drawing/2014/main" id="{FF40ED1C-81F8-4B86-AB01-17C4E9F811AA}"/>
              </a:ext>
            </a:extLst>
          </p:cNvPr>
          <p:cNvSpPr>
            <a:spLocks xmlns:a="http://schemas.openxmlformats.org/drawingml/2006/main" noGrp="1"/>
          </p:cNvSpPr>
          <p:nvPr/>
        </p:nvSpPr>
        <p:spPr>
          <a:xfrm xmlns:a="http://schemas.openxmlformats.org/drawingml/2006/main">
            <a:off x="7791450" y="4667250"/>
            <a:ext cx="3752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87E83"/>
                </a:solidFill>
                <a:latin typeface="DejaVu Sans"/>
                <a:ea typeface="DejaVu Sans"/>
                <a:cs typeface="DejaVu Sans"/>
              </a:defRPr>
            </a:defPPr>
            <a:lvl1pPr>
              <a:defRPr sz="2625" b="1">
                <a:solidFill>
                  <a:srgbClr val="087E83"/>
                </a:solidFill>
                <a:latin typeface="DejaVu Sans"/>
                <a:ea typeface="DejaVu Sans"/>
                <a:cs typeface="DejaVu Sans"/>
              </a:defRPr>
            </a:lvl1pPr>
            <a:lvl2pPr>
              <a:defRPr sz="2625" b="1">
                <a:solidFill>
                  <a:srgbClr val="087E83"/>
                </a:solidFill>
                <a:latin typeface="DejaVu Sans"/>
                <a:ea typeface="DejaVu Sans"/>
                <a:cs typeface="DejaVu Sans"/>
              </a:defRPr>
            </a:lvl2pPr>
            <a:lvl3pPr>
              <a:defRPr sz="2625" b="1">
                <a:solidFill>
                  <a:srgbClr val="087E83"/>
                </a:solidFill>
                <a:latin typeface="DejaVu Sans"/>
                <a:ea typeface="DejaVu Sans"/>
                <a:cs typeface="DejaVu Sans"/>
              </a:defRPr>
            </a:lvl3pPr>
            <a:lvl4pPr>
              <a:defRPr sz="2625" b="1">
                <a:solidFill>
                  <a:srgbClr val="087E83"/>
                </a:solidFill>
                <a:latin typeface="DejaVu Sans"/>
                <a:ea typeface="DejaVu Sans"/>
                <a:cs typeface="DejaVu Sans"/>
              </a:defRPr>
            </a:lvl4pPr>
            <a:lvl5pPr>
              <a:defRPr sz="2625" b="1">
                <a:solidFill>
                  <a:srgbClr val="087E83"/>
                </a:solidFill>
                <a:latin typeface="DejaVu Sans"/>
                <a:ea typeface="DejaVu Sans"/>
                <a:cs typeface="DejaVu Sans"/>
              </a:defRPr>
            </a:lvl5pPr>
            <a:lvl6pPr>
              <a:defRPr sz="2625" b="1">
                <a:solidFill>
                  <a:srgbClr val="087E83"/>
                </a:solidFill>
                <a:latin typeface="DejaVu Sans"/>
                <a:ea typeface="DejaVu Sans"/>
                <a:cs typeface="DejaVu Sans"/>
              </a:defRPr>
            </a:lvl6pPr>
            <a:lvl7pPr>
              <a:defRPr sz="2625" b="1">
                <a:solidFill>
                  <a:srgbClr val="087E83"/>
                </a:solidFill>
                <a:latin typeface="DejaVu Sans"/>
                <a:ea typeface="DejaVu Sans"/>
                <a:cs typeface="DejaVu Sans"/>
              </a:defRPr>
            </a:lvl7pPr>
            <a:lvl8pPr>
              <a:defRPr sz="2625" b="1">
                <a:solidFill>
                  <a:srgbClr val="087E83"/>
                </a:solidFill>
                <a:latin typeface="DejaVu Sans"/>
                <a:ea typeface="DejaVu Sans"/>
                <a:cs typeface="DejaVu Sans"/>
              </a:defRPr>
            </a:lvl8pPr>
            <a:lvl9pPr>
              <a:defRPr sz="2625" b="1">
                <a:solidFill>
                  <a:srgbClr val="087E83"/>
                </a:solidFill>
                <a:latin typeface="DejaVu Sans"/>
                <a:ea typeface="DejaVu Sans"/>
                <a:cs typeface="DejaVu Sans"/>
              </a:defRPr>
            </a:lvl9pPr>
          </a:lstStyle>
          <a:p xmlns:a="http://schemas.openxmlformats.org/drawingml/2006/main">
            <a:pPr>
              <a:defRPr sz="2625" b="1">
                <a:solidFill>
                  <a:srgbClr val="087E83"/>
                </a:solidFill>
                <a:latin typeface="DejaVu Sans"/>
                <a:ea typeface="DejaVu Sans"/>
                <a:cs typeface="DejaVu Sans"/>
              </a:defRPr>
            </a:pPr>
            <a:r>
              <a:rPr sz="2625" b="1">
                <a:solidFill>
                  <a:srgbClr val="087E83"/>
                </a:solidFill>
                <a:latin typeface="DejaVu Sans"/>
                <a:ea typeface="DejaVu Sans"/>
                <a:cs typeface="DejaVu Sans"/>
              </a:rPr>
              <a:t>20K+ items/day</a:t>
            </a:r>
          </a:p>
        </p:txBody>
      </p:sp>
      <p:sp>
        <p:nvSpPr>
          <p:cNvPr id="9" name="">
            <a:extLst xmlns:a="http://schemas.openxmlformats.org/drawingml/2006/main">
              <a:ext uri="{FF2B5EF4-FFF2-40B4-BE49-F238E27FC236}">
                <a16:creationId xmlns:a16="http://schemas.microsoft.com/office/drawing/2014/main" id="{CA94185B-430B-4054-A3DE-D1AB74390090}"/>
              </a:ext>
            </a:extLst>
          </p:cNvPr>
          <p:cNvSpPr>
            <a:spLocks xmlns:a="http://schemas.openxmlformats.org/drawingml/2006/main" noGrp="1"/>
          </p:cNvSpPr>
          <p:nvPr/>
        </p:nvSpPr>
        <p:spPr>
          <a:xfrm xmlns:a="http://schemas.openxmlformats.org/drawingml/2006/main">
            <a:off x="7791450" y="5229225"/>
            <a:ext cx="3752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3676D"/>
                </a:solidFill>
                <a:latin typeface="DejaVu Sans"/>
                <a:ea typeface="DejaVu Sans"/>
                <a:cs typeface="DejaVu Sans"/>
              </a:defRPr>
            </a:defPPr>
            <a:lvl1pPr>
              <a:defRPr sz="1800" b="0">
                <a:solidFill>
                  <a:srgbClr val="53676D"/>
                </a:solidFill>
                <a:latin typeface="DejaVu Sans"/>
                <a:ea typeface="DejaVu Sans"/>
                <a:cs typeface="DejaVu Sans"/>
              </a:defRPr>
            </a:lvl1pPr>
            <a:lvl2pPr>
              <a:defRPr sz="1800" b="0">
                <a:solidFill>
                  <a:srgbClr val="53676D"/>
                </a:solidFill>
                <a:latin typeface="DejaVu Sans"/>
                <a:ea typeface="DejaVu Sans"/>
                <a:cs typeface="DejaVu Sans"/>
              </a:defRPr>
            </a:lvl2pPr>
            <a:lvl3pPr>
              <a:defRPr sz="1800" b="0">
                <a:solidFill>
                  <a:srgbClr val="53676D"/>
                </a:solidFill>
                <a:latin typeface="DejaVu Sans"/>
                <a:ea typeface="DejaVu Sans"/>
                <a:cs typeface="DejaVu Sans"/>
              </a:defRPr>
            </a:lvl3pPr>
            <a:lvl4pPr>
              <a:defRPr sz="1800" b="0">
                <a:solidFill>
                  <a:srgbClr val="53676D"/>
                </a:solidFill>
                <a:latin typeface="DejaVu Sans"/>
                <a:ea typeface="DejaVu Sans"/>
                <a:cs typeface="DejaVu Sans"/>
              </a:defRPr>
            </a:lvl4pPr>
            <a:lvl5pPr>
              <a:defRPr sz="1800" b="0">
                <a:solidFill>
                  <a:srgbClr val="53676D"/>
                </a:solidFill>
                <a:latin typeface="DejaVu Sans"/>
                <a:ea typeface="DejaVu Sans"/>
                <a:cs typeface="DejaVu Sans"/>
              </a:defRPr>
            </a:lvl5pPr>
            <a:lvl6pPr>
              <a:defRPr sz="1800" b="0">
                <a:solidFill>
                  <a:srgbClr val="53676D"/>
                </a:solidFill>
                <a:latin typeface="DejaVu Sans"/>
                <a:ea typeface="DejaVu Sans"/>
                <a:cs typeface="DejaVu Sans"/>
              </a:defRPr>
            </a:lvl6pPr>
            <a:lvl7pPr>
              <a:defRPr sz="1800" b="0">
                <a:solidFill>
                  <a:srgbClr val="53676D"/>
                </a:solidFill>
                <a:latin typeface="DejaVu Sans"/>
                <a:ea typeface="DejaVu Sans"/>
                <a:cs typeface="DejaVu Sans"/>
              </a:defRPr>
            </a:lvl7pPr>
            <a:lvl8pPr>
              <a:defRPr sz="1800" b="0">
                <a:solidFill>
                  <a:srgbClr val="53676D"/>
                </a:solidFill>
                <a:latin typeface="DejaVu Sans"/>
                <a:ea typeface="DejaVu Sans"/>
                <a:cs typeface="DejaVu Sans"/>
              </a:defRPr>
            </a:lvl8pPr>
            <a:lvl9pPr>
              <a:defRPr sz="1800" b="0">
                <a:solidFill>
                  <a:srgbClr val="53676D"/>
                </a:solidFill>
                <a:latin typeface="DejaVu Sans"/>
                <a:ea typeface="DejaVu Sans"/>
                <a:cs typeface="DejaVu Sans"/>
              </a:defRPr>
            </a:lvl9pPr>
          </a:lstStyle>
          <a:p xmlns:a="http://schemas.openxmlformats.org/drawingml/2006/main">
            <a:pPr>
              <a:defRPr sz="1800" b="0">
                <a:solidFill>
                  <a:srgbClr val="53676D"/>
                </a:solidFill>
                <a:latin typeface="DejaVu Sans"/>
                <a:ea typeface="DejaVu Sans"/>
                <a:cs typeface="DejaVu Sans"/>
              </a:defRPr>
            </a:pPr>
            <a:r>
              <a:rPr sz="1800" b="0">
                <a:solidFill>
                  <a:srgbClr val="53676D"/>
                </a:solidFill>
                <a:latin typeface="DejaVu Sans"/>
                <a:ea typeface="DejaVu Sans"/>
                <a:cs typeface="DejaVu Sans"/>
              </a:rPr>
              <a:t>flagged for counterfeit review</a:t>
            </a:r>
          </a:p>
          <a:p xmlns:a="http://schemas.openxmlformats.org/drawingml/2006/main">
            <a:pPr>
              <a:defRPr sz="1800" b="0">
                <a:solidFill>
                  <a:srgbClr val="53676D"/>
                </a:solidFill>
                <a:latin typeface="DejaVu Sans"/>
                <a:ea typeface="DejaVu Sans"/>
                <a:cs typeface="DejaVu Sans"/>
              </a:defRPr>
            </a:pPr>
            <a:r>
              <a:rPr sz="1800" b="0">
                <a:solidFill>
                  <a:srgbClr val="53676D"/>
                </a:solidFill>
                <a:latin typeface="DejaVu Sans"/>
                <a:ea typeface="DejaVu Sans"/>
                <a:cs typeface="DejaVu Sans"/>
              </a:rPr>
              <a:t>at ~90% precision</a:t>
            </a:r>
          </a:p>
        </p:txBody>
      </p:sp>
    </p:spTree>
    <p:extLst>
      <p:ext uri="{BB962C8B-B14F-4D97-AF65-F5344CB8AC3E}">
        <p14:creationId xmlns:p14="http://schemas.microsoft.com/office/powerpoint/2010/main" val="1898766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2026-10-21T17:01:01.4400000Z</dcterms:created>
  <dcterms:modified xsi:type="dcterms:W3CDTF">2026-10-21T17:01:01.4400000Z</dcterms:modified>
</coreProperties>
</file>