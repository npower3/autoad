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3146c07b7e4a5d" /><Relationship Type="http://schemas.openxmlformats.org/officeDocument/2006/relationships/extended-properties" Target="/docProps/app.xml" Id="Rabc0252264cb49bd" /><Relationship Type="http://schemas.openxmlformats.org/officeDocument/2006/relationships/officeDocument" Target="/ppt/presentation.xml" Id="Rc8ae5999edb44983" /></Relationships>
</file>

<file path=ppt/presentation.xml><?xml version="1.0" encoding="utf-8"?>
<p:presentation xmlns:p="http://schemas.openxmlformats.org/presentationml/2006/main">
  <p:sldMasterIdLst>
    <p:sldMasterId xmlns:r="http://schemas.openxmlformats.org/officeDocument/2006/relationships" id="2147483648" r:id="Rdc97ff4856ad4bf5"/>
  </p:sldMasterIdLst>
  <p:notesMasterIdLst>
    <p:notesMasterId xmlns:r="http://schemas.openxmlformats.org/officeDocument/2006/relationships" r:id="Rf1bfc52e31b24757"/>
  </p:notesMasterIdLst>
  <p:sldIdLst>
    <p:sldId xmlns:r="http://schemas.openxmlformats.org/officeDocument/2006/relationships" id="256" r:id="R6f575370a6764233"/>
    <p:sldId xmlns:r="http://schemas.openxmlformats.org/officeDocument/2006/relationships" id="257" r:id="Recc2a24588e04dc8"/>
    <p:sldId xmlns:r="http://schemas.openxmlformats.org/officeDocument/2006/relationships" id="258" r:id="Rfa4c763f044948e7"/>
    <p:sldId xmlns:r="http://schemas.openxmlformats.org/officeDocument/2006/relationships" id="259" r:id="R84d235ef11164162"/>
    <p:sldId xmlns:r="http://schemas.openxmlformats.org/officeDocument/2006/relationships" id="260" r:id="Rfa0f63128b904f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ca3d356c684b2f" /><Relationship Type="http://schemas.openxmlformats.org/officeDocument/2006/relationships/slideMaster" Target="/ppt/slideMasters/slideMaster1.xml" Id="Rdc97ff4856ad4bf5" /><Relationship Type="http://schemas.openxmlformats.org/officeDocument/2006/relationships/notesMaster" Target="/ppt/notesMasters/notesMaster1.xml" Id="Rf1bfc52e31b24757" /><Relationship Type="http://schemas.openxmlformats.org/officeDocument/2006/relationships/presProps" Target="/ppt/presProps.xml" Id="Ra6ba01ba919b483b" /><Relationship Type="http://schemas.openxmlformats.org/officeDocument/2006/relationships/tableStyles" Target="/ppt/tableStyles.xml" Id="R8bf90e2b1f204545" /><Relationship Type="http://schemas.openxmlformats.org/officeDocument/2006/relationships/slide" Target="/ppt/slides/slide1.xml" Id="R6f575370a6764233" /><Relationship Type="http://schemas.openxmlformats.org/officeDocument/2006/relationships/slide" Target="/ppt/slides/slide2.xml" Id="Recc2a24588e04dc8" /><Relationship Type="http://schemas.openxmlformats.org/officeDocument/2006/relationships/slide" Target="/ppt/slides/slide3.xml" Id="Rfa4c763f044948e7" /><Relationship Type="http://schemas.openxmlformats.org/officeDocument/2006/relationships/slide" Target="/ppt/slides/slide4.xml" Id="R84d235ef11164162" /><Relationship Type="http://schemas.openxmlformats.org/officeDocument/2006/relationships/slide" Target="/ppt/slides/slide5.xml" Id="Rfa0f63128b904f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99181e3c7f45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e9d8a24efc4755" /><Relationship Type="http://schemas.openxmlformats.org/officeDocument/2006/relationships/notesMaster" Target="/ppt/notesMasters/notesMaster1.xml" Id="Rfe2757ea996040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f169aff72943d8" /><Relationship Type="http://schemas.openxmlformats.org/officeDocument/2006/relationships/notesMaster" Target="/ppt/notesMasters/notesMaster1.xml" Id="R3231c137fa7f4c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a585fa1a244f78" /><Relationship Type="http://schemas.openxmlformats.org/officeDocument/2006/relationships/notesMaster" Target="/ppt/notesMasters/notesMaster1.xml" Id="Ra6273454bcde46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ee00daaced416c" /><Relationship Type="http://schemas.openxmlformats.org/officeDocument/2006/relationships/notesMaster" Target="/ppt/notesMasters/notesMaster1.xml" Id="R4d5ed0e638b24e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aea6063154a25" /><Relationship Type="http://schemas.openxmlformats.org/officeDocument/2006/relationships/notesMaster" Target="/ppt/notesMasters/notesMaster1.xml" Id="Rf2df078f494a48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graph can support search and recommendations without training a new neural model. Start by resolving a product or search concept to an entity. From Item1, traverse its category Holster and retrieve Item2 as a related candidate. A shared seller is another relationship, but does not by itself establish product similarity. BFS expands nearby entities level by level, useful for bounded neighbourhood retrieval. DFS follows a path before backtracking, useful for constrained path exploration. Neither algorithm is a relevance-ranking model. In production, constrain edge types and hop counts, deduplicate candidates, apply policy and availability filters, and rank the remaining items using search and recommendation signals. Query languages and database optimisers determine physical execution; a multi-hop query need not expose an explicit DFS or BFS API. Validate candidate recall, ranking quality, fan-out and retrieval latency.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extends the shared graph with store nodes and timestamped store–item sales observations. Those nodes and histories are necessary for demand forecasting; the basic seller–item graph alone cannot supply a demand target. Node similarity can compare items by shared category, brand and other attributes, using measures such as neighbour-overlap or feature similarity. The shared Holster category provides one possible signal, but the Outside and Inside attributes may indicate important differences, so these items are illustrative candidates rather than guaranteed substitutes. For a new item, retrieve comparable products with sales history. For an established item entering a new store, use its demand in comparable stores and local analogues. Aggregate analogue signals with similarity weights and pass them to a forecasting model together with price, seasonality, promotions and availability. Correct for exposure and stockouts where possible. Validate using time-based cold-start holdouts and report error and bias separately for new-item and new-to-store cases. Community detection can group products or stores, but a community is not automatically a useful forecasting segment.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seller fraud detection, a graph neural network can combine seller attributes with information from connected items and other available entities. In training, start with point-in-time-correct features and adjudicated seller labels. Sample neighbourhoods, aggregate messages through the chosen GNN, and train a classification head on the seller representation. Relationship types may need distinct treatment because location, rating and item links have different meanings. At inference, generate an embedding for the current seller neighbourhood and produce a risk score. Use review thresholds consistent with the operational cost of false positives. A one-star rating and a shared location are not proof of fraudulent behaviour; the model should combine multiple signals. Avoid features created after the fraud decision or enforcement action. Use temporal evaluation, consider connected-entity leakage, and monitor precision at review capacity, recall and performance across seller cohorts. The screenshot is a small conceptual example, not sufficient evidence to classify Seller1.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distinct use of graph learning: retrieving items rather than classifying sellers. Learn item embeddings from product features and graph structure with an objective appropriate to search, such as a validated contrastive or link-prediction formulation. Items sharing a category may be close, but the training objective should distinguish substitutable items from merely related or complementary ones. Store item embeddings in an approximate-nearest-neighbour index. For similar-item search, use the embedding of a seed item. For natural-language search, a query encoder must be trained or mapped into a compatible space, or graph candidates can be fused with a separate text retrieval system. Do not assume a raw text embedding is directly comparable to an arbitrary graph embedding. Apply availability and policy filters, then rerank using query relevance. Evaluate Recall@K and NDCG with labelled or behavioural relevance, alongside latency and freshness. Fraud-trained seller embeddings are not automatically suitable for item-search retrieval.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GraphRAG adds a language interface to the same graph. For the question “How are Item1 and Item2 related?”, resolve the named items, retrieve their shared Seller1 and Holster paths, and preserve their different attributes, Outside and Inside. A grounded answer can explain those shared relationships without claiming the products are interchangeable or that the seller is fraudulent. Package node and edge identifiers, source provenance and relevant properties into the evidence context. The LLM then generates an explanation constrained to those facts, with citations where available. Measure entity-linking accuracy, evidence retrieval recall, claim support and end-to-end latency. Missing or conflicting graph data should lead to qualified answers rather than fabricated connections. This pattern also transfers to the user’s code, business-rule and TDD graphs, with a different schema and retrieval task. Source: user-provided screenshots image(3).png and image(4).png, résumé and requested use cases. Diagram recreates the visible named seller–item nodes; an unlabeled node in the screenshot is omitted. Graph paths and designs are illustrative, not production query plans or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a789c5c5904c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a146ee8c1c47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b8772bf6fa47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e2b07f21a044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943c4236fe49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4066e196214a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5E8E9E-3929-4C56-ACE7-DB22E2FEBB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B2C948-7B50-4434-AA60-4F8865375C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3903AD-EB44-408C-B42F-2D7E8876B9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496C06-B394-41FE-9E16-CC92C0F890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652874-D980-4400-88EF-3BD65071D30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A5B247-946D-4C48-8E38-A92220192D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87D57B-D1E9-4D41-966B-E49F4DB23C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89514F-3242-4120-92B5-7CFD70B541E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20ECE1-DA9E-494E-A46D-30DE2B5DE5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6BCD67-A79A-4A4A-893D-10EDB0393D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970f67cf2240e5" /><Relationship Type="http://schemas.openxmlformats.org/officeDocument/2006/relationships/slideLayout" Target="/ppt/slideLayouts/slideLayout1.xml" Id="Rc5346bd7c5da4222" /><Relationship Type="http://schemas.openxmlformats.org/officeDocument/2006/relationships/slideLayout" Target="/ppt/slideLayouts/slideLayout2.xml" Id="Rbdb93dd4cc6e4200" /><Relationship Type="http://schemas.openxmlformats.org/officeDocument/2006/relationships/slideLayout" Target="/ppt/slideLayouts/slideLayout3.xml" Id="R609dc244b4754785" /><Relationship Type="http://schemas.openxmlformats.org/officeDocument/2006/relationships/slideLayout" Target="/ppt/slideLayouts/slideLayout4.xml" Id="R751519052b154d8e" /><Relationship Type="http://schemas.openxmlformats.org/officeDocument/2006/relationships/slideLayout" Target="/ppt/slideLayouts/slideLayout5.xml" Id="R6be8d8c1bcd44cde" /><Relationship Type="http://schemas.openxmlformats.org/officeDocument/2006/relationships/slideLayout" Target="/ppt/slideLayouts/slideLayout6.xml" Id="R444bfcd352114a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346bd7c5da4222"/>
    <p:sldLayoutId xmlns:r="http://schemas.openxmlformats.org/officeDocument/2006/relationships" id="2147483650" r:id="Rbdb93dd4cc6e4200"/>
    <p:sldLayoutId xmlns:r="http://schemas.openxmlformats.org/officeDocument/2006/relationships" id="2147483651" r:id="R609dc244b4754785"/>
    <p:sldLayoutId xmlns:r="http://schemas.openxmlformats.org/officeDocument/2006/relationships" id="2147483652" r:id="R751519052b154d8e"/>
    <p:sldLayoutId xmlns:r="http://schemas.openxmlformats.org/officeDocument/2006/relationships" id="2147483653" r:id="R6be8d8c1bcd44cde"/>
    <p:sldLayoutId xmlns:r="http://schemas.openxmlformats.org/officeDocument/2006/relationships" id="2147483654" r:id="R444bfcd352114a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2905f87e184a14" /><Relationship Type="http://schemas.openxmlformats.org/officeDocument/2006/relationships/notesSlide" Target="/ppt/notesSlides/notesSlide1.xml" Id="Rb2e3eae1e3a74a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7533d66c9a4f2b" /><Relationship Type="http://schemas.openxmlformats.org/officeDocument/2006/relationships/notesSlide" Target="/ppt/notesSlides/notesSlide2.xml" Id="R4c0782c496b04a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9e7989aef242e9" /><Relationship Type="http://schemas.openxmlformats.org/officeDocument/2006/relationships/notesSlide" Target="/ppt/notesSlides/notesSlide3.xml" Id="R0562e023e1524c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c07e92f6d34482" /><Relationship Type="http://schemas.openxmlformats.org/officeDocument/2006/relationships/notesSlide" Target="/ppt/notesSlides/notesSlide4.xml" Id="Ra4cc254394ce4d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8a2827c8254e12" /><Relationship Type="http://schemas.openxmlformats.org/officeDocument/2006/relationships/notesSlide" Target="/ppt/notesSlides/notesSlide5.xml" Id="Re386ebe0d2744b73" /></Relationships>
</file>

<file path=ppt/slides/slide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6FF1434B-3C68-4CEC-8BA7-1892C4A944C2}"/>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09119F07-084F-4B01-9AA2-E7B0A26CE51C}"/>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9691B7E9-5C3E-4C65-A2EB-4C64322C89FA}"/>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3F4B6E08-ACC8-49CF-B9BF-27C9F63F1DCF}"/>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80A6E478-7D6D-4728-AC6A-10BC91676590}"/>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538768FB-8D1B-439A-AE57-0C1A22B69BFC}"/>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8BF6EBC8-B13F-4C3F-A4CE-75DDD36B783E}"/>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6A1BD7E9-47AC-4DE5-A160-474E81C0336A}"/>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1ABA5169-2497-4D6E-9E56-CD1DBACFADB3}"/>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queries for search &amp; recommendations</a:t>
            </a:r>
          </a:p>
        </p:txBody>
      </p:sp>
      <p:sp>
        <p:nvSpPr>
          <p:cNvPr id="2" name="">
            <a:extLst xmlns:a="http://schemas.openxmlformats.org/drawingml/2006/main">
              <a:ext uri="{FF2B5EF4-FFF2-40B4-BE49-F238E27FC236}">
                <a16:creationId xmlns:a16="http://schemas.microsoft.com/office/drawing/2014/main" id="{7FA83CD8-1EBB-4739-96A2-C70762A23B8F}"/>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Traverse known relationships to retrieve candidate items</a:t>
            </a:r>
          </a:p>
        </p:txBody>
      </p:sp>
      <p:sp>
        <p:nvSpPr>
          <p:cNvPr id="3" name="location">
            <a:extLst xmlns:a="http://schemas.openxmlformats.org/drawingml/2006/main">
              <a:ext uri="{FF2B5EF4-FFF2-40B4-BE49-F238E27FC236}">
                <a16:creationId xmlns:a16="http://schemas.microsoft.com/office/drawing/2014/main" id="{804A3566-6551-42BA-8C78-5DB79AEC7F1A}"/>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9C454388-55C1-4BD1-A765-43BA661FB988}"/>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E09DEB5C-904A-44B3-8CC1-C94FBE4547E5}"/>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601743BA-C0F1-4C28-A424-F2C28B826B56}"/>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7568C358-72E0-44FA-8A53-E5B01B9A7DB9}"/>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F433D562-6C17-42B4-B38D-CA091CC198DF}"/>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F7589337-741F-444A-BC2E-8DEA12D4E38C}"/>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28D1857F-B82E-4ADB-850A-178CBAACBEC2}"/>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7ECBED99-0456-4376-9981-6AA67D0D6135}"/>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BBE808FF-E06D-4903-AC58-E2EA40BED129}"/>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8A2C0943-AB0F-4A33-B41A-2F5A107488C4}"/>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7AD313B8-FA2E-4DDA-AC18-926B791E81A3}"/>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A71B675B-9642-4B7C-A41F-A723B1EC2035}"/>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D85E9654-C24B-4CD0-B267-C6467BF33294}"/>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5091B207-FAFB-449C-9BEA-769EB8E37140}"/>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60BCF2B2-CA0C-43EF-A935-810EE0635A3F}"/>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9ABBD983-C3B5-45F7-82A3-7CD615EF45D3}"/>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4EA82A47-53D0-4F79-931C-8DCFA791CE33}"/>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919D51C3-3903-4363-A42A-96FB66C8DE23}"/>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Start with an item or entity</a:t>
            </a:r>
          </a:p>
        </p:txBody>
      </p:sp>
      <p:sp>
        <p:nvSpPr>
          <p:cNvPr id="30" name="">
            <a:extLst xmlns:a="http://schemas.openxmlformats.org/drawingml/2006/main">
              <a:ext uri="{FF2B5EF4-FFF2-40B4-BE49-F238E27FC236}">
                <a16:creationId xmlns:a16="http://schemas.microsoft.com/office/drawing/2014/main" id="{BA096A99-1594-4892-A2C7-C27AA099440F}"/>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Resolve the query to Item1, a seller or a category.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Filter eligible items before returning candidates.</a:t>
            </a:r>
          </a:p>
        </p:txBody>
      </p:sp>
      <p:sp>
        <p:nvSpPr>
          <p:cNvPr id="31" name="">
            <a:extLst xmlns:a="http://schemas.openxmlformats.org/drawingml/2006/main">
              <a:ext uri="{FF2B5EF4-FFF2-40B4-BE49-F238E27FC236}">
                <a16:creationId xmlns:a16="http://schemas.microsoft.com/office/drawing/2014/main" id="{654A289D-2252-4E60-B578-BC4B5F25C16D}"/>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Explore a bounded neighbourhood</a:t>
            </a:r>
          </a:p>
        </p:txBody>
      </p:sp>
      <p:sp>
        <p:nvSpPr>
          <p:cNvPr id="32" name="">
            <a:extLst xmlns:a="http://schemas.openxmlformats.org/drawingml/2006/main">
              <a:ext uri="{FF2B5EF4-FFF2-40B4-BE49-F238E27FC236}">
                <a16:creationId xmlns:a16="http://schemas.microsoft.com/office/drawing/2014/main" id="{F7768751-DB71-4617-BFC3-54B6E1A95EAD}"/>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BFS: nearby entities, one hop at a time.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DFS: explore paths within depth / type limits.</a:t>
            </a:r>
          </a:p>
        </p:txBody>
      </p:sp>
      <p:sp>
        <p:nvSpPr>
          <p:cNvPr id="33" name="">
            <a:extLst xmlns:a="http://schemas.openxmlformats.org/drawingml/2006/main">
              <a:ext uri="{FF2B5EF4-FFF2-40B4-BE49-F238E27FC236}">
                <a16:creationId xmlns:a16="http://schemas.microsoft.com/office/drawing/2014/main" id="{22405348-3831-4AA1-A636-EED89844221F}"/>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Retrieve, then rank</a:t>
            </a:r>
          </a:p>
        </p:txBody>
      </p:sp>
      <p:sp>
        <p:nvSpPr>
          <p:cNvPr id="34" name="">
            <a:extLst xmlns:a="http://schemas.openxmlformats.org/drawingml/2006/main">
              <a:ext uri="{FF2B5EF4-FFF2-40B4-BE49-F238E27FC236}">
                <a16:creationId xmlns:a16="http://schemas.microsoft.com/office/drawing/2014/main" id="{3C094C8F-89DD-4C4E-957E-958B1F4CA9B1}"/>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Item1 → Holster → Item2 is a two-hop candidate path.</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Rank using relevance, availability and business rules.</a:t>
            </a:r>
          </a:p>
        </p:txBody>
      </p:sp>
      <p:sp>
        <p:nvSpPr>
          <p:cNvPr id="35" name="">
            <a:extLst xmlns:a="http://schemas.openxmlformats.org/drawingml/2006/main">
              <a:ext uri="{FF2B5EF4-FFF2-40B4-BE49-F238E27FC236}">
                <a16:creationId xmlns:a16="http://schemas.microsoft.com/office/drawing/2014/main" id="{7688A512-B451-4C22-9148-56F320D62FD0}"/>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Graph traversal generates candidates; ranking decides which results to show.</a:t>
            </a:r>
          </a:p>
        </p:txBody>
      </p:sp>
    </p:spTree>
    <p:extLst>
      <p:ext uri="{BB962C8B-B14F-4D97-AF65-F5344CB8AC3E}">
        <p14:creationId xmlns:p14="http://schemas.microsoft.com/office/powerpoint/2010/main" val="194871918"/>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BB38D0F1-E4F8-4A0E-929E-6B44785D7D8E}"/>
              </a:ext>
            </a:extLst>
          </p:cNvPr>
          <p:cNvCxnSpPr>
            <a:stCxn xmlns:a="http://schemas.openxmlformats.org/drawingml/2006/main" id="29" idx="0"/>
            <a:endCxn xmlns:a="http://schemas.openxmlformats.org/drawingml/2006/main" id="11" idx="4"/>
          </p:cNvCxnSpPr>
          <p:nvPr/>
        </p:nvCxnSpPr>
        <p:spPr>
          <a:xfrm xmlns:a="http://schemas.openxmlformats.org/drawingml/2006/main" flipV="1">
            <a:off x="3905250" y="4562475"/>
            <a:ext cx="0" cy="590550"/>
          </a:xfrm>
          <a:prstGeom xmlns:a="http://schemas.openxmlformats.org/drawingml/2006/main" prst="straightConnector1">
            <a:avLst/>
          </a:prstGeom>
          <a:ln xmlns:a="http://schemas.openxmlformats.org/drawingml/2006/main" w="14288">
            <a:solidFill>
              <a:srgbClr val="73B8A0"/>
            </a:solidFill>
            <a:prstDash val="dash"/>
          </a:ln>
        </p:spPr>
      </p:cxnSp>
      <p:cxnSp>
        <p:nvCxnSpPr>
          <p:cNvPr id="31" name="">
            <a:extLst xmlns:a="http://schemas.openxmlformats.org/drawingml/2006/main">
              <a:ext uri="{FF2B5EF4-FFF2-40B4-BE49-F238E27FC236}">
                <a16:creationId xmlns:a16="http://schemas.microsoft.com/office/drawing/2014/main" id="{55763D9C-D238-48DC-978D-FB5A695254B8}"/>
              </a:ext>
            </a:extLst>
          </p:cNvPr>
          <p:cNvCxnSpPr>
            <a:stCxn xmlns:a="http://schemas.openxmlformats.org/drawingml/2006/main" id="27" idx="7"/>
            <a:endCxn xmlns:a="http://schemas.openxmlformats.org/drawingml/2006/main" id="9" idx="3"/>
          </p:cNvCxnSpPr>
          <p:nvPr/>
        </p:nvCxnSpPr>
        <p:spPr>
          <a:xfrm xmlns:a="http://schemas.openxmlformats.org/drawingml/2006/main" flipV="1">
            <a:off x="2346138" y="2808439"/>
            <a:ext cx="1417673" cy="2389223"/>
          </a:xfrm>
          <a:prstGeom xmlns:a="http://schemas.openxmlformats.org/drawingml/2006/main" prst="straightConnector1">
            <a:avLst/>
          </a:prstGeom>
          <a:ln xmlns:a="http://schemas.openxmlformats.org/drawingml/2006/main" w="14288">
            <a:solidFill>
              <a:srgbClr val="73B8A0"/>
            </a:solidFill>
            <a:prstDash val="dash"/>
          </a:ln>
        </p:spPr>
      </p:cxnSp>
      <p:cxnSp>
        <p:nvCxnSpPr>
          <p:cNvPr id="26" name="">
            <a:extLst xmlns:a="http://schemas.openxmlformats.org/drawingml/2006/main">
              <a:ext uri="{FF2B5EF4-FFF2-40B4-BE49-F238E27FC236}">
                <a16:creationId xmlns:a16="http://schemas.microsoft.com/office/drawing/2014/main" id="{5AA5CAE5-2DF0-4698-9A72-6B0D25A8345E}"/>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BAB016DC-6856-4521-A142-8637B3144EFA}"/>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943D9DBB-B0F6-41A7-B4ED-CF6741146C69}"/>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887B9B8F-3E98-4458-B1CC-CFB57A0C56F1}"/>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AD3C74FF-2EE7-44E9-8C5A-238D82475151}"/>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73EF8EF3-940A-4158-B831-40439DAC9502}"/>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3D5EE929-0D22-4135-B818-9FAC0EB0DD55}"/>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CBD4A82B-9CD7-4BDE-B01B-7DA08CE85BAD}"/>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42" name="">
            <a:extLst xmlns:a="http://schemas.openxmlformats.org/drawingml/2006/main">
              <a:ext uri="{FF2B5EF4-FFF2-40B4-BE49-F238E27FC236}">
                <a16:creationId xmlns:a16="http://schemas.microsoft.com/office/drawing/2014/main" id="{7D0FA8DD-8CA3-466E-A035-B47B5086F151}"/>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ML for cold-start demand</a:t>
            </a:r>
          </a:p>
        </p:txBody>
      </p:sp>
      <p:sp>
        <p:nvSpPr>
          <p:cNvPr id="2" name="">
            <a:extLst xmlns:a="http://schemas.openxmlformats.org/drawingml/2006/main">
              <a:ext uri="{FF2B5EF4-FFF2-40B4-BE49-F238E27FC236}">
                <a16:creationId xmlns:a16="http://schemas.microsoft.com/office/drawing/2014/main" id="{9716AE93-8EFC-4288-ADC9-2B672A095C80}"/>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Node similarity supplies analogues for the One Demand forecasting workflow</a:t>
            </a:r>
          </a:p>
        </p:txBody>
      </p:sp>
      <p:sp>
        <p:nvSpPr>
          <p:cNvPr id="3" name="location">
            <a:extLst xmlns:a="http://schemas.openxmlformats.org/drawingml/2006/main">
              <a:ext uri="{FF2B5EF4-FFF2-40B4-BE49-F238E27FC236}">
                <a16:creationId xmlns:a16="http://schemas.microsoft.com/office/drawing/2014/main" id="{755F1B46-7D58-48B5-B9D1-0DBE2ED41CA8}"/>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1D897016-67BE-440A-B422-D0FC671ED18C}"/>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3D4F2243-088B-4ADE-947C-7FD71F737681}"/>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EAA7B190-83DE-4ADE-A0CA-4067B1957A27}"/>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AB2BA6E8-702D-4E79-B588-D044BC40BFDB}"/>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D7366AFB-B35C-4E02-9707-793411CDA781}"/>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582A6A84-AB1C-4266-9A74-409B95AC4FB1}"/>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9610357F-015B-4A21-BC39-80001F143459}"/>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0A862000-2C10-4331-BEA3-47C606679B35}"/>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C9A811B3-4E15-4DE3-B149-7F37491F7488}"/>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69CEE4DD-8216-44A0-AA4F-303E84382B32}"/>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8EB788D9-6780-48B9-892F-D83C927F9DC8}"/>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A0F8CC18-15B1-4DEC-9838-2709A1386D4C}"/>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6C234EB4-210A-430A-8378-EC44044ED144}"/>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70BF9C35-FB8F-4813-ABA9-7F1C5275CF07}"/>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DEF8DD4B-C86D-4A76-B878-14A0FA10642C}"/>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store-a">
            <a:extLst xmlns:a="http://schemas.openxmlformats.org/drawingml/2006/main">
              <a:ext uri="{FF2B5EF4-FFF2-40B4-BE49-F238E27FC236}">
                <a16:creationId xmlns:a16="http://schemas.microsoft.com/office/drawing/2014/main" id="{B8F18273-DFF0-4675-B8EF-E07DBB973874}"/>
              </a:ext>
            </a:extLst>
          </p:cNvPr>
          <p:cNvSpPr>
            <a:spLocks xmlns:a="http://schemas.openxmlformats.org/drawingml/2006/main" noGrp="1"/>
          </p:cNvSpPr>
          <p:nvPr/>
        </p:nvSpPr>
        <p:spPr>
          <a:xfrm xmlns:a="http://schemas.openxmlformats.org/drawingml/2006/main">
            <a:off x="2085975" y="5153025"/>
            <a:ext cx="304800" cy="304800"/>
          </a:xfrm>
          <a:prstGeom xmlns:a="http://schemas.openxmlformats.org/drawingml/2006/main" prst="ellipse">
            <a:avLst/>
          </a:prstGeom>
          <a:solidFill xmlns:a="http://schemas.openxmlformats.org/drawingml/2006/main">
            <a:srgbClr val="73B8A0"/>
          </a:solidFill>
          <a:ln xmlns:a="http://schemas.openxmlformats.org/drawingml/2006/main" w="19050">
            <a:solidFill>
              <a:srgbClr val="FFFFFF"/>
            </a:solidFill>
            <a:prstDash val="solid"/>
          </a:ln>
        </p:spPr>
      </p:sp>
      <p:sp>
        <p:nvSpPr>
          <p:cNvPr id="28" name="">
            <a:extLst xmlns:a="http://schemas.openxmlformats.org/drawingml/2006/main">
              <a:ext uri="{FF2B5EF4-FFF2-40B4-BE49-F238E27FC236}">
                <a16:creationId xmlns:a16="http://schemas.microsoft.com/office/drawing/2014/main" id="{C20F3682-2A2C-43FE-B2DC-10E6B45D8530}"/>
              </a:ext>
            </a:extLst>
          </p:cNvPr>
          <p:cNvSpPr>
            <a:spLocks xmlns:a="http://schemas.openxmlformats.org/drawingml/2006/main" noGrp="1"/>
          </p:cNvSpPr>
          <p:nvPr/>
        </p:nvSpPr>
        <p:spPr>
          <a:xfrm xmlns:a="http://schemas.openxmlformats.org/drawingml/2006/main">
            <a:off x="1428750" y="486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Store A</a:t>
            </a:r>
          </a:p>
        </p:txBody>
      </p:sp>
      <p:sp>
        <p:nvSpPr>
          <p:cNvPr id="29" name="store-b">
            <a:extLst xmlns:a="http://schemas.openxmlformats.org/drawingml/2006/main">
              <a:ext uri="{FF2B5EF4-FFF2-40B4-BE49-F238E27FC236}">
                <a16:creationId xmlns:a16="http://schemas.microsoft.com/office/drawing/2014/main" id="{1C7CA276-438A-4D90-B6D3-E04196C9FE0E}"/>
              </a:ext>
            </a:extLst>
          </p:cNvPr>
          <p:cNvSpPr>
            <a:spLocks xmlns:a="http://schemas.openxmlformats.org/drawingml/2006/main" noGrp="1"/>
          </p:cNvSpPr>
          <p:nvPr/>
        </p:nvSpPr>
        <p:spPr>
          <a:xfrm xmlns:a="http://schemas.openxmlformats.org/drawingml/2006/main">
            <a:off x="3752850" y="5153025"/>
            <a:ext cx="304800" cy="304800"/>
          </a:xfrm>
          <a:prstGeom xmlns:a="http://schemas.openxmlformats.org/drawingml/2006/main" prst="ellipse">
            <a:avLst/>
          </a:prstGeom>
          <a:solidFill xmlns:a="http://schemas.openxmlformats.org/drawingml/2006/main">
            <a:srgbClr val="73B8A0"/>
          </a:solidFill>
          <a:ln xmlns:a="http://schemas.openxmlformats.org/drawingml/2006/main" w="19050">
            <a:solidFill>
              <a:srgbClr val="FFFFFF"/>
            </a:solidFill>
            <a:prstDash val="solid"/>
          </a:ln>
        </p:spPr>
      </p:sp>
      <p:sp>
        <p:nvSpPr>
          <p:cNvPr id="30" name="">
            <a:extLst xmlns:a="http://schemas.openxmlformats.org/drawingml/2006/main">
              <a:ext uri="{FF2B5EF4-FFF2-40B4-BE49-F238E27FC236}">
                <a16:creationId xmlns:a16="http://schemas.microsoft.com/office/drawing/2014/main" id="{C3893149-BB18-41DD-BF7D-A6F93E08976C}"/>
              </a:ext>
            </a:extLst>
          </p:cNvPr>
          <p:cNvSpPr>
            <a:spLocks xmlns:a="http://schemas.openxmlformats.org/drawingml/2006/main" noGrp="1"/>
          </p:cNvSpPr>
          <p:nvPr/>
        </p:nvSpPr>
        <p:spPr>
          <a:xfrm xmlns:a="http://schemas.openxmlformats.org/drawingml/2006/main">
            <a:off x="3095625" y="48672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Store B</a:t>
            </a:r>
          </a:p>
        </p:txBody>
      </p:sp>
      <p:sp>
        <p:nvSpPr>
          <p:cNvPr id="33" name="">
            <a:extLst xmlns:a="http://schemas.openxmlformats.org/drawingml/2006/main">
              <a:ext uri="{FF2B5EF4-FFF2-40B4-BE49-F238E27FC236}">
                <a16:creationId xmlns:a16="http://schemas.microsoft.com/office/drawing/2014/main" id="{3406A492-94A3-4FF8-A79B-316CB7F59094}"/>
              </a:ext>
            </a:extLst>
          </p:cNvPr>
          <p:cNvSpPr>
            <a:spLocks xmlns:a="http://schemas.openxmlformats.org/drawingml/2006/main" noGrp="1"/>
          </p:cNvSpPr>
          <p:nvPr/>
        </p:nvSpPr>
        <p:spPr>
          <a:xfrm xmlns:a="http://schemas.openxmlformats.org/drawingml/2006/main">
            <a:off x="609600" y="5724525"/>
            <a:ext cx="5095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0">
                <a:solidFill>
                  <a:srgbClr val="53676D"/>
                </a:solidFill>
                <a:latin typeface="DejaVu Sans"/>
                <a:ea typeface="DejaVu Sans"/>
                <a:cs typeface="DejaVu Sans"/>
              </a:defRPr>
            </a:defPPr>
            <a:lvl1pPr>
              <a:defRPr sz="1350" b="0">
                <a:solidFill>
                  <a:srgbClr val="53676D"/>
                </a:solidFill>
                <a:latin typeface="DejaVu Sans"/>
                <a:ea typeface="DejaVu Sans"/>
                <a:cs typeface="DejaVu Sans"/>
              </a:defRPr>
            </a:lvl1pPr>
            <a:lvl2pPr>
              <a:defRPr sz="1350" b="0">
                <a:solidFill>
                  <a:srgbClr val="53676D"/>
                </a:solidFill>
                <a:latin typeface="DejaVu Sans"/>
                <a:ea typeface="DejaVu Sans"/>
                <a:cs typeface="DejaVu Sans"/>
              </a:defRPr>
            </a:lvl2pPr>
            <a:lvl3pPr>
              <a:defRPr sz="1350" b="0">
                <a:solidFill>
                  <a:srgbClr val="53676D"/>
                </a:solidFill>
                <a:latin typeface="DejaVu Sans"/>
                <a:ea typeface="DejaVu Sans"/>
                <a:cs typeface="DejaVu Sans"/>
              </a:defRPr>
            </a:lvl3pPr>
            <a:lvl4pPr>
              <a:defRPr sz="1350" b="0">
                <a:solidFill>
                  <a:srgbClr val="53676D"/>
                </a:solidFill>
                <a:latin typeface="DejaVu Sans"/>
                <a:ea typeface="DejaVu Sans"/>
                <a:cs typeface="DejaVu Sans"/>
              </a:defRPr>
            </a:lvl4pPr>
            <a:lvl5pPr>
              <a:defRPr sz="1350" b="0">
                <a:solidFill>
                  <a:srgbClr val="53676D"/>
                </a:solidFill>
                <a:latin typeface="DejaVu Sans"/>
                <a:ea typeface="DejaVu Sans"/>
                <a:cs typeface="DejaVu Sans"/>
              </a:defRPr>
            </a:lvl5pPr>
            <a:lvl6pPr>
              <a:defRPr sz="1350" b="0">
                <a:solidFill>
                  <a:srgbClr val="53676D"/>
                </a:solidFill>
                <a:latin typeface="DejaVu Sans"/>
                <a:ea typeface="DejaVu Sans"/>
                <a:cs typeface="DejaVu Sans"/>
              </a:defRPr>
            </a:lvl6pPr>
            <a:lvl7pPr>
              <a:defRPr sz="1350" b="0">
                <a:solidFill>
                  <a:srgbClr val="53676D"/>
                </a:solidFill>
                <a:latin typeface="DejaVu Sans"/>
                <a:ea typeface="DejaVu Sans"/>
                <a:cs typeface="DejaVu Sans"/>
              </a:defRPr>
            </a:lvl7pPr>
            <a:lvl8pPr>
              <a:defRPr sz="1350" b="0">
                <a:solidFill>
                  <a:srgbClr val="53676D"/>
                </a:solidFill>
                <a:latin typeface="DejaVu Sans"/>
                <a:ea typeface="DejaVu Sans"/>
                <a:cs typeface="DejaVu Sans"/>
              </a:defRPr>
            </a:lvl8pPr>
            <a:lvl9pPr>
              <a:defRPr sz="1350" b="0">
                <a:solidFill>
                  <a:srgbClr val="53676D"/>
                </a:solidFill>
                <a:latin typeface="DejaVu Sans"/>
                <a:ea typeface="DejaVu Sans"/>
                <a:cs typeface="DejaVu Sans"/>
              </a:defRPr>
            </a:lvl9pPr>
          </a:lstStyle>
          <a:p xmlns:a="http://schemas.openxmlformats.org/drawingml/2006/main">
            <a:pPr>
              <a:defRPr sz="1350" b="0">
                <a:solidFill>
                  <a:srgbClr val="53676D"/>
                </a:solidFill>
                <a:latin typeface="DejaVu Sans"/>
                <a:ea typeface="DejaVu Sans"/>
                <a:cs typeface="DejaVu Sans"/>
              </a:defRPr>
            </a:pPr>
            <a:r>
              <a:rPr sz="1350" b="0">
                <a:solidFill>
                  <a:srgbClr val="53676D"/>
                </a:solidFill>
                <a:latin typeface="DejaVu Sans"/>
                <a:ea typeface="DejaVu Sans"/>
                <a:cs typeface="DejaVu Sans"/>
              </a:rPr>
              <a:t>Illustrative extension: store–item sales history</a:t>
            </a:r>
          </a:p>
        </p:txBody>
      </p:sp>
      <p:sp>
        <p:nvSpPr>
          <p:cNvPr id="34" name="">
            <a:extLst xmlns:a="http://schemas.openxmlformats.org/drawingml/2006/main">
              <a:ext uri="{FF2B5EF4-FFF2-40B4-BE49-F238E27FC236}">
                <a16:creationId xmlns:a16="http://schemas.microsoft.com/office/drawing/2014/main" id="{5EADB144-149A-46FF-8738-F61141BAD9EE}"/>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35" name="">
            <a:extLst xmlns:a="http://schemas.openxmlformats.org/drawingml/2006/main">
              <a:ext uri="{FF2B5EF4-FFF2-40B4-BE49-F238E27FC236}">
                <a16:creationId xmlns:a16="http://schemas.microsoft.com/office/drawing/2014/main" id="{568D3C84-946F-4F82-A7EE-0031D2A88A0C}"/>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Find comparable items and stores</a:t>
            </a:r>
          </a:p>
        </p:txBody>
      </p:sp>
      <p:sp>
        <p:nvSpPr>
          <p:cNvPr id="36" name="">
            <a:extLst xmlns:a="http://schemas.openxmlformats.org/drawingml/2006/main">
              <a:ext uri="{FF2B5EF4-FFF2-40B4-BE49-F238E27FC236}">
                <a16:creationId xmlns:a16="http://schemas.microsoft.com/office/drawing/2014/main" id="{538A4E52-C08C-4CFB-AA80-30057CD59611}"/>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Compare neighbours with Jaccard similarity.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cosine similarity for item / store features.</a:t>
            </a:r>
          </a:p>
        </p:txBody>
      </p:sp>
      <p:sp>
        <p:nvSpPr>
          <p:cNvPr id="37" name="">
            <a:extLst xmlns:a="http://schemas.openxmlformats.org/drawingml/2006/main">
              <a:ext uri="{FF2B5EF4-FFF2-40B4-BE49-F238E27FC236}">
                <a16:creationId xmlns:a16="http://schemas.microsoft.com/office/drawing/2014/main" id="{BE6B5687-2041-433A-A216-C004659EBEC4}"/>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Transfer demand evidence</a:t>
            </a:r>
          </a:p>
        </p:txBody>
      </p:sp>
      <p:sp>
        <p:nvSpPr>
          <p:cNvPr id="38" name="">
            <a:extLst xmlns:a="http://schemas.openxmlformats.org/drawingml/2006/main">
              <a:ext uri="{FF2B5EF4-FFF2-40B4-BE49-F238E27FC236}">
                <a16:creationId xmlns:a16="http://schemas.microsoft.com/office/drawing/2014/main" id="{C8232628-CAA6-46E0-8BF4-2FA6AB51364D}"/>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similar items with observed sales history.</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For new-to-store items, borrow comparable-store signals.</a:t>
            </a:r>
          </a:p>
        </p:txBody>
      </p:sp>
      <p:sp>
        <p:nvSpPr>
          <p:cNvPr id="39" name="">
            <a:extLst xmlns:a="http://schemas.openxmlformats.org/drawingml/2006/main">
              <a:ext uri="{FF2B5EF4-FFF2-40B4-BE49-F238E27FC236}">
                <a16:creationId xmlns:a16="http://schemas.microsoft.com/office/drawing/2014/main" id="{E27C4444-8D90-4BE7-B445-125E53C1C52E}"/>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Generate a calibrated forecast</a:t>
            </a:r>
          </a:p>
        </p:txBody>
      </p:sp>
      <p:sp>
        <p:nvSpPr>
          <p:cNvPr id="40" name="">
            <a:extLst xmlns:a="http://schemas.openxmlformats.org/drawingml/2006/main">
              <a:ext uri="{FF2B5EF4-FFF2-40B4-BE49-F238E27FC236}">
                <a16:creationId xmlns:a16="http://schemas.microsoft.com/office/drawing/2014/main" id="{20CD7BE2-479A-4A93-95CF-7EF50DC3DD35}"/>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Feed analogue-demand features into a forecaster.</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Adjust for price, seasonality and local availability.</a:t>
            </a:r>
          </a:p>
        </p:txBody>
      </p:sp>
      <p:sp>
        <p:nvSpPr>
          <p:cNvPr id="41" name="">
            <a:extLst xmlns:a="http://schemas.openxmlformats.org/drawingml/2006/main">
              <a:ext uri="{FF2B5EF4-FFF2-40B4-BE49-F238E27FC236}">
                <a16:creationId xmlns:a16="http://schemas.microsoft.com/office/drawing/2014/main" id="{B7DE6A94-1792-4287-82D6-A8D00C087A49}"/>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Similarity provides a cold-start prior; the forecasting model estimates demand.</a:t>
            </a:r>
          </a:p>
        </p:txBody>
      </p:sp>
    </p:spTree>
    <p:extLst>
      <p:ext uri="{BB962C8B-B14F-4D97-AF65-F5344CB8AC3E}">
        <p14:creationId xmlns:p14="http://schemas.microsoft.com/office/powerpoint/2010/main" val="670681665"/>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4E23CE24-0E78-489A-A165-726C5CC37505}"/>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9E6286D0-C375-4A39-9A57-4D56E5F60734}"/>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B6720EFE-F428-4F90-A969-92B85D14E2F0}"/>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15240">
            <a:solidFill>
              <a:srgbClr val="C5CCC7"/>
            </a:solidFill>
            <a:prstDash val="solid"/>
          </a:ln>
        </p:spPr>
      </p:cxnSp>
      <p:cxnSp>
        <p:nvCxnSpPr>
          <p:cNvPr id="23" name="">
            <a:extLst xmlns:a="http://schemas.openxmlformats.org/drawingml/2006/main">
              <a:ext uri="{FF2B5EF4-FFF2-40B4-BE49-F238E27FC236}">
                <a16:creationId xmlns:a16="http://schemas.microsoft.com/office/drawing/2014/main" id="{9FD2ABAE-4B3D-42F2-8195-148E26FB7E52}"/>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15240">
            <a:solidFill>
              <a:srgbClr val="C5CCC7"/>
            </a:solidFill>
            <a:prstDash val="solid"/>
          </a:ln>
        </p:spPr>
      </p:cxnSp>
      <p:cxnSp>
        <p:nvCxnSpPr>
          <p:cNvPr id="22" name="">
            <a:extLst xmlns:a="http://schemas.openxmlformats.org/drawingml/2006/main">
              <a:ext uri="{FF2B5EF4-FFF2-40B4-BE49-F238E27FC236}">
                <a16:creationId xmlns:a16="http://schemas.microsoft.com/office/drawing/2014/main" id="{965ADD7C-D96F-4ADC-BC2E-F4E13933F2F3}"/>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38100">
            <a:solidFill>
              <a:srgbClr val="087E83"/>
            </a:solidFill>
            <a:prstDash val="solid"/>
          </a:ln>
        </p:spPr>
      </p:cxnSp>
      <p:cxnSp>
        <p:nvCxnSpPr>
          <p:cNvPr id="21" name="">
            <a:extLst xmlns:a="http://schemas.openxmlformats.org/drawingml/2006/main">
              <a:ext uri="{FF2B5EF4-FFF2-40B4-BE49-F238E27FC236}">
                <a16:creationId xmlns:a16="http://schemas.microsoft.com/office/drawing/2014/main" id="{D6C5D1F9-E20D-45B7-A863-3BAFAA6C56BF}"/>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38100">
            <a:solidFill>
              <a:srgbClr val="087E83"/>
            </a:solidFill>
            <a:prstDash val="solid"/>
          </a:ln>
        </p:spPr>
      </p:cxnSp>
      <p:cxnSp>
        <p:nvCxnSpPr>
          <p:cNvPr id="20" name="">
            <a:extLst xmlns:a="http://schemas.openxmlformats.org/drawingml/2006/main">
              <a:ext uri="{FF2B5EF4-FFF2-40B4-BE49-F238E27FC236}">
                <a16:creationId xmlns:a16="http://schemas.microsoft.com/office/drawing/2014/main" id="{57A29AAE-9E70-467C-A381-F5BE6804CDAA}"/>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38100">
            <a:solidFill>
              <a:srgbClr val="087E83"/>
            </a:solidFill>
            <a:prstDash val="solid"/>
          </a:ln>
        </p:spPr>
      </p:cxnSp>
      <p:cxnSp>
        <p:nvCxnSpPr>
          <p:cNvPr id="19" name="">
            <a:extLst xmlns:a="http://schemas.openxmlformats.org/drawingml/2006/main">
              <a:ext uri="{FF2B5EF4-FFF2-40B4-BE49-F238E27FC236}">
                <a16:creationId xmlns:a16="http://schemas.microsoft.com/office/drawing/2014/main" id="{DDDEDF42-8DA9-4FD9-B19F-54624CC910DB}"/>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38100">
            <a:solidFill>
              <a:srgbClr val="087E83"/>
            </a:solidFill>
            <a:prstDash val="solid"/>
          </a:ln>
        </p:spPr>
      </p:cxnSp>
      <p:sp>
        <p:nvSpPr>
          <p:cNvPr id="36" name="">
            <a:extLst xmlns:a="http://schemas.openxmlformats.org/drawingml/2006/main">
              <a:ext uri="{FF2B5EF4-FFF2-40B4-BE49-F238E27FC236}">
                <a16:creationId xmlns:a16="http://schemas.microsoft.com/office/drawing/2014/main" id="{910FA175-22D6-46A2-872F-AAE2F96095A6}"/>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GNNs for seller fraud detection</a:t>
            </a:r>
          </a:p>
        </p:txBody>
      </p:sp>
      <p:sp>
        <p:nvSpPr>
          <p:cNvPr id="2" name="">
            <a:extLst xmlns:a="http://schemas.openxmlformats.org/drawingml/2006/main">
              <a:ext uri="{FF2B5EF4-FFF2-40B4-BE49-F238E27FC236}">
                <a16:creationId xmlns:a16="http://schemas.microsoft.com/office/drawing/2014/main" id="{A90A9CB3-4E03-4A42-8B3B-807E6AB706DD}"/>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Learn seller representations from attributes and connected entities</a:t>
            </a:r>
          </a:p>
        </p:txBody>
      </p:sp>
      <p:sp>
        <p:nvSpPr>
          <p:cNvPr id="3" name="location">
            <a:extLst xmlns:a="http://schemas.openxmlformats.org/drawingml/2006/main">
              <a:ext uri="{FF2B5EF4-FFF2-40B4-BE49-F238E27FC236}">
                <a16:creationId xmlns:a16="http://schemas.microsoft.com/office/drawing/2014/main" id="{2FD96FD0-CC0F-48FA-B48A-FFFC29F06A48}"/>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A0E2B46D-2F33-4687-851C-47C22B5C991D}"/>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C31A3B99-1537-4070-980C-65F9E5C3D983}"/>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CF992C63-9C76-48E0-B892-011569769BAB}"/>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0091CE0F-D36D-4208-AE89-A37F9B79677B}"/>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C78B4C84-3D1C-43EA-88FC-FE7A6B0AF67E}"/>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DD417AF1-1E8D-4F0C-8455-178D21137BA1}"/>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7A93D4BD-843F-4FEE-B3E1-859674A21B56}"/>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57E99B44-72B0-4715-A0F3-9FECC3912F80}"/>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485F92BE-4FF8-4CF5-80B6-F23FD6CF0F80}"/>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2BEF338D-FC85-4CC2-AAFC-42811799F278}"/>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021B67ED-4782-4AD6-A9EB-33D17CA3180E}"/>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C6CE19BB-67D9-47B6-99F5-09A1C5B730C9}"/>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7C75D3B8-3101-47B1-94C0-D79074195252}"/>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86D3070E-5850-43DA-A4BC-6B4B0AEB1A1C}"/>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9262D5D7-81B9-4BDF-9740-90A93356675E}"/>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1FE6CCBD-4C13-4F05-BBE6-3142EAC384D0}"/>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seller neighbourhood for message passing</a:t>
            </a:r>
          </a:p>
        </p:txBody>
      </p:sp>
      <p:sp>
        <p:nvSpPr>
          <p:cNvPr id="28" name="">
            <a:extLst xmlns:a="http://schemas.openxmlformats.org/drawingml/2006/main">
              <a:ext uri="{FF2B5EF4-FFF2-40B4-BE49-F238E27FC236}">
                <a16:creationId xmlns:a16="http://schemas.microsoft.com/office/drawing/2014/main" id="{2B94DE04-966D-4CA9-A985-B0EFE72A7AED}"/>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3215EAC4-F117-4CE5-B41E-A6183842D8B9}"/>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Training: learn seller embeddings</a:t>
            </a:r>
          </a:p>
        </p:txBody>
      </p:sp>
      <p:sp>
        <p:nvSpPr>
          <p:cNvPr id="30" name="">
            <a:extLst xmlns:a="http://schemas.openxmlformats.org/drawingml/2006/main">
              <a:ext uri="{FF2B5EF4-FFF2-40B4-BE49-F238E27FC236}">
                <a16:creationId xmlns:a16="http://schemas.microsoft.com/office/drawing/2014/main" id="{A9CF7E5B-D80A-420F-B73C-7391755E2B24}"/>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Combine seller features with connected-item signals.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Message passing learns a seller embedding.</a:t>
            </a:r>
          </a:p>
        </p:txBody>
      </p:sp>
      <p:sp>
        <p:nvSpPr>
          <p:cNvPr id="31" name="">
            <a:extLst xmlns:a="http://schemas.openxmlformats.org/drawingml/2006/main">
              <a:ext uri="{FF2B5EF4-FFF2-40B4-BE49-F238E27FC236}">
                <a16:creationId xmlns:a16="http://schemas.microsoft.com/office/drawing/2014/main" id="{106EA361-B260-4B58-B7E2-C9AEFAD0A50F}"/>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Prediction: estimate seller risk</a:t>
            </a:r>
          </a:p>
        </p:txBody>
      </p:sp>
      <p:sp>
        <p:nvSpPr>
          <p:cNvPr id="32" name="">
            <a:extLst xmlns:a="http://schemas.openxmlformats.org/drawingml/2006/main">
              <a:ext uri="{FF2B5EF4-FFF2-40B4-BE49-F238E27FC236}">
                <a16:creationId xmlns:a16="http://schemas.microsoft.com/office/drawing/2014/main" id="{DEB35F7E-6DBB-4754-84E3-5C86076FCDCC}"/>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 classification head maps the embedding to a risk score.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Prioritise high-risk sellers for investigation.</a:t>
            </a:r>
          </a:p>
        </p:txBody>
      </p:sp>
      <p:sp>
        <p:nvSpPr>
          <p:cNvPr id="33" name="">
            <a:extLst xmlns:a="http://schemas.openxmlformats.org/drawingml/2006/main">
              <a:ext uri="{FF2B5EF4-FFF2-40B4-BE49-F238E27FC236}">
                <a16:creationId xmlns:a16="http://schemas.microsoft.com/office/drawing/2014/main" id="{00C5FCD9-200F-4773-AC1B-3852B5ED0442}"/>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Validation: time-aware evaluation</a:t>
            </a:r>
          </a:p>
        </p:txBody>
      </p:sp>
      <p:sp>
        <p:nvSpPr>
          <p:cNvPr id="34" name="">
            <a:extLst xmlns:a="http://schemas.openxmlformats.org/drawingml/2006/main">
              <a:ext uri="{FF2B5EF4-FFF2-40B4-BE49-F238E27FC236}">
                <a16:creationId xmlns:a16="http://schemas.microsoft.com/office/drawing/2014/main" id="{B5AFD067-D2D1-442D-AD17-12B217D21A00}"/>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time-correct features and reviewed fraud labels.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Track precision / recall and false-positive impact.</a:t>
            </a:r>
          </a:p>
        </p:txBody>
      </p:sp>
      <p:sp>
        <p:nvSpPr>
          <p:cNvPr id="35" name="">
            <a:extLst xmlns:a="http://schemas.openxmlformats.org/drawingml/2006/main">
              <a:ext uri="{FF2B5EF4-FFF2-40B4-BE49-F238E27FC236}">
                <a16:creationId xmlns:a16="http://schemas.microsoft.com/office/drawing/2014/main" id="{EF81F6CE-47B6-4492-AC08-5596BF684715}"/>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A low rating is a signal, not proof of fraud. Relationships add context.</a:t>
            </a:r>
          </a:p>
        </p:txBody>
      </p:sp>
    </p:spTree>
    <p:extLst>
      <p:ext uri="{BB962C8B-B14F-4D97-AF65-F5344CB8AC3E}">
        <p14:creationId xmlns:p14="http://schemas.microsoft.com/office/powerpoint/2010/main" val="1723949460"/>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4447DA15-F0CD-441A-A344-C79FB0F2791E}"/>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B810F9E8-4A79-457B-B7CB-192F774D2A22}"/>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8AD918B2-4F1C-457F-B444-4DFF05B52E37}"/>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EC5ADEE3-07D2-4D69-8C4F-E0C8DB76DC96}"/>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830BA5C3-377F-4396-824B-6F0681FBEE67}"/>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F34975F7-04D0-40AF-B078-5DF5A151C014}"/>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BFDE32EE-D422-40A6-8370-CBCCBD3D579B}"/>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449AC018-1BD0-4F97-B3B8-751DA4A62075}"/>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FACBDCFC-FBF5-4E04-AC5E-F623C2C00382}"/>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 embeddings for search</a:t>
            </a:r>
          </a:p>
        </p:txBody>
      </p:sp>
      <p:sp>
        <p:nvSpPr>
          <p:cNvPr id="2" name="">
            <a:extLst xmlns:a="http://schemas.openxmlformats.org/drawingml/2006/main">
              <a:ext uri="{FF2B5EF4-FFF2-40B4-BE49-F238E27FC236}">
                <a16:creationId xmlns:a16="http://schemas.microsoft.com/office/drawing/2014/main" id="{F1500BF1-BF84-48DF-837B-F4F15F390986}"/>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Represent items as vectors that capture relational context</a:t>
            </a:r>
          </a:p>
        </p:txBody>
      </p:sp>
      <p:sp>
        <p:nvSpPr>
          <p:cNvPr id="3" name="location">
            <a:extLst xmlns:a="http://schemas.openxmlformats.org/drawingml/2006/main">
              <a:ext uri="{FF2B5EF4-FFF2-40B4-BE49-F238E27FC236}">
                <a16:creationId xmlns:a16="http://schemas.microsoft.com/office/drawing/2014/main" id="{3064E975-8A30-4381-B7B9-CAA7EF39B906}"/>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07AE3286-B914-46CD-8139-3EE555AC11E1}"/>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2F26741F-FD36-4B1E-9639-FE2C93BEDA08}"/>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BFB8AE76-F3B7-4B08-BA54-92A0C09CA48F}"/>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B906FA0C-EF7C-4088-92AD-BA61E9AB13FC}"/>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44C23859-B488-462E-A20E-300AE3112A4C}"/>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3848BBB2-D0A5-4F62-A4CD-7315EC4AA273}"/>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D1C6AA4D-F0B6-44BA-A45D-8D00D15704DB}"/>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0CCB1EBB-F80C-46B3-A45D-1A405F7C5AC0}"/>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25E948CF-BFA8-44E1-A77D-F9CA4FAD4C44}"/>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E2A7F49C-E3BB-46FA-B08C-DAF5775F9B28}"/>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C500E5BB-206B-439D-8ED1-DB9DCD1C699B}"/>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2605ACA8-F28E-4AB6-8726-27BD4B2E0A8B}"/>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6891CDF0-1365-485D-8456-B0556271FEAF}"/>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9F0A568B-4E28-4676-B957-E17084F5F7B8}"/>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19F4395B-97E2-492B-BF8C-CE1615013BF3}"/>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0B72F1C8-64F5-4693-BD98-957AC7DA5C49}"/>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5BB26453-F2EA-4072-A88A-5C789587F25C}"/>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884C64AA-BD15-4CD2-91D9-B4AB8212F7FE}"/>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Learn a retrieval representation</a:t>
            </a:r>
          </a:p>
        </p:txBody>
      </p:sp>
      <p:sp>
        <p:nvSpPr>
          <p:cNvPr id="30" name="">
            <a:extLst xmlns:a="http://schemas.openxmlformats.org/drawingml/2006/main">
              <a:ext uri="{FF2B5EF4-FFF2-40B4-BE49-F238E27FC236}">
                <a16:creationId xmlns:a16="http://schemas.microsoft.com/office/drawing/2014/main" id="{F1CBD91C-7208-4F62-9672-18C41FBD6553}"/>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Encode item attributes and graph neighbourhoods.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Train for the intended similarity or retrieval task.</a:t>
            </a:r>
          </a:p>
        </p:txBody>
      </p:sp>
      <p:sp>
        <p:nvSpPr>
          <p:cNvPr id="31" name="">
            <a:extLst xmlns:a="http://schemas.openxmlformats.org/drawingml/2006/main">
              <a:ext uri="{FF2B5EF4-FFF2-40B4-BE49-F238E27FC236}">
                <a16:creationId xmlns:a16="http://schemas.microsoft.com/office/drawing/2014/main" id="{67982905-3AE5-4658-A948-FC900113A54C}"/>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Retrieve nearby item vectors</a:t>
            </a:r>
          </a:p>
        </p:txBody>
      </p:sp>
      <p:sp>
        <p:nvSpPr>
          <p:cNvPr id="32" name="">
            <a:extLst xmlns:a="http://schemas.openxmlformats.org/drawingml/2006/main">
              <a:ext uri="{FF2B5EF4-FFF2-40B4-BE49-F238E27FC236}">
                <a16:creationId xmlns:a16="http://schemas.microsoft.com/office/drawing/2014/main" id="{D610EB1D-B248-4DFB-AB71-2803330966AB}"/>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Use Item1 or a mapped search query as the anchor.</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ANN retrieval returns candidate neighbours.</a:t>
            </a:r>
          </a:p>
        </p:txBody>
      </p:sp>
      <p:sp>
        <p:nvSpPr>
          <p:cNvPr id="33" name="">
            <a:extLst xmlns:a="http://schemas.openxmlformats.org/drawingml/2006/main">
              <a:ext uri="{FF2B5EF4-FFF2-40B4-BE49-F238E27FC236}">
                <a16:creationId xmlns:a16="http://schemas.microsoft.com/office/drawing/2014/main" id="{A61BE464-C69D-43FA-B4D7-4847D06725A1}"/>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Fuse signals and rerank</a:t>
            </a:r>
          </a:p>
        </p:txBody>
      </p:sp>
      <p:sp>
        <p:nvSpPr>
          <p:cNvPr id="34" name="">
            <a:extLst xmlns:a="http://schemas.openxmlformats.org/drawingml/2006/main">
              <a:ext uri="{FF2B5EF4-FFF2-40B4-BE49-F238E27FC236}">
                <a16:creationId xmlns:a16="http://schemas.microsoft.com/office/drawing/2014/main" id="{2B0F9725-A7BE-414C-A9E0-5181CC762134}"/>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Fuse graph, text and image signals where useful.</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Filter candidates and rerank for the search intent.</a:t>
            </a:r>
          </a:p>
        </p:txBody>
      </p:sp>
      <p:sp>
        <p:nvSpPr>
          <p:cNvPr id="35" name="">
            <a:extLst xmlns:a="http://schemas.openxmlformats.org/drawingml/2006/main">
              <a:ext uri="{FF2B5EF4-FFF2-40B4-BE49-F238E27FC236}">
                <a16:creationId xmlns:a16="http://schemas.microsoft.com/office/drawing/2014/main" id="{3D75F3BD-EC62-466D-ACC5-62D26581977E}"/>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Embedding proximity must reflect relevance, not just shared graph connections.</a:t>
            </a:r>
          </a:p>
        </p:txBody>
      </p:sp>
    </p:spTree>
    <p:extLst>
      <p:ext uri="{BB962C8B-B14F-4D97-AF65-F5344CB8AC3E}">
        <p14:creationId xmlns:p14="http://schemas.microsoft.com/office/powerpoint/2010/main" val="1267192084"/>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1E700E01-4A15-4028-80D5-76E2B20E6CB7}"/>
              </a:ext>
            </a:extLst>
          </p:cNvPr>
          <p:cNvCxnSpPr>
            <a:stCxn xmlns:a="http://schemas.openxmlformats.org/drawingml/2006/main" id="11" idx="6"/>
            <a:endCxn xmlns:a="http://schemas.openxmlformats.org/drawingml/2006/main" id="17" idx="2"/>
          </p:cNvCxnSpPr>
          <p:nvPr/>
        </p:nvCxnSpPr>
        <p:spPr>
          <a:xfrm xmlns:a="http://schemas.openxmlformats.org/drawingml/2006/main">
            <a:off x="4105275" y="4362450"/>
            <a:ext cx="933450" cy="447675"/>
          </a:xfrm>
          <a:prstGeom xmlns:a="http://schemas.openxmlformats.org/drawingml/2006/main" prst="straightConnector1">
            <a:avLst/>
          </a:prstGeom>
          <a:ln xmlns:a="http://schemas.openxmlformats.org/drawingml/2006/main" w="15240">
            <a:solidFill>
              <a:srgbClr val="C5CCC7"/>
            </a:solidFill>
            <a:prstDash val="solid"/>
          </a:ln>
        </p:spPr>
      </p:cxnSp>
      <p:cxnSp>
        <p:nvCxnSpPr>
          <p:cNvPr id="25" name="">
            <a:extLst xmlns:a="http://schemas.openxmlformats.org/drawingml/2006/main">
              <a:ext uri="{FF2B5EF4-FFF2-40B4-BE49-F238E27FC236}">
                <a16:creationId xmlns:a16="http://schemas.microsoft.com/office/drawing/2014/main" id="{1DFA05BA-93C6-4C7E-9771-6EAC8F5B5CE6}"/>
              </a:ext>
            </a:extLst>
          </p:cNvPr>
          <p:cNvCxnSpPr>
            <a:stCxn xmlns:a="http://schemas.openxmlformats.org/drawingml/2006/main" id="9" idx="6"/>
            <a:endCxn xmlns:a="http://schemas.openxmlformats.org/drawingml/2006/main" id="15" idx="2"/>
          </p:cNvCxnSpPr>
          <p:nvPr/>
        </p:nvCxnSpPr>
        <p:spPr>
          <a:xfrm xmlns:a="http://schemas.openxmlformats.org/drawingml/2006/main" flipV="1">
            <a:off x="4105275" y="2238375"/>
            <a:ext cx="933450" cy="428625"/>
          </a:xfrm>
          <a:prstGeom xmlns:a="http://schemas.openxmlformats.org/drawingml/2006/main" prst="straightConnector1">
            <a:avLst/>
          </a:prstGeom>
          <a:ln xmlns:a="http://schemas.openxmlformats.org/drawingml/2006/main" w="15240">
            <a:solidFill>
              <a:srgbClr val="C5CCC7"/>
            </a:solidFill>
            <a:prstDash val="solid"/>
          </a:ln>
        </p:spPr>
      </p:cxnSp>
      <p:cxnSp>
        <p:nvCxnSpPr>
          <p:cNvPr id="24" name="">
            <a:extLst xmlns:a="http://schemas.openxmlformats.org/drawingml/2006/main">
              <a:ext uri="{FF2B5EF4-FFF2-40B4-BE49-F238E27FC236}">
                <a16:creationId xmlns:a16="http://schemas.microsoft.com/office/drawing/2014/main" id="{C49E3EA2-E6E2-4353-8A14-89CBED997BB8}"/>
              </a:ext>
            </a:extLst>
          </p:cNvPr>
          <p:cNvCxnSpPr>
            <a:stCxn xmlns:a="http://schemas.openxmlformats.org/drawingml/2006/main" id="11" idx="7"/>
            <a:endCxn xmlns:a="http://schemas.openxmlformats.org/drawingml/2006/main" id="13" idx="3"/>
          </p:cNvCxnSpPr>
          <p:nvPr/>
        </p:nvCxnSpPr>
        <p:spPr>
          <a:xfrm xmlns:a="http://schemas.openxmlformats.org/drawingml/2006/main" flipV="1">
            <a:off x="4046689" y="3627589"/>
            <a:ext cx="1050622" cy="593422"/>
          </a:xfrm>
          <a:prstGeom xmlns:a="http://schemas.openxmlformats.org/drawingml/2006/main" prst="straightConnector1">
            <a:avLst/>
          </a:prstGeom>
          <a:ln xmlns:a="http://schemas.openxmlformats.org/drawingml/2006/main" w="38100">
            <a:solidFill>
              <a:srgbClr val="087E83"/>
            </a:solidFill>
            <a:prstDash val="solid"/>
          </a:ln>
        </p:spPr>
      </p:cxnSp>
      <p:cxnSp>
        <p:nvCxnSpPr>
          <p:cNvPr id="23" name="">
            <a:extLst xmlns:a="http://schemas.openxmlformats.org/drawingml/2006/main">
              <a:ext uri="{FF2B5EF4-FFF2-40B4-BE49-F238E27FC236}">
                <a16:creationId xmlns:a16="http://schemas.microsoft.com/office/drawing/2014/main" id="{97470028-7B57-4A33-92C7-8B9FE000BEAC}"/>
              </a:ext>
            </a:extLst>
          </p:cNvPr>
          <p:cNvCxnSpPr>
            <a:stCxn xmlns:a="http://schemas.openxmlformats.org/drawingml/2006/main" id="9" idx="5"/>
            <a:endCxn xmlns:a="http://schemas.openxmlformats.org/drawingml/2006/main" id="13" idx="1"/>
          </p:cNvCxnSpPr>
          <p:nvPr/>
        </p:nvCxnSpPr>
        <p:spPr>
          <a:xfrm xmlns:a="http://schemas.openxmlformats.org/drawingml/2006/main">
            <a:off x="4046689" y="2808439"/>
            <a:ext cx="1050622" cy="536272"/>
          </a:xfrm>
          <a:prstGeom xmlns:a="http://schemas.openxmlformats.org/drawingml/2006/main" prst="straightConnector1">
            <a:avLst/>
          </a:prstGeom>
          <a:ln xmlns:a="http://schemas.openxmlformats.org/drawingml/2006/main" w="38100">
            <a:solidFill>
              <a:srgbClr val="087E83"/>
            </a:solidFill>
            <a:prstDash val="solid"/>
          </a:ln>
        </p:spPr>
      </p:cxnSp>
      <p:cxnSp>
        <p:nvCxnSpPr>
          <p:cNvPr id="22" name="">
            <a:extLst xmlns:a="http://schemas.openxmlformats.org/drawingml/2006/main">
              <a:ext uri="{FF2B5EF4-FFF2-40B4-BE49-F238E27FC236}">
                <a16:creationId xmlns:a16="http://schemas.microsoft.com/office/drawing/2014/main" id="{9D7E88E5-388D-48A6-9893-F7A2C0AFDF60}"/>
              </a:ext>
            </a:extLst>
          </p:cNvPr>
          <p:cNvCxnSpPr>
            <a:stCxn xmlns:a="http://schemas.openxmlformats.org/drawingml/2006/main" id="5" idx="5"/>
            <a:endCxn xmlns:a="http://schemas.openxmlformats.org/drawingml/2006/main" id="11" idx="1"/>
          </p:cNvCxnSpPr>
          <p:nvPr/>
        </p:nvCxnSpPr>
        <p:spPr>
          <a:xfrm xmlns:a="http://schemas.openxmlformats.org/drawingml/2006/main">
            <a:off x="2709343" y="3690418"/>
            <a:ext cx="1054468" cy="530593"/>
          </a:xfrm>
          <a:prstGeom xmlns:a="http://schemas.openxmlformats.org/drawingml/2006/main" prst="straightConnector1">
            <a:avLst/>
          </a:prstGeom>
          <a:ln xmlns:a="http://schemas.openxmlformats.org/drawingml/2006/main" w="15240">
            <a:solidFill>
              <a:srgbClr val="C5CCC7"/>
            </a:solidFill>
            <a:prstDash val="solid"/>
          </a:ln>
        </p:spPr>
      </p:cxnSp>
      <p:cxnSp>
        <p:nvCxnSpPr>
          <p:cNvPr id="21" name="">
            <a:extLst xmlns:a="http://schemas.openxmlformats.org/drawingml/2006/main">
              <a:ext uri="{FF2B5EF4-FFF2-40B4-BE49-F238E27FC236}">
                <a16:creationId xmlns:a16="http://schemas.microsoft.com/office/drawing/2014/main" id="{F9AD7BCA-0FCB-427E-80A0-BD63F87B38E8}"/>
              </a:ext>
            </a:extLst>
          </p:cNvPr>
          <p:cNvCxnSpPr>
            <a:stCxn xmlns:a="http://schemas.openxmlformats.org/drawingml/2006/main" id="5" idx="7"/>
            <a:endCxn xmlns:a="http://schemas.openxmlformats.org/drawingml/2006/main" id="9" idx="3"/>
          </p:cNvCxnSpPr>
          <p:nvPr/>
        </p:nvCxnSpPr>
        <p:spPr>
          <a:xfrm xmlns:a="http://schemas.openxmlformats.org/drawingml/2006/main" flipV="1">
            <a:off x="2709343" y="2808439"/>
            <a:ext cx="1054468" cy="511544"/>
          </a:xfrm>
          <a:prstGeom xmlns:a="http://schemas.openxmlformats.org/drawingml/2006/main" prst="straightConnector1">
            <a:avLst/>
          </a:prstGeom>
          <a:ln xmlns:a="http://schemas.openxmlformats.org/drawingml/2006/main" w="15240">
            <a:solidFill>
              <a:srgbClr val="C5CCC7"/>
            </a:solidFill>
            <a:prstDash val="solid"/>
          </a:ln>
        </p:spPr>
      </p:cxnSp>
      <p:cxnSp>
        <p:nvCxnSpPr>
          <p:cNvPr id="20" name="">
            <a:extLst xmlns:a="http://schemas.openxmlformats.org/drawingml/2006/main">
              <a:ext uri="{FF2B5EF4-FFF2-40B4-BE49-F238E27FC236}">
                <a16:creationId xmlns:a16="http://schemas.microsoft.com/office/drawing/2014/main" id="{521F07B0-AC12-49CD-9092-76675EB805C1}"/>
              </a:ext>
            </a:extLst>
          </p:cNvPr>
          <p:cNvCxnSpPr>
            <a:stCxn xmlns:a="http://schemas.openxmlformats.org/drawingml/2006/main" id="7" idx="7"/>
            <a:endCxn xmlns:a="http://schemas.openxmlformats.org/drawingml/2006/main" id="5" idx="3"/>
          </p:cNvCxnSpPr>
          <p:nvPr/>
        </p:nvCxnSpPr>
        <p:spPr>
          <a:xfrm xmlns:a="http://schemas.openxmlformats.org/drawingml/2006/main" flipV="1">
            <a:off x="1265389" y="3690418"/>
            <a:ext cx="1073519" cy="663943"/>
          </a:xfrm>
          <a:prstGeom xmlns:a="http://schemas.openxmlformats.org/drawingml/2006/main" prst="straightConnector1">
            <a:avLst/>
          </a:prstGeom>
          <a:ln xmlns:a="http://schemas.openxmlformats.org/drawingml/2006/main" w="15240">
            <a:solidFill>
              <a:srgbClr val="C5CCC7"/>
            </a:solidFill>
            <a:prstDash val="solid"/>
          </a:ln>
        </p:spPr>
      </p:cxnSp>
      <p:cxnSp>
        <p:nvCxnSpPr>
          <p:cNvPr id="19" name="">
            <a:extLst xmlns:a="http://schemas.openxmlformats.org/drawingml/2006/main">
              <a:ext uri="{FF2B5EF4-FFF2-40B4-BE49-F238E27FC236}">
                <a16:creationId xmlns:a16="http://schemas.microsoft.com/office/drawing/2014/main" id="{8E2CE84A-9831-4FA3-9B21-5C432C6E5F82}"/>
              </a:ext>
            </a:extLst>
          </p:cNvPr>
          <p:cNvCxnSpPr>
            <a:stCxn xmlns:a="http://schemas.openxmlformats.org/drawingml/2006/main" id="3" idx="5"/>
            <a:endCxn xmlns:a="http://schemas.openxmlformats.org/drawingml/2006/main" id="5" idx="1"/>
          </p:cNvCxnSpPr>
          <p:nvPr/>
        </p:nvCxnSpPr>
        <p:spPr>
          <a:xfrm xmlns:a="http://schemas.openxmlformats.org/drawingml/2006/main">
            <a:off x="1322539" y="2713189"/>
            <a:ext cx="1016369" cy="606794"/>
          </a:xfrm>
          <a:prstGeom xmlns:a="http://schemas.openxmlformats.org/drawingml/2006/main" prst="straightConnector1">
            <a:avLst/>
          </a:prstGeom>
          <a:ln xmlns:a="http://schemas.openxmlformats.org/drawingml/2006/main" w="15240">
            <a:solidFill>
              <a:srgbClr val="C5CCC7"/>
            </a:solidFill>
            <a:prstDash val="solid"/>
          </a:ln>
        </p:spPr>
      </p:cxnSp>
      <p:sp>
        <p:nvSpPr>
          <p:cNvPr id="36" name="">
            <a:extLst xmlns:a="http://schemas.openxmlformats.org/drawingml/2006/main">
              <a:ext uri="{FF2B5EF4-FFF2-40B4-BE49-F238E27FC236}">
                <a16:creationId xmlns:a16="http://schemas.microsoft.com/office/drawing/2014/main" id="{5C545705-F620-4FD5-9A9D-852412468158}"/>
              </a:ext>
            </a:extLst>
          </p:cNvPr>
          <p:cNvSpPr>
            <a:spLocks xmlns:a="http://schemas.openxmlformats.org/drawingml/2006/main" noGrp="1"/>
          </p:cNvSpPr>
          <p:nvPr/>
        </p:nvSpPr>
        <p:spPr>
          <a:xfrm xmlns:a="http://schemas.openxmlformats.org/drawingml/2006/main">
            <a:off x="533400" y="361950"/>
            <a:ext cx="11144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132A35"/>
                </a:solidFill>
                <a:latin typeface="DejaVu Sans"/>
                <a:ea typeface="DejaVu Sans"/>
                <a:cs typeface="DejaVu Sans"/>
              </a:defRPr>
            </a:defPPr>
            <a:lvl1pPr>
              <a:defRPr sz="3150" b="1">
                <a:solidFill>
                  <a:srgbClr val="132A35"/>
                </a:solidFill>
                <a:latin typeface="DejaVu Sans"/>
                <a:ea typeface="DejaVu Sans"/>
                <a:cs typeface="DejaVu Sans"/>
              </a:defRPr>
            </a:lvl1pPr>
            <a:lvl2pPr>
              <a:defRPr sz="3150" b="1">
                <a:solidFill>
                  <a:srgbClr val="132A35"/>
                </a:solidFill>
                <a:latin typeface="DejaVu Sans"/>
                <a:ea typeface="DejaVu Sans"/>
                <a:cs typeface="DejaVu Sans"/>
              </a:defRPr>
            </a:lvl2pPr>
            <a:lvl3pPr>
              <a:defRPr sz="3150" b="1">
                <a:solidFill>
                  <a:srgbClr val="132A35"/>
                </a:solidFill>
                <a:latin typeface="DejaVu Sans"/>
                <a:ea typeface="DejaVu Sans"/>
                <a:cs typeface="DejaVu Sans"/>
              </a:defRPr>
            </a:lvl3pPr>
            <a:lvl4pPr>
              <a:defRPr sz="3150" b="1">
                <a:solidFill>
                  <a:srgbClr val="132A35"/>
                </a:solidFill>
                <a:latin typeface="DejaVu Sans"/>
                <a:ea typeface="DejaVu Sans"/>
                <a:cs typeface="DejaVu Sans"/>
              </a:defRPr>
            </a:lvl4pPr>
            <a:lvl5pPr>
              <a:defRPr sz="3150" b="1">
                <a:solidFill>
                  <a:srgbClr val="132A35"/>
                </a:solidFill>
                <a:latin typeface="DejaVu Sans"/>
                <a:ea typeface="DejaVu Sans"/>
                <a:cs typeface="DejaVu Sans"/>
              </a:defRPr>
            </a:lvl5pPr>
            <a:lvl6pPr>
              <a:defRPr sz="3150" b="1">
                <a:solidFill>
                  <a:srgbClr val="132A35"/>
                </a:solidFill>
                <a:latin typeface="DejaVu Sans"/>
                <a:ea typeface="DejaVu Sans"/>
                <a:cs typeface="DejaVu Sans"/>
              </a:defRPr>
            </a:lvl6pPr>
            <a:lvl7pPr>
              <a:defRPr sz="3150" b="1">
                <a:solidFill>
                  <a:srgbClr val="132A35"/>
                </a:solidFill>
                <a:latin typeface="DejaVu Sans"/>
                <a:ea typeface="DejaVu Sans"/>
                <a:cs typeface="DejaVu Sans"/>
              </a:defRPr>
            </a:lvl7pPr>
            <a:lvl8pPr>
              <a:defRPr sz="3150" b="1">
                <a:solidFill>
                  <a:srgbClr val="132A35"/>
                </a:solidFill>
                <a:latin typeface="DejaVu Sans"/>
                <a:ea typeface="DejaVu Sans"/>
                <a:cs typeface="DejaVu Sans"/>
              </a:defRPr>
            </a:lvl8pPr>
            <a:lvl9pPr>
              <a:defRPr sz="3150" b="1">
                <a:solidFill>
                  <a:srgbClr val="132A35"/>
                </a:solidFill>
                <a:latin typeface="DejaVu Sans"/>
                <a:ea typeface="DejaVu Sans"/>
                <a:cs typeface="DejaVu Sans"/>
              </a:defRPr>
            </a:lvl9pPr>
          </a:lstStyle>
          <a:p xmlns:a="http://schemas.openxmlformats.org/drawingml/2006/main">
            <a:pPr>
              <a:defRPr sz="3150" b="1">
                <a:solidFill>
                  <a:srgbClr val="132A35"/>
                </a:solidFill>
                <a:latin typeface="DejaVu Sans"/>
                <a:ea typeface="DejaVu Sans"/>
                <a:cs typeface="DejaVu Sans"/>
              </a:defRPr>
            </a:pPr>
            <a:r>
              <a:rPr sz="3150" b="1">
                <a:solidFill>
                  <a:srgbClr val="132A35"/>
                </a:solidFill>
                <a:latin typeface="DejaVu Sans"/>
                <a:ea typeface="DejaVu Sans"/>
                <a:cs typeface="DejaVu Sans"/>
              </a:rPr>
              <a:t>GraphRAG for grounded answers</a:t>
            </a:r>
          </a:p>
        </p:txBody>
      </p:sp>
      <p:sp>
        <p:nvSpPr>
          <p:cNvPr id="2" name="">
            <a:extLst xmlns:a="http://schemas.openxmlformats.org/drawingml/2006/main">
              <a:ext uri="{FF2B5EF4-FFF2-40B4-BE49-F238E27FC236}">
                <a16:creationId xmlns:a16="http://schemas.microsoft.com/office/drawing/2014/main" id="{5B6AA35D-860C-48A4-A037-A9CCABB7EF0B}"/>
              </a:ext>
            </a:extLst>
          </p:cNvPr>
          <p:cNvSpPr>
            <a:spLocks xmlns:a="http://schemas.openxmlformats.org/drawingml/2006/main" noGrp="1"/>
          </p:cNvSpPr>
          <p:nvPr/>
        </p:nvSpPr>
        <p:spPr>
          <a:xfrm xmlns:a="http://schemas.openxmlformats.org/drawingml/2006/main">
            <a:off x="552450" y="1057275"/>
            <a:ext cx="1104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Retrieve a relevant subgraph and give the LLM connected evidence</a:t>
            </a:r>
          </a:p>
        </p:txBody>
      </p:sp>
      <p:sp>
        <p:nvSpPr>
          <p:cNvPr id="3" name="location">
            <a:extLst xmlns:a="http://schemas.openxmlformats.org/drawingml/2006/main">
              <a:ext uri="{FF2B5EF4-FFF2-40B4-BE49-F238E27FC236}">
                <a16:creationId xmlns:a16="http://schemas.microsoft.com/office/drawing/2014/main" id="{728C60FD-F354-4791-B243-C54F0618D0A8}"/>
              </a:ext>
            </a:extLst>
          </p:cNvPr>
          <p:cNvSpPr>
            <a:spLocks xmlns:a="http://schemas.openxmlformats.org/drawingml/2006/main" noGrp="1"/>
          </p:cNvSpPr>
          <p:nvPr/>
        </p:nvSpPr>
        <p:spPr>
          <a:xfrm xmlns:a="http://schemas.openxmlformats.org/drawingml/2006/main">
            <a:off x="981075" y="2371725"/>
            <a:ext cx="400050" cy="400050"/>
          </a:xfrm>
          <a:prstGeom xmlns:a="http://schemas.openxmlformats.org/drawingml/2006/main" prst="ellipse">
            <a:avLst/>
          </a:prstGeom>
          <a:solidFill xmlns:a="http://schemas.openxmlformats.org/drawingml/2006/main">
            <a:srgbClr val="A8D9EF"/>
          </a:solidFill>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A6F9CAE8-EEC1-4FE0-B39C-FBFD7EAD0E06}"/>
              </a:ext>
            </a:extLst>
          </p:cNvPr>
          <p:cNvSpPr>
            <a:spLocks xmlns:a="http://schemas.openxmlformats.org/drawingml/2006/main" noGrp="1"/>
          </p:cNvSpPr>
          <p:nvPr/>
        </p:nvSpPr>
        <p:spPr>
          <a:xfrm xmlns:a="http://schemas.openxmlformats.org/drawingml/2006/main">
            <a:off x="371475" y="2085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New York</a:t>
            </a:r>
          </a:p>
        </p:txBody>
      </p:sp>
      <p:sp>
        <p:nvSpPr>
          <p:cNvPr id="5" name="seller">
            <a:extLst xmlns:a="http://schemas.openxmlformats.org/drawingml/2006/main">
              <a:ext uri="{FF2B5EF4-FFF2-40B4-BE49-F238E27FC236}">
                <a16:creationId xmlns:a16="http://schemas.microsoft.com/office/drawing/2014/main" id="{23B94C36-8A55-4E2C-B3A9-1E11D3987B99}"/>
              </a:ext>
            </a:extLst>
          </p:cNvPr>
          <p:cNvSpPr>
            <a:spLocks xmlns:a="http://schemas.openxmlformats.org/drawingml/2006/main" noGrp="1"/>
          </p:cNvSpPr>
          <p:nvPr/>
        </p:nvSpPr>
        <p:spPr>
          <a:xfrm xmlns:a="http://schemas.openxmlformats.org/drawingml/2006/main">
            <a:off x="2262188" y="3243263"/>
            <a:ext cx="523875" cy="523875"/>
          </a:xfrm>
          <a:prstGeom xmlns:a="http://schemas.openxmlformats.org/drawingml/2006/main" prst="ellipse">
            <a:avLst/>
          </a:prstGeom>
          <a:solidFill xmlns:a="http://schemas.openxmlformats.org/drawingml/2006/main">
            <a:srgbClr val="1474A0"/>
          </a:solidFill>
          <a:ln xmlns:a="http://schemas.openxmlformats.org/drawingml/2006/main" w="19050">
            <a:solidFill>
              <a:srgbClr val="FFFFFF"/>
            </a:solidFill>
            <a:prstDash val="solid"/>
          </a:ln>
        </p:spPr>
      </p:sp>
      <p:sp>
        <p:nvSpPr>
          <p:cNvPr id="6" name="">
            <a:extLst xmlns:a="http://schemas.openxmlformats.org/drawingml/2006/main">
              <a:ext uri="{FF2B5EF4-FFF2-40B4-BE49-F238E27FC236}">
                <a16:creationId xmlns:a16="http://schemas.microsoft.com/office/drawing/2014/main" id="{1B328639-4F30-4A80-8E14-E95D446185BF}"/>
              </a:ext>
            </a:extLst>
          </p:cNvPr>
          <p:cNvSpPr>
            <a:spLocks xmlns:a="http://schemas.openxmlformats.org/drawingml/2006/main" noGrp="1"/>
          </p:cNvSpPr>
          <p:nvPr/>
        </p:nvSpPr>
        <p:spPr>
          <a:xfrm xmlns:a="http://schemas.openxmlformats.org/drawingml/2006/main">
            <a:off x="1714500" y="2957513"/>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Seller1</a:t>
            </a:r>
          </a:p>
        </p:txBody>
      </p:sp>
      <p:sp>
        <p:nvSpPr>
          <p:cNvPr id="7" name="rating">
            <a:extLst xmlns:a="http://schemas.openxmlformats.org/drawingml/2006/main">
              <a:ext uri="{FF2B5EF4-FFF2-40B4-BE49-F238E27FC236}">
                <a16:creationId xmlns:a16="http://schemas.microsoft.com/office/drawing/2014/main" id="{37937D51-4AEE-4C2C-BAD4-580CD2FA7112}"/>
              </a:ext>
            </a:extLst>
          </p:cNvPr>
          <p:cNvSpPr>
            <a:spLocks xmlns:a="http://schemas.openxmlformats.org/drawingml/2006/main" noGrp="1"/>
          </p:cNvSpPr>
          <p:nvPr/>
        </p:nvSpPr>
        <p:spPr>
          <a:xfrm xmlns:a="http://schemas.openxmlformats.org/drawingml/2006/main">
            <a:off x="923925" y="4295775"/>
            <a:ext cx="400050" cy="400050"/>
          </a:xfrm>
          <a:prstGeom xmlns:a="http://schemas.openxmlformats.org/drawingml/2006/main" prst="ellipse">
            <a:avLst/>
          </a:prstGeom>
          <a:solidFill xmlns:a="http://schemas.openxmlformats.org/drawingml/2006/main">
            <a:srgbClr val="4C5666"/>
          </a:solidFill>
          <a:ln xmlns:a="http://schemas.openxmlformats.org/drawingml/2006/main" w="19050">
            <a:solidFill>
              <a:srgbClr val="FFFFFF"/>
            </a:solidFill>
            <a:prstDash val="solid"/>
          </a:ln>
        </p:spPr>
      </p:sp>
      <p:sp>
        <p:nvSpPr>
          <p:cNvPr id="8" name="">
            <a:extLst xmlns:a="http://schemas.openxmlformats.org/drawingml/2006/main">
              <a:ext uri="{FF2B5EF4-FFF2-40B4-BE49-F238E27FC236}">
                <a16:creationId xmlns:a16="http://schemas.microsoft.com/office/drawing/2014/main" id="{5322BA24-1578-41F4-AE75-988F14E23616}"/>
              </a:ext>
            </a:extLst>
          </p:cNvPr>
          <p:cNvSpPr>
            <a:spLocks xmlns:a="http://schemas.openxmlformats.org/drawingml/2006/main" noGrp="1"/>
          </p:cNvSpPr>
          <p:nvPr/>
        </p:nvSpPr>
        <p:spPr>
          <a:xfrm xmlns:a="http://schemas.openxmlformats.org/drawingml/2006/main">
            <a:off x="314325" y="40100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1-star rating</a:t>
            </a:r>
          </a:p>
        </p:txBody>
      </p:sp>
      <p:sp>
        <p:nvSpPr>
          <p:cNvPr id="9" name="item1">
            <a:extLst xmlns:a="http://schemas.openxmlformats.org/drawingml/2006/main">
              <a:ext uri="{FF2B5EF4-FFF2-40B4-BE49-F238E27FC236}">
                <a16:creationId xmlns:a16="http://schemas.microsoft.com/office/drawing/2014/main" id="{A83E19D6-99B3-44CA-A52C-D175E53442D2}"/>
              </a:ext>
            </a:extLst>
          </p:cNvPr>
          <p:cNvSpPr>
            <a:spLocks xmlns:a="http://schemas.openxmlformats.org/drawingml/2006/main" noGrp="1"/>
          </p:cNvSpPr>
          <p:nvPr/>
        </p:nvSpPr>
        <p:spPr>
          <a:xfrm xmlns:a="http://schemas.openxmlformats.org/drawingml/2006/main">
            <a:off x="3705225" y="246697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0" name="">
            <a:extLst xmlns:a="http://schemas.openxmlformats.org/drawingml/2006/main">
              <a:ext uri="{FF2B5EF4-FFF2-40B4-BE49-F238E27FC236}">
                <a16:creationId xmlns:a16="http://schemas.microsoft.com/office/drawing/2014/main" id="{B2092D27-C714-4F3B-9E08-54E2DE3B3581}"/>
              </a:ext>
            </a:extLst>
          </p:cNvPr>
          <p:cNvSpPr>
            <a:spLocks xmlns:a="http://schemas.openxmlformats.org/drawingml/2006/main" noGrp="1"/>
          </p:cNvSpPr>
          <p:nvPr/>
        </p:nvSpPr>
        <p:spPr>
          <a:xfrm xmlns:a="http://schemas.openxmlformats.org/drawingml/2006/main">
            <a:off x="3095625" y="21812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Item1</a:t>
            </a:r>
          </a:p>
        </p:txBody>
      </p:sp>
      <p:sp>
        <p:nvSpPr>
          <p:cNvPr id="11" name="item2">
            <a:extLst xmlns:a="http://schemas.openxmlformats.org/drawingml/2006/main">
              <a:ext uri="{FF2B5EF4-FFF2-40B4-BE49-F238E27FC236}">
                <a16:creationId xmlns:a16="http://schemas.microsoft.com/office/drawing/2014/main" id="{29AC9210-775F-466F-BABB-66898517AF05}"/>
              </a:ext>
            </a:extLst>
          </p:cNvPr>
          <p:cNvSpPr>
            <a:spLocks xmlns:a="http://schemas.openxmlformats.org/drawingml/2006/main" noGrp="1"/>
          </p:cNvSpPr>
          <p:nvPr/>
        </p:nvSpPr>
        <p:spPr>
          <a:xfrm xmlns:a="http://schemas.openxmlformats.org/drawingml/2006/main">
            <a:off x="3705225" y="4162425"/>
            <a:ext cx="400050" cy="400050"/>
          </a:xfrm>
          <a:prstGeom xmlns:a="http://schemas.openxmlformats.org/drawingml/2006/main" prst="ellipse">
            <a:avLst/>
          </a:prstGeom>
          <a:solidFill xmlns:a="http://schemas.openxmlformats.org/drawingml/2006/main">
            <a:srgbClr val="EFBA7C"/>
          </a:solidFill>
          <a:ln xmlns:a="http://schemas.openxmlformats.org/drawingml/2006/main" w="19050">
            <a:solidFill>
              <a:srgbClr val="FFFFFF"/>
            </a:solidFill>
            <a:prstDash val="solid"/>
          </a:ln>
        </p:spPr>
      </p:sp>
      <p:sp>
        <p:nvSpPr>
          <p:cNvPr id="12" name="">
            <a:extLst xmlns:a="http://schemas.openxmlformats.org/drawingml/2006/main">
              <a:ext uri="{FF2B5EF4-FFF2-40B4-BE49-F238E27FC236}">
                <a16:creationId xmlns:a16="http://schemas.microsoft.com/office/drawing/2014/main" id="{9F49B78E-F5C8-4082-93FF-C3E1434570AA}"/>
              </a:ext>
            </a:extLst>
          </p:cNvPr>
          <p:cNvSpPr>
            <a:spLocks xmlns:a="http://schemas.openxmlformats.org/drawingml/2006/main" noGrp="1"/>
          </p:cNvSpPr>
          <p:nvPr/>
        </p:nvSpPr>
        <p:spPr>
          <a:xfrm xmlns:a="http://schemas.openxmlformats.org/drawingml/2006/main">
            <a:off x="3095625" y="38766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Item2</a:t>
            </a:r>
          </a:p>
        </p:txBody>
      </p:sp>
      <p:sp>
        <p:nvSpPr>
          <p:cNvPr id="13" name="category">
            <a:extLst xmlns:a="http://schemas.openxmlformats.org/drawingml/2006/main">
              <a:ext uri="{FF2B5EF4-FFF2-40B4-BE49-F238E27FC236}">
                <a16:creationId xmlns:a16="http://schemas.microsoft.com/office/drawing/2014/main" id="{BE19FD9D-CDBF-4173-8338-9095EEB034EC}"/>
              </a:ext>
            </a:extLst>
          </p:cNvPr>
          <p:cNvSpPr>
            <a:spLocks xmlns:a="http://schemas.openxmlformats.org/drawingml/2006/main" noGrp="1"/>
          </p:cNvSpPr>
          <p:nvPr/>
        </p:nvSpPr>
        <p:spPr>
          <a:xfrm xmlns:a="http://schemas.openxmlformats.org/drawingml/2006/main">
            <a:off x="5038725" y="3286125"/>
            <a:ext cx="400050" cy="400050"/>
          </a:xfrm>
          <a:prstGeom xmlns:a="http://schemas.openxmlformats.org/drawingml/2006/main" prst="ellipse">
            <a:avLst/>
          </a:prstGeom>
          <a:solidFill xmlns:a="http://schemas.openxmlformats.org/drawingml/2006/main">
            <a:srgbClr val="966CC0"/>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E26DE092-FE5D-4AB4-813F-B50CDB5E419E}"/>
              </a:ext>
            </a:extLst>
          </p:cNvPr>
          <p:cNvSpPr>
            <a:spLocks xmlns:a="http://schemas.openxmlformats.org/drawingml/2006/main" noGrp="1"/>
          </p:cNvSpPr>
          <p:nvPr/>
        </p:nvSpPr>
        <p:spPr>
          <a:xfrm xmlns:a="http://schemas.openxmlformats.org/drawingml/2006/main">
            <a:off x="4429125" y="3000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Holster</a:t>
            </a:r>
          </a:p>
        </p:txBody>
      </p:sp>
      <p:sp>
        <p:nvSpPr>
          <p:cNvPr id="15" name="attribute-out">
            <a:extLst xmlns:a="http://schemas.openxmlformats.org/drawingml/2006/main">
              <a:ext uri="{FF2B5EF4-FFF2-40B4-BE49-F238E27FC236}">
                <a16:creationId xmlns:a16="http://schemas.microsoft.com/office/drawing/2014/main" id="{C03C3FAC-1AD9-4769-93F6-875AD120F841}"/>
              </a:ext>
            </a:extLst>
          </p:cNvPr>
          <p:cNvSpPr>
            <a:spLocks xmlns:a="http://schemas.openxmlformats.org/drawingml/2006/main" noGrp="1"/>
          </p:cNvSpPr>
          <p:nvPr/>
        </p:nvSpPr>
        <p:spPr>
          <a:xfrm xmlns:a="http://schemas.openxmlformats.org/drawingml/2006/main">
            <a:off x="5038725" y="203835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6" name="">
            <a:extLst xmlns:a="http://schemas.openxmlformats.org/drawingml/2006/main">
              <a:ext uri="{FF2B5EF4-FFF2-40B4-BE49-F238E27FC236}">
                <a16:creationId xmlns:a16="http://schemas.microsoft.com/office/drawing/2014/main" id="{755A6454-D495-4132-B452-33F47A90EA8E}"/>
              </a:ext>
            </a:extLst>
          </p:cNvPr>
          <p:cNvSpPr>
            <a:spLocks xmlns:a="http://schemas.openxmlformats.org/drawingml/2006/main" noGrp="1"/>
          </p:cNvSpPr>
          <p:nvPr/>
        </p:nvSpPr>
        <p:spPr>
          <a:xfrm xmlns:a="http://schemas.openxmlformats.org/drawingml/2006/main">
            <a:off x="4429125" y="17526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Outside</a:t>
            </a:r>
          </a:p>
        </p:txBody>
      </p:sp>
      <p:sp>
        <p:nvSpPr>
          <p:cNvPr id="17" name="attribute-in">
            <a:extLst xmlns:a="http://schemas.openxmlformats.org/drawingml/2006/main">
              <a:ext uri="{FF2B5EF4-FFF2-40B4-BE49-F238E27FC236}">
                <a16:creationId xmlns:a16="http://schemas.microsoft.com/office/drawing/2014/main" id="{280984A3-BAFF-44D1-BFC9-DDEE6768FC74}"/>
              </a:ext>
            </a:extLst>
          </p:cNvPr>
          <p:cNvSpPr>
            <a:spLocks xmlns:a="http://schemas.openxmlformats.org/drawingml/2006/main" noGrp="1"/>
          </p:cNvSpPr>
          <p:nvPr/>
        </p:nvSpPr>
        <p:spPr>
          <a:xfrm xmlns:a="http://schemas.openxmlformats.org/drawingml/2006/main">
            <a:off x="5038725" y="4610100"/>
            <a:ext cx="400050" cy="400050"/>
          </a:xfrm>
          <a:prstGeom xmlns:a="http://schemas.openxmlformats.org/drawingml/2006/main" prst="ellipse">
            <a:avLst/>
          </a:prstGeom>
          <a:solidFill xmlns:a="http://schemas.openxmlformats.org/drawingml/2006/main">
            <a:srgbClr val="D8DAB8"/>
          </a:solidFill>
          <a:ln xmlns:a="http://schemas.openxmlformats.org/drawingml/2006/main" w="19050">
            <a:solidFill>
              <a:srgbClr val="FFFFFF"/>
            </a:solidFill>
            <a:prstDash val="solid"/>
          </a:ln>
        </p:spPr>
      </p:sp>
      <p:sp>
        <p:nvSpPr>
          <p:cNvPr id="18" name="">
            <a:extLst xmlns:a="http://schemas.openxmlformats.org/drawingml/2006/main">
              <a:ext uri="{FF2B5EF4-FFF2-40B4-BE49-F238E27FC236}">
                <a16:creationId xmlns:a16="http://schemas.microsoft.com/office/drawing/2014/main" id="{9767D2BF-2C12-4916-9A68-876E7AB88D40}"/>
              </a:ext>
            </a:extLst>
          </p:cNvPr>
          <p:cNvSpPr>
            <a:spLocks xmlns:a="http://schemas.openxmlformats.org/drawingml/2006/main" noGrp="1"/>
          </p:cNvSpPr>
          <p:nvPr/>
        </p:nvSpPr>
        <p:spPr>
          <a:xfrm xmlns:a="http://schemas.openxmlformats.org/drawingml/2006/main">
            <a:off x="4429125" y="4324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b="1">
                <a:solidFill>
                  <a:srgbClr val="132A35"/>
                </a:solidFill>
                <a:latin typeface="DejaVu Sans"/>
                <a:ea typeface="DejaVu Sans"/>
                <a:cs typeface="DejaVu Sans"/>
              </a:defRPr>
            </a:defPPr>
            <a:lvl1pPr algn="ctr">
              <a:defRPr sz="1350" b="1">
                <a:solidFill>
                  <a:srgbClr val="132A35"/>
                </a:solidFill>
                <a:latin typeface="DejaVu Sans"/>
                <a:ea typeface="DejaVu Sans"/>
                <a:cs typeface="DejaVu Sans"/>
              </a:defRPr>
            </a:lvl1pPr>
            <a:lvl2pPr algn="ctr">
              <a:defRPr sz="1350" b="1">
                <a:solidFill>
                  <a:srgbClr val="132A35"/>
                </a:solidFill>
                <a:latin typeface="DejaVu Sans"/>
                <a:ea typeface="DejaVu Sans"/>
                <a:cs typeface="DejaVu Sans"/>
              </a:defRPr>
            </a:lvl2pPr>
            <a:lvl3pPr algn="ctr">
              <a:defRPr sz="1350" b="1">
                <a:solidFill>
                  <a:srgbClr val="132A35"/>
                </a:solidFill>
                <a:latin typeface="DejaVu Sans"/>
                <a:ea typeface="DejaVu Sans"/>
                <a:cs typeface="DejaVu Sans"/>
              </a:defRPr>
            </a:lvl3pPr>
            <a:lvl4pPr algn="ctr">
              <a:defRPr sz="1350" b="1">
                <a:solidFill>
                  <a:srgbClr val="132A35"/>
                </a:solidFill>
                <a:latin typeface="DejaVu Sans"/>
                <a:ea typeface="DejaVu Sans"/>
                <a:cs typeface="DejaVu Sans"/>
              </a:defRPr>
            </a:lvl4pPr>
            <a:lvl5pPr algn="ctr">
              <a:defRPr sz="1350" b="1">
                <a:solidFill>
                  <a:srgbClr val="132A35"/>
                </a:solidFill>
                <a:latin typeface="DejaVu Sans"/>
                <a:ea typeface="DejaVu Sans"/>
                <a:cs typeface="DejaVu Sans"/>
              </a:defRPr>
            </a:lvl5pPr>
            <a:lvl6pPr algn="ctr">
              <a:defRPr sz="1350" b="1">
                <a:solidFill>
                  <a:srgbClr val="132A35"/>
                </a:solidFill>
                <a:latin typeface="DejaVu Sans"/>
                <a:ea typeface="DejaVu Sans"/>
                <a:cs typeface="DejaVu Sans"/>
              </a:defRPr>
            </a:lvl6pPr>
            <a:lvl7pPr algn="ctr">
              <a:defRPr sz="1350" b="1">
                <a:solidFill>
                  <a:srgbClr val="132A35"/>
                </a:solidFill>
                <a:latin typeface="DejaVu Sans"/>
                <a:ea typeface="DejaVu Sans"/>
                <a:cs typeface="DejaVu Sans"/>
              </a:defRPr>
            </a:lvl7pPr>
            <a:lvl8pPr algn="ctr">
              <a:defRPr sz="1350" b="1">
                <a:solidFill>
                  <a:srgbClr val="132A35"/>
                </a:solidFill>
                <a:latin typeface="DejaVu Sans"/>
                <a:ea typeface="DejaVu Sans"/>
                <a:cs typeface="DejaVu Sans"/>
              </a:defRPr>
            </a:lvl8pPr>
            <a:lvl9pPr algn="ctr">
              <a:defRPr sz="1350" b="1">
                <a:solidFill>
                  <a:srgbClr val="132A35"/>
                </a:solidFill>
                <a:latin typeface="DejaVu Sans"/>
                <a:ea typeface="DejaVu Sans"/>
                <a:cs typeface="DejaVu Sans"/>
              </a:defRPr>
            </a:lvl9pPr>
          </a:lstStyle>
          <a:p xmlns:a="http://schemas.openxmlformats.org/drawingml/2006/main">
            <a:pPr algn="ctr">
              <a:defRPr sz="1350" b="1">
                <a:solidFill>
                  <a:srgbClr val="132A35"/>
                </a:solidFill>
                <a:latin typeface="DejaVu Sans"/>
                <a:ea typeface="DejaVu Sans"/>
                <a:cs typeface="DejaVu Sans"/>
              </a:defRPr>
            </a:pPr>
            <a:r>
              <a:rPr sz="1350" b="1">
                <a:solidFill>
                  <a:srgbClr val="132A35"/>
                </a:solidFill>
                <a:latin typeface="DejaVu Sans"/>
                <a:ea typeface="DejaVu Sans"/>
                <a:cs typeface="DejaVu Sans"/>
              </a:rPr>
              <a:t>Inside</a:t>
            </a:r>
          </a:p>
        </p:txBody>
      </p:sp>
      <p:sp>
        <p:nvSpPr>
          <p:cNvPr id="27" name="">
            <a:extLst xmlns:a="http://schemas.openxmlformats.org/drawingml/2006/main">
              <a:ext uri="{FF2B5EF4-FFF2-40B4-BE49-F238E27FC236}">
                <a16:creationId xmlns:a16="http://schemas.microsoft.com/office/drawing/2014/main" id="{75BB5C1D-8EDA-431D-846A-73CA639E7EC0}"/>
              </a:ext>
            </a:extLst>
          </p:cNvPr>
          <p:cNvSpPr>
            <a:spLocks xmlns:a="http://schemas.openxmlformats.org/drawingml/2006/main" noGrp="1"/>
          </p:cNvSpPr>
          <p:nvPr/>
        </p:nvSpPr>
        <p:spPr>
          <a:xfrm xmlns:a="http://schemas.openxmlformats.org/drawingml/2006/main">
            <a:off x="609600" y="5391150"/>
            <a:ext cx="5238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0">
                <a:solidFill>
                  <a:srgbClr val="087E83"/>
                </a:solidFill>
                <a:latin typeface="DejaVu Sans"/>
                <a:ea typeface="DejaVu Sans"/>
                <a:cs typeface="DejaVu Sans"/>
              </a:defRPr>
            </a:defPPr>
            <a:lvl1pPr>
              <a:defRPr sz="1425" b="0">
                <a:solidFill>
                  <a:srgbClr val="087E83"/>
                </a:solidFill>
                <a:latin typeface="DejaVu Sans"/>
                <a:ea typeface="DejaVu Sans"/>
                <a:cs typeface="DejaVu Sans"/>
              </a:defRPr>
            </a:lvl1pPr>
            <a:lvl2pPr>
              <a:defRPr sz="1425" b="0">
                <a:solidFill>
                  <a:srgbClr val="087E83"/>
                </a:solidFill>
                <a:latin typeface="DejaVu Sans"/>
                <a:ea typeface="DejaVu Sans"/>
                <a:cs typeface="DejaVu Sans"/>
              </a:defRPr>
            </a:lvl2pPr>
            <a:lvl3pPr>
              <a:defRPr sz="1425" b="0">
                <a:solidFill>
                  <a:srgbClr val="087E83"/>
                </a:solidFill>
                <a:latin typeface="DejaVu Sans"/>
                <a:ea typeface="DejaVu Sans"/>
                <a:cs typeface="DejaVu Sans"/>
              </a:defRPr>
            </a:lvl3pPr>
            <a:lvl4pPr>
              <a:defRPr sz="1425" b="0">
                <a:solidFill>
                  <a:srgbClr val="087E83"/>
                </a:solidFill>
                <a:latin typeface="DejaVu Sans"/>
                <a:ea typeface="DejaVu Sans"/>
                <a:cs typeface="DejaVu Sans"/>
              </a:defRPr>
            </a:lvl4pPr>
            <a:lvl5pPr>
              <a:defRPr sz="1425" b="0">
                <a:solidFill>
                  <a:srgbClr val="087E83"/>
                </a:solidFill>
                <a:latin typeface="DejaVu Sans"/>
                <a:ea typeface="DejaVu Sans"/>
                <a:cs typeface="DejaVu Sans"/>
              </a:defRPr>
            </a:lvl5pPr>
            <a:lvl6pPr>
              <a:defRPr sz="1425" b="0">
                <a:solidFill>
                  <a:srgbClr val="087E83"/>
                </a:solidFill>
                <a:latin typeface="DejaVu Sans"/>
                <a:ea typeface="DejaVu Sans"/>
                <a:cs typeface="DejaVu Sans"/>
              </a:defRPr>
            </a:lvl6pPr>
            <a:lvl7pPr>
              <a:defRPr sz="1425" b="0">
                <a:solidFill>
                  <a:srgbClr val="087E83"/>
                </a:solidFill>
                <a:latin typeface="DejaVu Sans"/>
                <a:ea typeface="DejaVu Sans"/>
                <a:cs typeface="DejaVu Sans"/>
              </a:defRPr>
            </a:lvl7pPr>
            <a:lvl8pPr>
              <a:defRPr sz="1425" b="0">
                <a:solidFill>
                  <a:srgbClr val="087E83"/>
                </a:solidFill>
                <a:latin typeface="DejaVu Sans"/>
                <a:ea typeface="DejaVu Sans"/>
                <a:cs typeface="DejaVu Sans"/>
              </a:defRPr>
            </a:lvl8pPr>
            <a:lvl9pPr>
              <a:defRPr sz="1425" b="0">
                <a:solidFill>
                  <a:srgbClr val="087E83"/>
                </a:solidFill>
                <a:latin typeface="DejaVu Sans"/>
                <a:ea typeface="DejaVu Sans"/>
                <a:cs typeface="DejaVu Sans"/>
              </a:defRPr>
            </a:lvl9pPr>
          </a:lstStyle>
          <a:p xmlns:a="http://schemas.openxmlformats.org/drawingml/2006/main">
            <a:pPr>
              <a:defRPr sz="1425" b="0">
                <a:solidFill>
                  <a:srgbClr val="087E83"/>
                </a:solidFill>
                <a:latin typeface="DejaVu Sans"/>
                <a:ea typeface="DejaVu Sans"/>
                <a:cs typeface="DejaVu Sans"/>
              </a:defRPr>
            </a:pPr>
            <a:r>
              <a:rPr sz="1425" b="0">
                <a:solidFill>
                  <a:srgbClr val="087E83"/>
                </a:solidFill>
                <a:latin typeface="DejaVu Sans"/>
                <a:ea typeface="DejaVu Sans"/>
                <a:cs typeface="DejaVu Sans"/>
              </a:rPr>
              <a:t>Highlighted: shared-category path between Item1 and Item2</a:t>
            </a:r>
          </a:p>
        </p:txBody>
      </p:sp>
      <p:sp>
        <p:nvSpPr>
          <p:cNvPr id="28" name="">
            <a:extLst xmlns:a="http://schemas.openxmlformats.org/drawingml/2006/main">
              <a:ext uri="{FF2B5EF4-FFF2-40B4-BE49-F238E27FC236}">
                <a16:creationId xmlns:a16="http://schemas.microsoft.com/office/drawing/2014/main" id="{7BD49AEC-6570-48CA-A7B0-32F54CD9F5D6}"/>
              </a:ext>
            </a:extLst>
          </p:cNvPr>
          <p:cNvSpPr>
            <a:spLocks xmlns:a="http://schemas.openxmlformats.org/drawingml/2006/main" noGrp="1"/>
          </p:cNvSpPr>
          <p:nvPr/>
        </p:nvSpPr>
        <p:spPr>
          <a:xfrm xmlns:a="http://schemas.openxmlformats.org/drawingml/2006/main">
            <a:off x="609600" y="180975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32A35"/>
                </a:solidFill>
                <a:latin typeface="DejaVu Sans"/>
                <a:ea typeface="DejaVu Sans"/>
                <a:cs typeface="DejaVu Sans"/>
              </a:defRPr>
            </a:defPPr>
            <a:lvl1pPr>
              <a:defRPr sz="1950" b="1">
                <a:solidFill>
                  <a:srgbClr val="132A35"/>
                </a:solidFill>
                <a:latin typeface="DejaVu Sans"/>
                <a:ea typeface="DejaVu Sans"/>
                <a:cs typeface="DejaVu Sans"/>
              </a:defRPr>
            </a:lvl1pPr>
            <a:lvl2pPr>
              <a:defRPr sz="1950" b="1">
                <a:solidFill>
                  <a:srgbClr val="132A35"/>
                </a:solidFill>
                <a:latin typeface="DejaVu Sans"/>
                <a:ea typeface="DejaVu Sans"/>
                <a:cs typeface="DejaVu Sans"/>
              </a:defRPr>
            </a:lvl2pPr>
            <a:lvl3pPr>
              <a:defRPr sz="1950" b="1">
                <a:solidFill>
                  <a:srgbClr val="132A35"/>
                </a:solidFill>
                <a:latin typeface="DejaVu Sans"/>
                <a:ea typeface="DejaVu Sans"/>
                <a:cs typeface="DejaVu Sans"/>
              </a:defRPr>
            </a:lvl3pPr>
            <a:lvl4pPr>
              <a:defRPr sz="1950" b="1">
                <a:solidFill>
                  <a:srgbClr val="132A35"/>
                </a:solidFill>
                <a:latin typeface="DejaVu Sans"/>
                <a:ea typeface="DejaVu Sans"/>
                <a:cs typeface="DejaVu Sans"/>
              </a:defRPr>
            </a:lvl4pPr>
            <a:lvl5pPr>
              <a:defRPr sz="1950" b="1">
                <a:solidFill>
                  <a:srgbClr val="132A35"/>
                </a:solidFill>
                <a:latin typeface="DejaVu Sans"/>
                <a:ea typeface="DejaVu Sans"/>
                <a:cs typeface="DejaVu Sans"/>
              </a:defRPr>
            </a:lvl5pPr>
            <a:lvl6pPr>
              <a:defRPr sz="1950" b="1">
                <a:solidFill>
                  <a:srgbClr val="132A35"/>
                </a:solidFill>
                <a:latin typeface="DejaVu Sans"/>
                <a:ea typeface="DejaVu Sans"/>
                <a:cs typeface="DejaVu Sans"/>
              </a:defRPr>
            </a:lvl6pPr>
            <a:lvl7pPr>
              <a:defRPr sz="1950" b="1">
                <a:solidFill>
                  <a:srgbClr val="132A35"/>
                </a:solidFill>
                <a:latin typeface="DejaVu Sans"/>
                <a:ea typeface="DejaVu Sans"/>
                <a:cs typeface="DejaVu Sans"/>
              </a:defRPr>
            </a:lvl7pPr>
            <a:lvl8pPr>
              <a:defRPr sz="1950" b="1">
                <a:solidFill>
                  <a:srgbClr val="132A35"/>
                </a:solidFill>
                <a:latin typeface="DejaVu Sans"/>
                <a:ea typeface="DejaVu Sans"/>
                <a:cs typeface="DejaVu Sans"/>
              </a:defRPr>
            </a:lvl8pPr>
            <a:lvl9pPr>
              <a:defRPr sz="1950" b="1">
                <a:solidFill>
                  <a:srgbClr val="132A35"/>
                </a:solidFill>
                <a:latin typeface="DejaVu Sans"/>
                <a:ea typeface="DejaVu Sans"/>
                <a:cs typeface="DejaVu Sans"/>
              </a:defRPr>
            </a:lvl9pPr>
          </a:lstStyle>
          <a:p xmlns:a="http://schemas.openxmlformats.org/drawingml/2006/main">
            <a:pPr>
              <a:defRPr sz="1950" b="1">
                <a:solidFill>
                  <a:srgbClr val="132A35"/>
                </a:solidFill>
                <a:latin typeface="DejaVu Sans"/>
                <a:ea typeface="DejaVu Sans"/>
                <a:cs typeface="DejaVu Sans"/>
              </a:defRPr>
            </a:pPr>
            <a:r>
              <a:rPr sz="1950" b="1">
                <a:solidFill>
                  <a:srgbClr val="132A35"/>
                </a:solidFill>
                <a:latin typeface="DejaVu Sans"/>
                <a:ea typeface="DejaVu Sans"/>
                <a:cs typeface="DejaVu Sans"/>
              </a:rPr>
              <a:t>Shared seller–item graph</a:t>
            </a:r>
          </a:p>
        </p:txBody>
      </p:sp>
      <p:sp>
        <p:nvSpPr>
          <p:cNvPr id="29" name="">
            <a:extLst xmlns:a="http://schemas.openxmlformats.org/drawingml/2006/main">
              <a:ext uri="{FF2B5EF4-FFF2-40B4-BE49-F238E27FC236}">
                <a16:creationId xmlns:a16="http://schemas.microsoft.com/office/drawing/2014/main" id="{FEC4BF06-42A5-4EB7-8684-C75A7195088F}"/>
              </a:ext>
            </a:extLst>
          </p:cNvPr>
          <p:cNvSpPr>
            <a:spLocks xmlns:a="http://schemas.openxmlformats.org/drawingml/2006/main" noGrp="1"/>
          </p:cNvSpPr>
          <p:nvPr/>
        </p:nvSpPr>
        <p:spPr>
          <a:xfrm xmlns:a="http://schemas.openxmlformats.org/drawingml/2006/main">
            <a:off x="6276975" y="187642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1. Resolve the question to entities</a:t>
            </a:r>
          </a:p>
        </p:txBody>
      </p:sp>
      <p:sp>
        <p:nvSpPr>
          <p:cNvPr id="30" name="">
            <a:extLst xmlns:a="http://schemas.openxmlformats.org/drawingml/2006/main">
              <a:ext uri="{FF2B5EF4-FFF2-40B4-BE49-F238E27FC236}">
                <a16:creationId xmlns:a16="http://schemas.microsoft.com/office/drawing/2014/main" id="{EAB31260-9EAF-4D38-BFC4-15B0CF928F89}"/>
              </a:ext>
            </a:extLst>
          </p:cNvPr>
          <p:cNvSpPr>
            <a:spLocks xmlns:a="http://schemas.openxmlformats.org/drawingml/2006/main" noGrp="1"/>
          </p:cNvSpPr>
          <p:nvPr/>
        </p:nvSpPr>
        <p:spPr>
          <a:xfrm xmlns:a="http://schemas.openxmlformats.org/drawingml/2006/main">
            <a:off x="6276975" y="228600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“How are Item1 and Item2 related?”</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Resolve item names and the required relationships.</a:t>
            </a:r>
          </a:p>
        </p:txBody>
      </p:sp>
      <p:sp>
        <p:nvSpPr>
          <p:cNvPr id="31" name="">
            <a:extLst xmlns:a="http://schemas.openxmlformats.org/drawingml/2006/main">
              <a:ext uri="{FF2B5EF4-FFF2-40B4-BE49-F238E27FC236}">
                <a16:creationId xmlns:a16="http://schemas.microsoft.com/office/drawing/2014/main" id="{53DD98E0-A9BD-4DE0-AB0E-BB2325DDE9CF}"/>
              </a:ext>
            </a:extLst>
          </p:cNvPr>
          <p:cNvSpPr>
            <a:spLocks xmlns:a="http://schemas.openxmlformats.org/drawingml/2006/main" noGrp="1"/>
          </p:cNvSpPr>
          <p:nvPr/>
        </p:nvSpPr>
        <p:spPr>
          <a:xfrm xmlns:a="http://schemas.openxmlformats.org/drawingml/2006/main">
            <a:off x="6276975" y="3314700"/>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2. Retrieve an evidence subgraph</a:t>
            </a:r>
          </a:p>
        </p:txBody>
      </p:sp>
      <p:sp>
        <p:nvSpPr>
          <p:cNvPr id="32" name="">
            <a:extLst xmlns:a="http://schemas.openxmlformats.org/drawingml/2006/main">
              <a:ext uri="{FF2B5EF4-FFF2-40B4-BE49-F238E27FC236}">
                <a16:creationId xmlns:a16="http://schemas.microsoft.com/office/drawing/2014/main" id="{AA329969-E01B-4E57-AD75-C107DFDE1AFB}"/>
              </a:ext>
            </a:extLst>
          </p:cNvPr>
          <p:cNvSpPr>
            <a:spLocks xmlns:a="http://schemas.openxmlformats.org/drawingml/2006/main" noGrp="1"/>
          </p:cNvSpPr>
          <p:nvPr/>
        </p:nvSpPr>
        <p:spPr>
          <a:xfrm xmlns:a="http://schemas.openxmlformats.org/drawingml/2006/main">
            <a:off x="6276975" y="3724275"/>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Collect the shared seller and category paths.</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Keep differing attributes and source provenance.</a:t>
            </a:r>
          </a:p>
        </p:txBody>
      </p:sp>
      <p:sp>
        <p:nvSpPr>
          <p:cNvPr id="33" name="">
            <a:extLst xmlns:a="http://schemas.openxmlformats.org/drawingml/2006/main">
              <a:ext uri="{FF2B5EF4-FFF2-40B4-BE49-F238E27FC236}">
                <a16:creationId xmlns:a16="http://schemas.microsoft.com/office/drawing/2014/main" id="{3E61617B-0660-415D-B2F6-1DC384DF9132}"/>
              </a:ext>
            </a:extLst>
          </p:cNvPr>
          <p:cNvSpPr>
            <a:spLocks xmlns:a="http://schemas.openxmlformats.org/drawingml/2006/main" noGrp="1"/>
          </p:cNvSpPr>
          <p:nvPr/>
        </p:nvSpPr>
        <p:spPr>
          <a:xfrm xmlns:a="http://schemas.openxmlformats.org/drawingml/2006/main">
            <a:off x="6276975" y="4752975"/>
            <a:ext cx="5381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3. Explain with evidence</a:t>
            </a:r>
          </a:p>
        </p:txBody>
      </p:sp>
      <p:sp>
        <p:nvSpPr>
          <p:cNvPr id="34" name="">
            <a:extLst xmlns:a="http://schemas.openxmlformats.org/drawingml/2006/main">
              <a:ext uri="{FF2B5EF4-FFF2-40B4-BE49-F238E27FC236}">
                <a16:creationId xmlns:a16="http://schemas.microsoft.com/office/drawing/2014/main" id="{EEE4CC27-5C8C-4A7D-8830-EBD687FA9767}"/>
              </a:ext>
            </a:extLst>
          </p:cNvPr>
          <p:cNvSpPr>
            <a:spLocks xmlns:a="http://schemas.openxmlformats.org/drawingml/2006/main" noGrp="1"/>
          </p:cNvSpPr>
          <p:nvPr/>
        </p:nvSpPr>
        <p:spPr>
          <a:xfrm xmlns:a="http://schemas.openxmlformats.org/drawingml/2006/main">
            <a:off x="6276975" y="5162550"/>
            <a:ext cx="5381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Explain the shared links and the Inside / Outside difference.</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Cite retrieved facts and preserve uncertainty.</a:t>
            </a:r>
          </a:p>
        </p:txBody>
      </p:sp>
      <p:sp>
        <p:nvSpPr>
          <p:cNvPr id="35" name="">
            <a:extLst xmlns:a="http://schemas.openxmlformats.org/drawingml/2006/main">
              <a:ext uri="{FF2B5EF4-FFF2-40B4-BE49-F238E27FC236}">
                <a16:creationId xmlns:a16="http://schemas.microsoft.com/office/drawing/2014/main" id="{E6BA91D0-FA21-4860-8FCD-57DBD6581835}"/>
              </a:ext>
            </a:extLst>
          </p:cNvPr>
          <p:cNvSpPr>
            <a:spLocks xmlns:a="http://schemas.openxmlformats.org/drawingml/2006/main" noGrp="1"/>
          </p:cNvSpPr>
          <p:nvPr/>
        </p:nvSpPr>
        <p:spPr>
          <a:xfrm xmlns:a="http://schemas.openxmlformats.org/drawingml/2006/main">
            <a:off x="552450" y="6276975"/>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087E83"/>
                </a:solidFill>
                <a:latin typeface="DejaVu Sans"/>
                <a:ea typeface="DejaVu Sans"/>
                <a:cs typeface="DejaVu Sans"/>
              </a:defRPr>
            </a:defPPr>
            <a:lvl1pPr>
              <a:defRPr sz="1650" b="1">
                <a:solidFill>
                  <a:srgbClr val="087E83"/>
                </a:solidFill>
                <a:latin typeface="DejaVu Sans"/>
                <a:ea typeface="DejaVu Sans"/>
                <a:cs typeface="DejaVu Sans"/>
              </a:defRPr>
            </a:lvl1pPr>
            <a:lvl2pPr>
              <a:defRPr sz="1650" b="1">
                <a:solidFill>
                  <a:srgbClr val="087E83"/>
                </a:solidFill>
                <a:latin typeface="DejaVu Sans"/>
                <a:ea typeface="DejaVu Sans"/>
                <a:cs typeface="DejaVu Sans"/>
              </a:defRPr>
            </a:lvl2pPr>
            <a:lvl3pPr>
              <a:defRPr sz="1650" b="1">
                <a:solidFill>
                  <a:srgbClr val="087E83"/>
                </a:solidFill>
                <a:latin typeface="DejaVu Sans"/>
                <a:ea typeface="DejaVu Sans"/>
                <a:cs typeface="DejaVu Sans"/>
              </a:defRPr>
            </a:lvl3pPr>
            <a:lvl4pPr>
              <a:defRPr sz="1650" b="1">
                <a:solidFill>
                  <a:srgbClr val="087E83"/>
                </a:solidFill>
                <a:latin typeface="DejaVu Sans"/>
                <a:ea typeface="DejaVu Sans"/>
                <a:cs typeface="DejaVu Sans"/>
              </a:defRPr>
            </a:lvl4pPr>
            <a:lvl5pPr>
              <a:defRPr sz="1650" b="1">
                <a:solidFill>
                  <a:srgbClr val="087E83"/>
                </a:solidFill>
                <a:latin typeface="DejaVu Sans"/>
                <a:ea typeface="DejaVu Sans"/>
                <a:cs typeface="DejaVu Sans"/>
              </a:defRPr>
            </a:lvl5pPr>
            <a:lvl6pPr>
              <a:defRPr sz="1650" b="1">
                <a:solidFill>
                  <a:srgbClr val="087E83"/>
                </a:solidFill>
                <a:latin typeface="DejaVu Sans"/>
                <a:ea typeface="DejaVu Sans"/>
                <a:cs typeface="DejaVu Sans"/>
              </a:defRPr>
            </a:lvl6pPr>
            <a:lvl7pPr>
              <a:defRPr sz="1650" b="1">
                <a:solidFill>
                  <a:srgbClr val="087E83"/>
                </a:solidFill>
                <a:latin typeface="DejaVu Sans"/>
                <a:ea typeface="DejaVu Sans"/>
                <a:cs typeface="DejaVu Sans"/>
              </a:defRPr>
            </a:lvl7pPr>
            <a:lvl8pPr>
              <a:defRPr sz="1650" b="1">
                <a:solidFill>
                  <a:srgbClr val="087E83"/>
                </a:solidFill>
                <a:latin typeface="DejaVu Sans"/>
                <a:ea typeface="DejaVu Sans"/>
                <a:cs typeface="DejaVu Sans"/>
              </a:defRPr>
            </a:lvl8pPr>
            <a:lvl9pPr>
              <a:defRPr sz="1650" b="1">
                <a:solidFill>
                  <a:srgbClr val="087E83"/>
                </a:solidFill>
                <a:latin typeface="DejaVu Sans"/>
                <a:ea typeface="DejaVu Sans"/>
                <a:cs typeface="DejaVu Sans"/>
              </a:defRPr>
            </a:lvl9pPr>
          </a:lstStyle>
          <a:p xmlns:a="http://schemas.openxmlformats.org/drawingml/2006/main">
            <a:pPr>
              <a:defRPr sz="1650" b="1">
                <a:solidFill>
                  <a:srgbClr val="087E83"/>
                </a:solidFill>
                <a:latin typeface="DejaVu Sans"/>
                <a:ea typeface="DejaVu Sans"/>
                <a:cs typeface="DejaVu Sans"/>
              </a:defRPr>
            </a:pPr>
            <a:r>
              <a:rPr sz="1650" b="1">
                <a:solidFill>
                  <a:srgbClr val="087E83"/>
                </a:solidFill>
                <a:latin typeface="DejaVu Sans"/>
                <a:ea typeface="DejaVu Sans"/>
                <a:cs typeface="DejaVu Sans"/>
              </a:rPr>
              <a:t>Graph retrieval supplies evidence; the LLM explains the relationships.</a:t>
            </a:r>
          </a:p>
        </p:txBody>
      </p:sp>
    </p:spTree>
    <p:extLst>
      <p:ext uri="{BB962C8B-B14F-4D97-AF65-F5344CB8AC3E}">
        <p14:creationId xmlns:p14="http://schemas.microsoft.com/office/powerpoint/2010/main" val="1993643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2026-10-21T18:57:52.6320000Z</dcterms:created>
  <dcterms:modified xsi:type="dcterms:W3CDTF">2026-10-21T18:57:52.6320000Z</dcterms:modified>
</coreProperties>
</file>